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182880"/>
            <a:ext cx="4572000" cy="4572000"/>
          </a:xfrm>
          <a:prstGeom prst="ellipse">
            <a:avLst/>
          </a:prstGeom>
          <a:solidFill>
            <a:srgbClr val="0F6E56">
              <a:alpha val="12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914400"/>
            <a:ext cx="2926080" cy="2926080"/>
          </a:xfrm>
          <a:prstGeom prst="ellipse">
            <a:avLst/>
          </a:prstGeom>
          <a:solidFill>
            <a:srgbClr val="D4AF37">
              <a:alpha val="8000"/>
            </a:srgbClr>
          </a:solidFill>
          <a:ln w="12700">
            <a:solidFill>
              <a:srgbClr val="D4AF37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GINASHE DIGITAL ACADEMY  ·  Cloud Launchpad  ·  Summative Assessment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5029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A22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8503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74320" y="2596896"/>
            <a:ext cx="8503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274320" y="349300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Cloud Solution for a Real South African Business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4005072"/>
            <a:ext cx="2011680" cy="438912"/>
          </a:xfrm>
          <a:prstGeom prst="rect">
            <a:avLst/>
          </a:prstGeom>
          <a:solidFill>
            <a:srgbClr val="0F6E56">
              <a:alpha val="55000"/>
            </a:srgbClr>
          </a:solidFill>
          <a:ln w="12700">
            <a:solidFill>
              <a:srgbClr val="D4AF37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005072"/>
            <a:ext cx="713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87552" y="4005072"/>
            <a:ext cx="18288" cy="438912"/>
          </a:xfrm>
          <a:prstGeom prst="rect">
            <a:avLst/>
          </a:prstGeom>
          <a:solidFill>
            <a:srgbClr val="D4AF37">
              <a:alpha val="50000"/>
            </a:srgbClr>
          </a:solidFill>
          <a:ln w="12700">
            <a:solidFill>
              <a:srgbClr val="D4AF37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40050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42245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50592" y="4005072"/>
            <a:ext cx="2011680" cy="438912"/>
          </a:xfrm>
          <a:prstGeom prst="rect">
            <a:avLst/>
          </a:prstGeom>
          <a:solidFill>
            <a:srgbClr val="0F6E56">
              <a:alpha val="55000"/>
            </a:srgbClr>
          </a:solidFill>
          <a:ln w="12700">
            <a:solidFill>
              <a:srgbClr val="D4AF37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0592" y="4005072"/>
            <a:ext cx="713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163824" y="4005072"/>
            <a:ext cx="18288" cy="438912"/>
          </a:xfrm>
          <a:prstGeom prst="rect">
            <a:avLst/>
          </a:prstGeom>
          <a:solidFill>
            <a:srgbClr val="D4AF37">
              <a:alpha val="50000"/>
            </a:srgbClr>
          </a:solidFill>
          <a:ln w="12700">
            <a:solidFill>
              <a:srgbClr val="D4AF37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40050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42245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26864" y="4005072"/>
            <a:ext cx="2011680" cy="438912"/>
          </a:xfrm>
          <a:prstGeom prst="rect">
            <a:avLst/>
          </a:prstGeom>
          <a:solidFill>
            <a:srgbClr val="0F6E56">
              <a:alpha val="55000"/>
            </a:srgbClr>
          </a:solidFill>
          <a:ln w="12700">
            <a:solidFill>
              <a:srgbClr val="D4AF37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4005072"/>
            <a:ext cx="713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340096" y="4005072"/>
            <a:ext cx="18288" cy="438912"/>
          </a:xfrm>
          <a:prstGeom prst="rect">
            <a:avLst/>
          </a:prstGeom>
          <a:solidFill>
            <a:srgbClr val="D4AF37">
              <a:alpha val="50000"/>
            </a:srgbClr>
          </a:solidFill>
          <a:ln w="12700">
            <a:solidFill>
              <a:srgbClr val="D4AF37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40050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76672" y="42245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03136" y="4005072"/>
            <a:ext cx="2011680" cy="438912"/>
          </a:xfrm>
          <a:prstGeom prst="rect">
            <a:avLst/>
          </a:prstGeom>
          <a:solidFill>
            <a:srgbClr val="0F6E56">
              <a:alpha val="55000"/>
            </a:srgbClr>
          </a:solidFill>
          <a:ln w="12700">
            <a:solidFill>
              <a:srgbClr val="D4AF37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4005072"/>
            <a:ext cx="713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516368" y="4005072"/>
            <a:ext cx="18288" cy="438912"/>
          </a:xfrm>
          <a:prstGeom prst="rect">
            <a:avLst/>
          </a:prstGeom>
          <a:solidFill>
            <a:srgbClr val="D4AF37">
              <a:alpha val="50000"/>
            </a:srgbClr>
          </a:solidFill>
          <a:ln w="12700">
            <a:solidFill>
              <a:srgbClr val="D4AF37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52944" y="40050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52944" y="42245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6  ·  Capstone Project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1210"/>
          </a:solidFill>
          <a:ln w="12700">
            <a:solidFill>
              <a:srgbClr val="0612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Structure &amp; Assessment Rubric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marks total · 70 marks to pass · No single component below 50% · Certificate of Competence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2011680" cy="1417320"/>
          </a:xfrm>
          <a:prstGeom prst="rect">
            <a:avLst/>
          </a:prstGeom>
          <a:solidFill>
            <a:srgbClr val="0A1E18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2011680" cy="457200"/>
          </a:xfrm>
          <a:prstGeom prst="rect">
            <a:avLst/>
          </a:prstGeom>
          <a:solidFill>
            <a:srgbClr val="D4AF37">
              <a:alpha val="85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155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78308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architecture before console. Peer review. Facilitator sign-off required to proceed.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50592" y="1078992"/>
            <a:ext cx="2011680" cy="1417320"/>
          </a:xfrm>
          <a:prstGeom prst="rect">
            <a:avLst/>
          </a:prstGeom>
          <a:solidFill>
            <a:srgbClr val="0A1E18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078992"/>
            <a:ext cx="2011680" cy="457200"/>
          </a:xfrm>
          <a:prstGeom prst="rect">
            <a:avLst/>
          </a:prstGeom>
          <a:solidFill>
            <a:srgbClr val="00FF88">
              <a:alpha val="8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1155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1508760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42032" y="178308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AWS af-south-1. EC2 + RDS + S3 + IAM. Application accessible from browser.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45152" y="1078992"/>
            <a:ext cx="2011680" cy="1417320"/>
          </a:xfrm>
          <a:prstGeom prst="rect">
            <a:avLst/>
          </a:prstGeom>
          <a:solidFill>
            <a:srgbClr val="0A1E18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1078992"/>
            <a:ext cx="2011680" cy="457200"/>
          </a:xfrm>
          <a:prstGeom prst="rect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1155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1508760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36592" y="178308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diagram. Security Hardening Report. Cost estimate in ZAR. Reflective journal.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39712" y="1078992"/>
            <a:ext cx="2011680" cy="1417320"/>
          </a:xfrm>
          <a:prstGeom prst="rect">
            <a:avLst/>
          </a:prstGeom>
          <a:solidFill>
            <a:srgbClr val="0A1E1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39712" y="1078992"/>
            <a:ext cx="2011680" cy="45720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11155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0" y="1508760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31152" y="178308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presentation to panel. 5-minute Q&amp;A. Peer evaluation forms. Certificate awarded.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2651760"/>
            <a:ext cx="1828800" cy="256032"/>
          </a:xfrm>
          <a:prstGeom prst="rect">
            <a:avLst/>
          </a:prstGeom>
          <a:solidFill>
            <a:srgbClr val="0F2820"/>
          </a:solidFill>
          <a:ln w="12700">
            <a:solidFill>
              <a:srgbClr val="0F6E56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" y="2651760"/>
            <a:ext cx="1755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139696" y="2651760"/>
            <a:ext cx="640080" cy="256032"/>
          </a:xfrm>
          <a:prstGeom prst="rect">
            <a:avLst/>
          </a:prstGeom>
          <a:solidFill>
            <a:srgbClr val="0F2820"/>
          </a:solidFill>
          <a:ln w="12700">
            <a:solidFill>
              <a:srgbClr val="0F6E56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94560" y="265176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834640" y="2651760"/>
            <a:ext cx="6400800" cy="256032"/>
          </a:xfrm>
          <a:prstGeom prst="rect">
            <a:avLst/>
          </a:prstGeom>
          <a:solidFill>
            <a:srgbClr val="0F2820"/>
          </a:solidFill>
          <a:ln w="12700">
            <a:solidFill>
              <a:srgbClr val="0F6E56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9504" y="2651760"/>
            <a:ext cx="6327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6032" y="2944368"/>
            <a:ext cx="1828800" cy="320040"/>
          </a:xfrm>
          <a:prstGeom prst="rect">
            <a:avLst/>
          </a:prstGeom>
          <a:solidFill>
            <a:srgbClr val="0A1E18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39696" y="2944368"/>
            <a:ext cx="640080" cy="320040"/>
          </a:xfrm>
          <a:prstGeom prst="rect">
            <a:avLst/>
          </a:prstGeom>
          <a:solidFill>
            <a:srgbClr val="0A1E18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34640" y="2944368"/>
            <a:ext cx="6400800" cy="320040"/>
          </a:xfrm>
          <a:prstGeom prst="rect">
            <a:avLst/>
          </a:prstGeom>
          <a:solidFill>
            <a:srgbClr val="0A1E18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29443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194560" y="2971800"/>
            <a:ext cx="548640" cy="256032"/>
          </a:xfrm>
          <a:prstGeom prst="rect">
            <a:avLst/>
          </a:prstGeom>
          <a:solidFill>
            <a:srgbClr val="0F6E56">
              <a:alpha val="70000"/>
            </a:srgbClr>
          </a:solidFill>
          <a:ln w="12700">
            <a:solidFill>
              <a:srgbClr val="0F6E56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94560" y="294436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926080" y="2944368"/>
            <a:ext cx="6272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VPC, subnets, IGW, route tables. Service selection justified. Security designed in. Paper design approved.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56032" y="3291840"/>
            <a:ext cx="1828800" cy="320040"/>
          </a:xfrm>
          <a:prstGeom prst="rect">
            <a:avLst/>
          </a:prstGeom>
          <a:solidFill>
            <a:srgbClr val="061210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39696" y="3291840"/>
            <a:ext cx="640080" cy="320040"/>
          </a:xfrm>
          <a:prstGeom prst="rect">
            <a:avLst/>
          </a:prstGeom>
          <a:solidFill>
            <a:srgbClr val="061210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34640" y="3291840"/>
            <a:ext cx="6400800" cy="320040"/>
          </a:xfrm>
          <a:prstGeom prst="rect">
            <a:avLst/>
          </a:prstGeom>
          <a:solidFill>
            <a:srgbClr val="061210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" y="32918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Deployment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194560" y="3319272"/>
            <a:ext cx="548640" cy="256032"/>
          </a:xfrm>
          <a:prstGeom prst="rect">
            <a:avLst/>
          </a:prstGeom>
          <a:solidFill>
            <a:srgbClr val="0F6E56">
              <a:alpha val="70000"/>
            </a:srgbClr>
          </a:solidFill>
          <a:ln w="12700">
            <a:solidFill>
              <a:srgbClr val="0F6E56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94560" y="32918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926080" y="3291840"/>
            <a:ext cx="6272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running in public subnet. RDS in private subnet, no public endpoint. App demonstrably operational in browser.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6032" y="3639312"/>
            <a:ext cx="1828800" cy="320040"/>
          </a:xfrm>
          <a:prstGeom prst="rect">
            <a:avLst/>
          </a:prstGeom>
          <a:solidFill>
            <a:srgbClr val="0A1E18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39696" y="3639312"/>
            <a:ext cx="640080" cy="320040"/>
          </a:xfrm>
          <a:prstGeom prst="rect">
            <a:avLst/>
          </a:prstGeom>
          <a:solidFill>
            <a:srgbClr val="0A1E18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34640" y="3639312"/>
            <a:ext cx="6400800" cy="320040"/>
          </a:xfrm>
          <a:prstGeom prst="rect">
            <a:avLst/>
          </a:prstGeom>
          <a:solidFill>
            <a:srgbClr val="0A1E18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" y="36393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POPIA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194560" y="3666744"/>
            <a:ext cx="548640" cy="256032"/>
          </a:xfrm>
          <a:prstGeom prst="rect">
            <a:avLst/>
          </a:prstGeom>
          <a:solidFill>
            <a:srgbClr val="0F6E56">
              <a:alpha val="70000"/>
            </a:srgbClr>
          </a:solidFill>
          <a:ln w="12700">
            <a:solidFill>
              <a:srgbClr val="0F6E56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94560" y="36393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2926080" y="3639312"/>
            <a:ext cx="6272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encryption on all data stores. TLS enforced. All 8 POPIA conditions mapped to AWS controls. CloudTrail enabled.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56032" y="3986784"/>
            <a:ext cx="1828800" cy="320040"/>
          </a:xfrm>
          <a:prstGeom prst="rect">
            <a:avLst/>
          </a:prstGeom>
          <a:solidFill>
            <a:srgbClr val="061210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39696" y="3986784"/>
            <a:ext cx="640080" cy="320040"/>
          </a:xfrm>
          <a:prstGeom prst="rect">
            <a:avLst/>
          </a:prstGeom>
          <a:solidFill>
            <a:srgbClr val="061210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834640" y="3986784"/>
            <a:ext cx="6400800" cy="320040"/>
          </a:xfrm>
          <a:prstGeom prst="rect">
            <a:avLst/>
          </a:prstGeom>
          <a:solidFill>
            <a:srgbClr val="061210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" y="398678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194560" y="4014216"/>
            <a:ext cx="548640" cy="256032"/>
          </a:xfrm>
          <a:prstGeom prst="rect">
            <a:avLst/>
          </a:prstGeom>
          <a:solidFill>
            <a:srgbClr val="0F6E56">
              <a:alpha val="70000"/>
            </a:srgbClr>
          </a:solidFill>
          <a:ln w="12700">
            <a:solidFill>
              <a:srgbClr val="0F6E56">
                <a:alpha val="5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94560" y="398678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926080" y="3986784"/>
            <a:ext cx="6272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Calculator used for af-south-1. Monthly total in ZAR. Two optimisation recommendations with savings calculated.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56032" y="4334256"/>
            <a:ext cx="1828800" cy="320040"/>
          </a:xfrm>
          <a:prstGeom prst="rect">
            <a:avLst/>
          </a:prstGeom>
          <a:solidFill>
            <a:srgbClr val="0A1E18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139696" y="4334256"/>
            <a:ext cx="640080" cy="320040"/>
          </a:xfrm>
          <a:prstGeom prst="rect">
            <a:avLst/>
          </a:prstGeom>
          <a:solidFill>
            <a:srgbClr val="0A1E18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34640" y="4334256"/>
            <a:ext cx="6400800" cy="320040"/>
          </a:xfrm>
          <a:prstGeom prst="rect">
            <a:avLst/>
          </a:prstGeom>
          <a:solidFill>
            <a:srgbClr val="0A1E18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9184" y="433425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Defence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194560" y="4361688"/>
            <a:ext cx="548640" cy="256032"/>
          </a:xfrm>
          <a:prstGeom prst="rect">
            <a:avLst/>
          </a:prstGeom>
          <a:solidFill>
            <a:srgbClr val="0F6E56">
              <a:alpha val="70000"/>
            </a:srgbClr>
          </a:solidFill>
          <a:ln w="12700">
            <a:solidFill>
              <a:srgbClr val="0F6E56">
                <a:alpha val="5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94560" y="433425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2926080" y="4334256"/>
            <a:ext cx="6272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structure. Technical + non-technical language. SA business context throughout. Panel Q&amp;A answered accurately.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56032" y="4681728"/>
            <a:ext cx="1828800" cy="320040"/>
          </a:xfrm>
          <a:prstGeom prst="rect">
            <a:avLst/>
          </a:prstGeom>
          <a:solidFill>
            <a:srgbClr val="061210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39696" y="4681728"/>
            <a:ext cx="640080" cy="320040"/>
          </a:xfrm>
          <a:prstGeom prst="rect">
            <a:avLst/>
          </a:prstGeom>
          <a:solidFill>
            <a:srgbClr val="061210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34640" y="4681728"/>
            <a:ext cx="6400800" cy="320040"/>
          </a:xfrm>
          <a:prstGeom prst="rect">
            <a:avLst/>
          </a:prstGeom>
          <a:solidFill>
            <a:srgbClr val="061210"/>
          </a:solidFill>
          <a:ln w="12700">
            <a:solidFill>
              <a:srgbClr val="1A2A2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9184" y="4681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of Evidence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194560" y="4709160"/>
            <a:ext cx="548640" cy="256032"/>
          </a:xfrm>
          <a:prstGeom prst="rect">
            <a:avLst/>
          </a:prstGeom>
          <a:solidFill>
            <a:srgbClr val="0F6E56">
              <a:alpha val="70000"/>
            </a:srgbClr>
          </a:solidFill>
          <a:ln w="12700">
            <a:solidFill>
              <a:srgbClr val="0F6E56">
                <a:alpha val="5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194560" y="46817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2926080" y="4681728"/>
            <a:ext cx="6272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 1–6 artefacts present, labelled, organised. Reflective journal 300 words minimum. Submitted on time.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6  ·  Capstone Project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1210"/>
          </a:solidFill>
          <a:ln w="12700">
            <a:solidFill>
              <a:srgbClr val="0612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South African Business Scenarios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client — each is a real SA business problem with specific POPIA and technical requirements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2834640" cy="1755648"/>
          </a:xfrm>
          <a:prstGeom prst="rect">
            <a:avLst/>
          </a:prstGeom>
          <a:solidFill>
            <a:srgbClr val="0A1E18"/>
          </a:solidFill>
          <a:ln w="12700">
            <a:solidFill>
              <a:srgbClr val="06B6D4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15568"/>
            <a:ext cx="594360" cy="1755648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52144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6032" y="1527048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Mzansi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1170432"/>
            <a:ext cx="2103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 Town food delivery — 3,000 orders/week. WhatsApp ordering breaking under load. Series A in 8 months.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4400" y="2103120"/>
            <a:ext cx="2103120" cy="676656"/>
          </a:xfrm>
          <a:prstGeom prst="rect">
            <a:avLst/>
          </a:prstGeom>
          <a:solidFill>
            <a:srgbClr val="0F2820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121408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EC2 + RDS MySQL + S3 (menu photos) + IAM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27832" y="1115568"/>
            <a:ext cx="2834640" cy="1755648"/>
          </a:xfrm>
          <a:prstGeom prst="rect">
            <a:avLst/>
          </a:prstGeom>
          <a:solidFill>
            <a:srgbClr val="0A1E18"/>
          </a:solidFill>
          <a:ln w="12700">
            <a:solidFill>
              <a:srgbClr val="FF6B6B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1115568"/>
            <a:ext cx="594360" cy="1755648"/>
          </a:xfrm>
          <a:prstGeom prst="rect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27832" y="1152144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27832" y="1527048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86200" y="1170432"/>
            <a:ext cx="2103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Soweto clinic — POPIA audit failed. KMS encryption MANDATORY. Medical history = special personal information.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86200" y="2103120"/>
            <a:ext cx="2103120" cy="676656"/>
          </a:xfrm>
          <a:prstGeom prst="rect">
            <a:avLst/>
          </a:prstGeom>
          <a:solidFill>
            <a:srgbClr val="0F2820"/>
          </a:solidFill>
          <a:ln w="1270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59352" y="2121408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EC2 + RDS (KMS) + CloudTrail + af-south-1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99632" y="1115568"/>
            <a:ext cx="2834640" cy="1755648"/>
          </a:xfrm>
          <a:prstGeom prst="rect">
            <a:avLst/>
          </a:prstGeom>
          <a:solidFill>
            <a:srgbClr val="0A1E18"/>
          </a:solidFill>
          <a:ln w="12700">
            <a:solidFill>
              <a:srgbClr val="F59E0B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9632" y="1115568"/>
            <a:ext cx="594360" cy="175564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1152144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99632" y="1527048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Joburg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PropConnect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58000" y="1170432"/>
            <a:ext cx="2103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listings — 200 active listings, 10–15 photos each. Shared hosting crashing. 3 clients already left.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58000" y="2103120"/>
            <a:ext cx="2103120" cy="676656"/>
          </a:xfrm>
          <a:prstGeom prst="rect">
            <a:avLst/>
          </a:prstGeom>
          <a:solidFill>
            <a:srgbClr val="0F2820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31152" y="2121408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EC2 + S3 (photos/lifecycle) + RDS + IAM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6032" y="2962656"/>
            <a:ext cx="2834640" cy="1755648"/>
          </a:xfrm>
          <a:prstGeom prst="rect">
            <a:avLst/>
          </a:prstGeom>
          <a:solidFill>
            <a:srgbClr val="0A1E18"/>
          </a:solidFill>
          <a:ln w="12700">
            <a:solidFill>
              <a:srgbClr val="D4AF37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2962656"/>
            <a:ext cx="594360" cy="1755648"/>
          </a:xfrm>
          <a:prstGeom prst="rect">
            <a:avLst/>
          </a:prstGeom>
          <a:solidFill>
            <a:srgbClr val="D4AF37">
              <a:alpha val="20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299923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56032" y="3374136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400" y="3017520"/>
            <a:ext cx="2103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REST API — FSCA inspection in 3 months. Must demonstrate audit logging and security architecture.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14400" y="3950208"/>
            <a:ext cx="2103120" cy="676656"/>
          </a:xfrm>
          <a:prstGeom prst="rect">
            <a:avLst/>
          </a:prstGeom>
          <a:solidFill>
            <a:srgbClr val="0F2820"/>
          </a:solidFill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3968496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EC2 (API) + RDS PostgreSQL + CloudTrail mandatory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27832" y="2962656"/>
            <a:ext cx="2834640" cy="1755648"/>
          </a:xfrm>
          <a:prstGeom prst="rect">
            <a:avLst/>
          </a:prstGeom>
          <a:solidFill>
            <a:srgbClr val="0A1E18"/>
          </a:solidFill>
          <a:ln w="12700">
            <a:solidFill>
              <a:srgbClr val="00FF88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27832" y="2962656"/>
            <a:ext cx="594360" cy="1755648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27832" y="299923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227832" y="3374136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Limpopo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Agri-Link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886200" y="3017520"/>
            <a:ext cx="2103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cooperative — 200 farms, 2G connectivity requirement. Justify RDS vs DynamoDB in your presentation.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86200" y="3950208"/>
            <a:ext cx="2103120" cy="676656"/>
          </a:xfrm>
          <a:prstGeom prst="rect">
            <a:avLst/>
          </a:prstGeom>
          <a:solidFill>
            <a:srgbClr val="0F2820"/>
          </a:solidFill>
          <a:ln w="12700">
            <a:solidFill>
              <a:srgbClr val="00FF88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59352" y="3968496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EC2 + RDS or DynamoDB (justify!) + S3 (CSV)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99632" y="2962656"/>
            <a:ext cx="2834640" cy="1755648"/>
          </a:xfrm>
          <a:prstGeom prst="rect">
            <a:avLst/>
          </a:prstGeom>
          <a:solidFill>
            <a:srgbClr val="0A1E18"/>
          </a:solidFill>
          <a:ln w="12700">
            <a:solidFill>
              <a:srgbClr val="06B6D4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99632" y="2962656"/>
            <a:ext cx="594360" cy="1755648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9632" y="299923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199632" y="3374136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Hub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858000" y="3017520"/>
            <a:ext cx="21031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10k–50k learners. Platform crashes every exam season. Auto Scaling not required but must be recommended.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858000" y="3950208"/>
            <a:ext cx="2103120" cy="676656"/>
          </a:xfrm>
          <a:prstGeom prst="rect">
            <a:avLst/>
          </a:prstGeom>
          <a:solidFill>
            <a:srgbClr val="0F2820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31152" y="3968496"/>
            <a:ext cx="19568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EC2 + RDS + S3 (lesson PDFs) + scaling plan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6  ·  Capstone Project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1210"/>
          </a:solidFill>
          <a:ln w="12700">
            <a:solidFill>
              <a:srgbClr val="0612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Architecture Design Workshop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 paper first. A 30-second fix on paper takes 30 minutes to rebuild in the console.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4206240" cy="3721608"/>
          </a:xfrm>
          <a:prstGeom prst="rect">
            <a:avLst/>
          </a:prstGeom>
          <a:solidFill>
            <a:srgbClr val="0A1E18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4206240" cy="411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398678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Checklist — 10 criteria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609344"/>
            <a:ext cx="219456" cy="219456"/>
          </a:xfrm>
          <a:prstGeom prst="rect">
            <a:avLst/>
          </a:prstGeom>
          <a:solidFill>
            <a:srgbClr val="0F282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727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CIDR is RFC 1918 private range (10.x/16 recommended)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1929384"/>
            <a:ext cx="219456" cy="219456"/>
          </a:xfrm>
          <a:prstGeom prst="rect">
            <a:avLst/>
          </a:prstGeom>
          <a:solidFill>
            <a:srgbClr val="0F282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8928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1 public + 1 private subnet defined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2249424"/>
            <a:ext cx="219456" cy="219456"/>
          </a:xfrm>
          <a:prstGeom prst="rect">
            <a:avLst/>
          </a:prstGeom>
          <a:solidFill>
            <a:srgbClr val="0F282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2128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included and connected to public subnet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569464"/>
            <a:ext cx="219456" cy="219456"/>
          </a:xfrm>
          <a:prstGeom prst="rect">
            <a:avLst/>
          </a:prstGeom>
          <a:solidFill>
            <a:srgbClr val="0F282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5328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tables correct (public → IGW, private = no internet)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2889504"/>
            <a:ext cx="219456" cy="219456"/>
          </a:xfrm>
          <a:prstGeom prst="rect">
            <a:avLst/>
          </a:prstGeom>
          <a:solidFill>
            <a:srgbClr val="0F282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8529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in public subnet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3209544"/>
            <a:ext cx="219456" cy="219456"/>
          </a:xfrm>
          <a:prstGeom prst="rect">
            <a:avLst/>
          </a:prstGeom>
          <a:solidFill>
            <a:srgbClr val="0F282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1729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 private subnet — no public endpoint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3529584"/>
            <a:ext cx="219456" cy="219456"/>
          </a:xfrm>
          <a:prstGeom prst="rect">
            <a:avLst/>
          </a:prstGeom>
          <a:solidFill>
            <a:srgbClr val="0F282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930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shown on EC2 with least-privilege S3 permissions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3849624"/>
            <a:ext cx="219456" cy="219456"/>
          </a:xfrm>
          <a:prstGeom prst="rect">
            <a:avLst/>
          </a:prstGeom>
          <a:solidFill>
            <a:srgbClr val="0F282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130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Security Group source = EC2 SG ID (not 0.0.0.0/0)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4169664"/>
            <a:ext cx="219456" cy="219456"/>
          </a:xfrm>
          <a:prstGeom prst="rect">
            <a:avLst/>
          </a:prstGeom>
          <a:solidFill>
            <a:srgbClr val="0F282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1330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shown for PII data stores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4489704"/>
            <a:ext cx="219456" cy="219456"/>
          </a:xfrm>
          <a:prstGeom prst="rect">
            <a:avLst/>
          </a:prstGeom>
          <a:solidFill>
            <a:srgbClr val="0F282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4531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POPIA condition addressed in design rationale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45152" y="1078992"/>
            <a:ext cx="4251960" cy="3721608"/>
          </a:xfrm>
          <a:prstGeom prst="rect">
            <a:avLst/>
          </a:prstGeom>
          <a:solidFill>
            <a:srgbClr val="0A1E18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45152" y="1078992"/>
            <a:ext cx="4251960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115568"/>
            <a:ext cx="403250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Sign-off Process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36592" y="1600200"/>
            <a:ext cx="822960" cy="502920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1600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23560" y="1600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design — NO console access during this phase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36592" y="2276856"/>
            <a:ext cx="822960" cy="502920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2276856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23560" y="227685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— classmate completes the checklist column with specific feedback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36592" y="2953512"/>
            <a:ext cx="822960" cy="502920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2953512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23560" y="295351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conversation — explain ONE service choice out loud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36592" y="3630168"/>
            <a:ext cx="822960" cy="502920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363016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23560" y="36301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is APPROVED — you may now open the AWS console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45152" y="4297680"/>
            <a:ext cx="4251960" cy="658368"/>
          </a:xfrm>
          <a:prstGeom prst="rect">
            <a:avLst/>
          </a:prstGeom>
          <a:solidFill>
            <a:srgbClr val="15080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4334256"/>
            <a:ext cx="4032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errors caught on paper: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54880" y="4553712"/>
            <a:ext cx="4032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in public subnet · same CIDR on two subnets · missing IGW · SG rule 0.0.0.0/0 on DB port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6  ·  Capstone Project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1210"/>
          </a:solidFill>
          <a:ln w="12700">
            <a:solidFill>
              <a:srgbClr val="0612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Presentation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to present · 5 minutes Q&amp;A · Every number in ZAR · Every POPIA condition cited by number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2011680" cy="1664208"/>
          </a:xfrm>
          <a:prstGeom prst="rect">
            <a:avLst/>
          </a:prstGeom>
          <a:solidFill>
            <a:srgbClr val="0A1E18"/>
          </a:solidFill>
          <a:ln w="12700">
            <a:solidFill>
              <a:srgbClr val="D4AF37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15568"/>
            <a:ext cx="2011680" cy="420624"/>
          </a:xfrm>
          <a:prstGeom prst="rect">
            <a:avLst/>
          </a:prstGeom>
          <a:solidFill>
            <a:srgbClr val="D4AF37">
              <a:alpha val="8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15214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12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70432" y="115214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15910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920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Scenario · Business problem in ONE sentence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1115568"/>
            <a:ext cx="2011680" cy="1664208"/>
          </a:xfrm>
          <a:prstGeom prst="rect">
            <a:avLst/>
          </a:prstGeom>
          <a:solidFill>
            <a:srgbClr val="0A1E18"/>
          </a:solidFill>
          <a:ln w="12700">
            <a:solidFill>
              <a:srgbClr val="D4AF37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115568"/>
            <a:ext cx="2011680" cy="420624"/>
          </a:xfrm>
          <a:prstGeom prst="rect">
            <a:avLst/>
          </a:prstGeom>
          <a:solidFill>
            <a:srgbClr val="D4AF37">
              <a:alpha val="8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115214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12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64992" y="115214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42032" y="15910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background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42032" y="1920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 · Current pain · Why cloud solves 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45152" y="1115568"/>
            <a:ext cx="2011680" cy="1664208"/>
          </a:xfrm>
          <a:prstGeom prst="rect">
            <a:avLst/>
          </a:prstGeom>
          <a:solidFill>
            <a:srgbClr val="0A1E18"/>
          </a:solidFill>
          <a:ln w="12700">
            <a:solidFill>
              <a:srgbClr val="00FF8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1115568"/>
            <a:ext cx="2011680" cy="420624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115214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12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559552" y="115214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5910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6592" y="1920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diagram · Each service and WHY it was chosen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39712" y="1115568"/>
            <a:ext cx="2011680" cy="1664208"/>
          </a:xfrm>
          <a:prstGeom prst="rect">
            <a:avLst/>
          </a:prstGeom>
          <a:solidFill>
            <a:srgbClr val="0A1E18"/>
          </a:solidFill>
          <a:ln w="12700">
            <a:solidFill>
              <a:srgbClr val="00FF8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39712" y="1115568"/>
            <a:ext cx="2011680" cy="420624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12864" y="115214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12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54112" y="115214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31152" y="15910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justification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31152" y="1920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2–3 choices · What alternatives you considered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2871216"/>
            <a:ext cx="2011680" cy="1664208"/>
          </a:xfrm>
          <a:prstGeom prst="rect">
            <a:avLst/>
          </a:prstGeom>
          <a:solidFill>
            <a:srgbClr val="0A1E18"/>
          </a:solidFill>
          <a:ln w="12700">
            <a:solidFill>
              <a:srgbClr val="FF6B6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2871216"/>
            <a:ext cx="2011680" cy="420624"/>
          </a:xfrm>
          <a:prstGeom prst="rect">
            <a:avLst/>
          </a:prstGeom>
          <a:solidFill>
            <a:srgbClr val="FF6B6B">
              <a:alpha val="8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" y="290779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12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5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70432" y="290779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47472" y="33467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POPIA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" y="367588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· IAM · POPIA conditions by NUMBER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50592" y="2871216"/>
            <a:ext cx="2011680" cy="1664208"/>
          </a:xfrm>
          <a:prstGeom prst="rect">
            <a:avLst/>
          </a:prstGeom>
          <a:solidFill>
            <a:srgbClr val="0A1E18"/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450592" y="2871216"/>
            <a:ext cx="2011680" cy="420624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23744" y="290779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12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6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364992" y="290779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542032" y="33467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542032" y="367588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total in ZAR · Pricing model · Top optimisation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45152" y="2871216"/>
            <a:ext cx="2011680" cy="1664208"/>
          </a:xfrm>
          <a:prstGeom prst="rect">
            <a:avLst/>
          </a:prstGeom>
          <a:solidFill>
            <a:srgbClr val="0A1E18"/>
          </a:solidFill>
          <a:ln w="1270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45152" y="2871216"/>
            <a:ext cx="2011680" cy="420624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90779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12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7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559552" y="290779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36592" y="33467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36592" y="367588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 browser · DB returning data · CloudTrail active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39712" y="2871216"/>
            <a:ext cx="2011680" cy="1664208"/>
          </a:xfrm>
          <a:prstGeom prst="rect">
            <a:avLst/>
          </a:prstGeom>
          <a:solidFill>
            <a:srgbClr val="0A1E18"/>
          </a:solidFill>
          <a:ln w="12700">
            <a:solidFill>
              <a:srgbClr val="5A8070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39712" y="2871216"/>
            <a:ext cx="2011680" cy="420624"/>
          </a:xfrm>
          <a:prstGeom prst="rect">
            <a:avLst/>
          </a:prstGeom>
          <a:solidFill>
            <a:srgbClr val="5A8070">
              <a:alpha val="80000"/>
            </a:srgbClr>
          </a:solidFill>
          <a:ln w="12700">
            <a:solidFill>
              <a:srgbClr val="5A807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12864" y="290779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12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Slide 8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754112" y="290779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931152" y="33467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31152" y="367588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improvements · Why not done · Next steps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6  ·  Capstone Project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1210"/>
          </a:solidFill>
          <a:ln w="12700">
            <a:solidFill>
              <a:srgbClr val="0612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Q&amp;A Question Bank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panel selects 3–4 questions based on what was observed during your build sprint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115568"/>
            <a:ext cx="1188720" cy="548640"/>
          </a:xfrm>
          <a:prstGeom prst="rect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15568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81328" y="1115568"/>
            <a:ext cx="7406640" cy="548640"/>
          </a:xfrm>
          <a:prstGeom prst="rect">
            <a:avLst/>
          </a:prstGeom>
          <a:solidFill>
            <a:srgbClr val="0A1E18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91056" y="1152144"/>
            <a:ext cx="7205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RDS over DynamoDB (or vice versa)?  |  Walk me through data flow from user request to database and back.  |  What would break first at 10× traffic?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1728216"/>
            <a:ext cx="1188720" cy="548640"/>
          </a:xfrm>
          <a:prstGeom prst="rect">
            <a:avLst/>
          </a:prstGeom>
          <a:solidFill>
            <a:srgbClr val="FF6B6B">
              <a:alpha val="7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728216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81328" y="1728216"/>
            <a:ext cx="7406640" cy="548640"/>
          </a:xfrm>
          <a:prstGeom prst="rect">
            <a:avLst/>
          </a:prstGeom>
          <a:solidFill>
            <a:srgbClr val="0A1E18"/>
          </a:solidFill>
          <a:ln w="1270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91056" y="1764792"/>
            <a:ext cx="7205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POPIA condition was hardest technically and what AWS control did you use?  |  Why is the database in a private subnet — technically AND legally?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340864"/>
            <a:ext cx="1188720" cy="54864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40864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81328" y="2340864"/>
            <a:ext cx="7406640" cy="548640"/>
          </a:xfrm>
          <a:prstGeom prst="rect">
            <a:avLst/>
          </a:prstGeom>
          <a:solidFill>
            <a:srgbClr val="0A1E18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91056" y="2377440"/>
            <a:ext cx="7205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components would you move to Reserved Instances for a 2-year deployment?  |  What is the highest-cost component and how would you reduce it?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953512"/>
            <a:ext cx="1188720" cy="548640"/>
          </a:xfrm>
          <a:prstGeom prst="rect">
            <a:avLst/>
          </a:prstGeom>
          <a:solidFill>
            <a:srgbClr val="00FF88">
              <a:alpha val="7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95351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481328" y="2953512"/>
            <a:ext cx="7406640" cy="548640"/>
          </a:xfrm>
          <a:prstGeom prst="rect">
            <a:avLst/>
          </a:prstGeom>
          <a:solidFill>
            <a:srgbClr val="0A1E18"/>
          </a:solidFill>
          <a:ln w="12700">
            <a:solidFill>
              <a:srgbClr val="00FF88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91056" y="2990088"/>
            <a:ext cx="7205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in the console that your database cannot be accessed from the internet.  |  Show me your CloudTrail trail is active.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3566160"/>
            <a:ext cx="1188720" cy="548640"/>
          </a:xfrm>
          <a:prstGeom prst="rect">
            <a:avLst/>
          </a:prstGeom>
          <a:solidFill>
            <a:srgbClr val="FF6B6B">
              <a:alpha val="7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5661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481328" y="3566160"/>
            <a:ext cx="7406640" cy="548640"/>
          </a:xfrm>
          <a:prstGeom prst="rect">
            <a:avLst/>
          </a:prstGeom>
          <a:solidFill>
            <a:srgbClr val="0A1E18"/>
          </a:solidFill>
          <a:ln w="1270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91056" y="3602736"/>
            <a:ext cx="7205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system suffers a breach. Who do you notify, what must you tell them, and within how many hours?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4178808"/>
            <a:ext cx="1188720" cy="548640"/>
          </a:xfrm>
          <a:prstGeom prst="rect">
            <a:avLst/>
          </a:prstGeom>
          <a:solidFill>
            <a:srgbClr val="5A8070">
              <a:alpha val="75000"/>
            </a:srgbClr>
          </a:solidFill>
          <a:ln w="12700">
            <a:solidFill>
              <a:srgbClr val="5A80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4178808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481328" y="4178808"/>
            <a:ext cx="7406640" cy="548640"/>
          </a:xfrm>
          <a:prstGeom prst="rect">
            <a:avLst/>
          </a:prstGeom>
          <a:solidFill>
            <a:srgbClr val="0A1E18"/>
          </a:solidFill>
          <a:ln w="12700">
            <a:solidFill>
              <a:srgbClr val="5A8070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91056" y="4215384"/>
            <a:ext cx="7205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one thing you would do differently with two more weeks? Why didn't you do it this time?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4736592"/>
            <a:ext cx="8650224" cy="256032"/>
          </a:xfrm>
          <a:prstGeom prst="rect">
            <a:avLst/>
          </a:prstGeom>
          <a:solidFill>
            <a:srgbClr val="0F282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474573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a question you cannot answer: "I don't know that specifically, but based on [related concept], I would expect..." is a perfectly professional response.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6  ·  Capstone Project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1210"/>
          </a:solidFill>
          <a:ln w="12700">
            <a:solidFill>
              <a:srgbClr val="0612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Certificate of Competence — Requirements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must be ticked before the certificate is signed — SETA accreditation requirement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143000"/>
            <a:ext cx="4297680" cy="621792"/>
          </a:xfrm>
          <a:prstGeom prst="rect">
            <a:avLst/>
          </a:prstGeom>
          <a:solidFill>
            <a:srgbClr val="0A1E18"/>
          </a:solidFill>
          <a:ln w="12700">
            <a:solidFill>
              <a:srgbClr val="D4AF3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43000"/>
            <a:ext cx="502920" cy="621792"/>
          </a:xfrm>
          <a:prstGeom prst="rect">
            <a:avLst/>
          </a:prstGeom>
          <a:solidFill>
            <a:srgbClr val="D4AF37">
              <a:alpha val="25000"/>
            </a:srgbClr>
          </a:solidFill>
          <a:ln w="12700">
            <a:solidFill>
              <a:srgbClr val="D4AF37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25880"/>
            <a:ext cx="274320" cy="274320"/>
          </a:xfrm>
          <a:prstGeom prst="rect">
            <a:avLst/>
          </a:prstGeom>
          <a:solidFill>
            <a:srgbClr val="D4AF37">
              <a:alpha val="4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197864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formative quizzes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1472184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 pass mark on each module quiz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837944"/>
            <a:ext cx="4297680" cy="621792"/>
          </a:xfrm>
          <a:prstGeom prst="rect">
            <a:avLst/>
          </a:prstGeom>
          <a:solidFill>
            <a:srgbClr val="0A1E18"/>
          </a:solidFill>
          <a:ln w="12700">
            <a:solidFill>
              <a:srgbClr val="D4AF3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837944"/>
            <a:ext cx="502920" cy="621792"/>
          </a:xfrm>
          <a:prstGeom prst="rect">
            <a:avLst/>
          </a:prstGeom>
          <a:solidFill>
            <a:srgbClr val="D4AF37">
              <a:alpha val="25000"/>
            </a:srgbClr>
          </a:solidFill>
          <a:ln w="12700">
            <a:solidFill>
              <a:srgbClr val="D4AF37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020824"/>
            <a:ext cx="274320" cy="274320"/>
          </a:xfrm>
          <a:prstGeom prst="rect">
            <a:avLst/>
          </a:prstGeom>
          <a:solidFill>
            <a:srgbClr val="D4AF37">
              <a:alpha val="4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892808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practical lab submissions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1248" y="2167128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1a through 5c submitted and reviewed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2532888"/>
            <a:ext cx="4297680" cy="621792"/>
          </a:xfrm>
          <a:prstGeom prst="rect">
            <a:avLst/>
          </a:prstGeom>
          <a:solidFill>
            <a:srgbClr val="0A1E18"/>
          </a:solidFill>
          <a:ln w="12700">
            <a:solidFill>
              <a:srgbClr val="D4AF3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532888"/>
            <a:ext cx="502920" cy="621792"/>
          </a:xfrm>
          <a:prstGeom prst="rect">
            <a:avLst/>
          </a:prstGeom>
          <a:solidFill>
            <a:srgbClr val="D4AF37">
              <a:alpha val="25000"/>
            </a:srgbClr>
          </a:solidFill>
          <a:ln w="12700">
            <a:solidFill>
              <a:srgbClr val="D4AF37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715768"/>
            <a:ext cx="274320" cy="274320"/>
          </a:xfrm>
          <a:prstGeom prst="rect">
            <a:avLst/>
          </a:prstGeom>
          <a:solidFill>
            <a:srgbClr val="D4AF37">
              <a:alpha val="4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587752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Design sign-off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1248" y="2862072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approved paper design before building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3227832"/>
            <a:ext cx="4297680" cy="621792"/>
          </a:xfrm>
          <a:prstGeom prst="rect">
            <a:avLst/>
          </a:prstGeom>
          <a:solidFill>
            <a:srgbClr val="0A1E18"/>
          </a:solidFill>
          <a:ln w="12700">
            <a:solidFill>
              <a:srgbClr val="00FF8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227832"/>
            <a:ext cx="502920" cy="621792"/>
          </a:xfrm>
          <a:prstGeom prst="rect">
            <a:avLst/>
          </a:prstGeom>
          <a:solidFill>
            <a:srgbClr val="00FF88">
              <a:alpha val="25000"/>
            </a:srgbClr>
          </a:solidFill>
          <a:ln w="12700">
            <a:solidFill>
              <a:srgbClr val="00FF88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410712"/>
            <a:ext cx="274320" cy="274320"/>
          </a:xfrm>
          <a:prstGeom prst="rect">
            <a:avLst/>
          </a:prstGeom>
          <a:solidFill>
            <a:srgbClr val="00FF88">
              <a:alpha val="4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3282696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Working deployment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1248" y="3557016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demonstrably operational — screenshots confirmed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3922776"/>
            <a:ext cx="4297680" cy="621792"/>
          </a:xfrm>
          <a:prstGeom prst="rect">
            <a:avLst/>
          </a:prstGeom>
          <a:solidFill>
            <a:srgbClr val="0A1E18"/>
          </a:solidFill>
          <a:ln w="12700">
            <a:solidFill>
              <a:srgbClr val="00FF8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922776"/>
            <a:ext cx="502920" cy="621792"/>
          </a:xfrm>
          <a:prstGeom prst="rect">
            <a:avLst/>
          </a:prstGeom>
          <a:solidFill>
            <a:srgbClr val="00FF88">
              <a:alpha val="25000"/>
            </a:srgbClr>
          </a:solidFill>
          <a:ln w="12700">
            <a:solidFill>
              <a:srgbClr val="00FF88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105656"/>
            <a:ext cx="274320" cy="274320"/>
          </a:xfrm>
          <a:prstGeom prst="rect">
            <a:avLst/>
          </a:prstGeom>
          <a:solidFill>
            <a:srgbClr val="00FF88">
              <a:alpha val="4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3977640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Security &amp; POPIA docs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41248" y="4251960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 Report + all 8 POPIA conditions mapped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36592" y="1143000"/>
            <a:ext cx="4297680" cy="621792"/>
          </a:xfrm>
          <a:prstGeom prst="rect">
            <a:avLst/>
          </a:prstGeom>
          <a:solidFill>
            <a:srgbClr val="0A1E18"/>
          </a:solidFill>
          <a:ln w="12700">
            <a:solidFill>
              <a:srgbClr val="00FF8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36592" y="1143000"/>
            <a:ext cx="502920" cy="621792"/>
          </a:xfrm>
          <a:prstGeom prst="rect">
            <a:avLst/>
          </a:prstGeom>
          <a:solidFill>
            <a:srgbClr val="00FF88">
              <a:alpha val="25000"/>
            </a:srgbClr>
          </a:solidFill>
          <a:ln w="12700">
            <a:solidFill>
              <a:srgbClr val="00FF88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1325880"/>
            <a:ext cx="274320" cy="274320"/>
          </a:xfrm>
          <a:prstGeom prst="rect">
            <a:avLst/>
          </a:prstGeom>
          <a:solidFill>
            <a:srgbClr val="00FF88">
              <a:alpha val="4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21808" y="1197864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Presentation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21808" y="1472184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panel, Q&amp;A completed, peer forms submitted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36592" y="1837944"/>
            <a:ext cx="4297680" cy="621792"/>
          </a:xfrm>
          <a:prstGeom prst="rect">
            <a:avLst/>
          </a:prstGeom>
          <a:solidFill>
            <a:srgbClr val="0A1E18"/>
          </a:solidFill>
          <a:ln w="12700">
            <a:solidFill>
              <a:srgbClr val="00FF8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36592" y="1837944"/>
            <a:ext cx="502920" cy="621792"/>
          </a:xfrm>
          <a:prstGeom prst="rect">
            <a:avLst/>
          </a:prstGeom>
          <a:solidFill>
            <a:srgbClr val="00FF88">
              <a:alpha val="25000"/>
            </a:srgbClr>
          </a:solidFill>
          <a:ln w="12700">
            <a:solidFill>
              <a:srgbClr val="00FF88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2020824"/>
            <a:ext cx="274320" cy="274320"/>
          </a:xfrm>
          <a:prstGeom prst="rect">
            <a:avLst/>
          </a:prstGeom>
          <a:solidFill>
            <a:srgbClr val="00FF88">
              <a:alpha val="4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21808" y="1892808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score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21808" y="2167128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70/100 minimum, no component below 50%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36592" y="2532888"/>
            <a:ext cx="4297680" cy="621792"/>
          </a:xfrm>
          <a:prstGeom prst="rect">
            <a:avLst/>
          </a:prstGeom>
          <a:solidFill>
            <a:srgbClr val="0A1E18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36592" y="2532888"/>
            <a:ext cx="502920" cy="621792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2715768"/>
            <a:ext cx="274320" cy="274320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21808" y="2587752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of Evidence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21808" y="2862072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modules' artefacts present, labelled, organised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36592" y="3227832"/>
            <a:ext cx="4297680" cy="621792"/>
          </a:xfrm>
          <a:prstGeom prst="rect">
            <a:avLst/>
          </a:prstGeom>
          <a:solidFill>
            <a:srgbClr val="0A1E18"/>
          </a:solidFill>
          <a:ln w="12700">
            <a:solidFill>
              <a:srgbClr val="06B6D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36592" y="3227832"/>
            <a:ext cx="502920" cy="621792"/>
          </a:xfrm>
          <a:prstGeom prst="rect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46320" y="3410712"/>
            <a:ext cx="274320" cy="274320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21808" y="3282696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resources cleared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321808" y="3557016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learner AWS resources stopped or terminated post-course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36592" y="3922776"/>
            <a:ext cx="4297680" cy="621792"/>
          </a:xfrm>
          <a:prstGeom prst="rect">
            <a:avLst/>
          </a:prstGeom>
          <a:solidFill>
            <a:srgbClr val="0A1E18"/>
          </a:solidFill>
          <a:ln w="12700">
            <a:solidFill>
              <a:srgbClr val="FF6B6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36592" y="3922776"/>
            <a:ext cx="502920" cy="621792"/>
          </a:xfrm>
          <a:prstGeom prst="rect">
            <a:avLst/>
          </a:prstGeom>
          <a:solidFill>
            <a:srgbClr val="FF6B6B">
              <a:alpha val="25000"/>
            </a:srgbClr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46320" y="4105656"/>
            <a:ext cx="274320" cy="274320"/>
          </a:xfrm>
          <a:prstGeom prst="rect">
            <a:avLst/>
          </a:prstGeom>
          <a:solidFill>
            <a:srgbClr val="FF6B6B">
              <a:alpha val="4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21808" y="3977640"/>
            <a:ext cx="3639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 unit standards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321808" y="4251960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forms for all 9 applicable unit standards filed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6  ·  Capstone Project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0F6E56">
              <a:alpha val="9000"/>
            </a:srgbClr>
          </a:solidFill>
          <a:ln w="12700">
            <a:solidFill>
              <a:srgbClr val="D4AF37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657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Launchpad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FB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GDA Certificate of Competence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371600" y="2331720"/>
            <a:ext cx="6400800" cy="0"/>
          </a:xfrm>
          <a:prstGeom prst="line">
            <a:avLst/>
          </a:prstGeom>
          <a:noFill/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designed, built, secured, documented, and presented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614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production-pattern cloud solution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127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real South African business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3566160"/>
            <a:ext cx="6400800" cy="0"/>
          </a:xfrm>
          <a:prstGeom prst="line">
            <a:avLst/>
          </a:prstGeom>
          <a:noFill/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Essentials  ·  VPC &amp; Networking  ·  EC2 · S3 · RDS · IAM  ·  Cloud Security &amp; POPIA  ·  AWS Cloud Practitioner ready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Ginashe Digital Academy  ·  Cloud Computing Track  ·  Johannesburg, South Africa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"Making Digital Transformation a Reality — One Learner at a Time"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6  ·  Capstone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 — Capstone Project</dc:title>
  <dc:subject>PptxGenJS Presentation</dc:subject>
  <dc:creator>Ginashe Digital Academy</dc:creator>
  <cp:lastModifiedBy>Ginashe Digital Academy</cp:lastModifiedBy>
  <cp:revision>1</cp:revision>
  <dcterms:created xsi:type="dcterms:W3CDTF">2026-04-20T12:52:55Z</dcterms:created>
  <dcterms:modified xsi:type="dcterms:W3CDTF">2026-04-20T12:52:55Z</dcterms:modified>
</cp:coreProperties>
</file>