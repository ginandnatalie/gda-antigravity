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B85C00">
              <a:alpha val="12000"/>
            </a:srgbClr>
          </a:solidFill>
          <a:ln w="12700">
            <a:solidFill>
              <a:srgbClr val="B85C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97280"/>
            <a:ext cx="2926080" cy="292608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GINASHE DIGITAL ACADEMY  ·  Cloud Launchpad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02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80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74320" y="3611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  ·  25 hours  ·  NQF Level 4  ·  US 117005  ·  US 252250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041648"/>
            <a:ext cx="1572768" cy="347472"/>
          </a:xfrm>
          <a:prstGeom prst="rect">
            <a:avLst/>
          </a:prstGeom>
          <a:solidFill>
            <a:srgbClr val="B85C00">
              <a:alpha val="65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041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93392" y="4041648"/>
            <a:ext cx="1572768" cy="347472"/>
          </a:xfrm>
          <a:prstGeom prst="rect">
            <a:avLst/>
          </a:prstGeom>
          <a:solidFill>
            <a:srgbClr val="B85C00">
              <a:alpha val="65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4041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12464" y="4041648"/>
            <a:ext cx="1572768" cy="347472"/>
          </a:xfrm>
          <a:prstGeom prst="rect">
            <a:avLst/>
          </a:prstGeom>
          <a:solidFill>
            <a:srgbClr val="B85C00">
              <a:alpha val="65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4041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31536" y="4041648"/>
            <a:ext cx="1572768" cy="347472"/>
          </a:xfrm>
          <a:prstGeom prst="rect">
            <a:avLst/>
          </a:prstGeom>
          <a:solidFill>
            <a:srgbClr val="B85C00">
              <a:alpha val="65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4041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0608" y="4041648"/>
            <a:ext cx="1572768" cy="347472"/>
          </a:xfrm>
          <a:prstGeom prst="rect">
            <a:avLst/>
          </a:prstGeom>
          <a:solidFill>
            <a:srgbClr val="B85C00">
              <a:alpha val="65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4041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4  ·  Cloud Infrastructure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— Virtual Servers in the Cloud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instance family: the letter tells you the specialisation, the number tells you the generation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37160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789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91640" y="1078992"/>
            <a:ext cx="128016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46504" y="107899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RAM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17520" y="1078992"/>
            <a:ext cx="100584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107899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ZAR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69080" y="1078992"/>
            <a:ext cx="512064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23944" y="1078992"/>
            <a:ext cx="5047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 &amp; Notes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389888"/>
            <a:ext cx="137160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1389888"/>
            <a:ext cx="128016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1389888"/>
            <a:ext cx="100584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1389888"/>
            <a:ext cx="512064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3898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64792" y="1389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/ 1 GB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72384" y="1481328"/>
            <a:ext cx="914400" cy="292608"/>
          </a:xfrm>
          <a:prstGeom prst="rect">
            <a:avLst/>
          </a:prstGeom>
          <a:solidFill>
            <a:srgbClr val="00C875">
              <a:alpha val="70000"/>
            </a:srgbClr>
          </a:solidFill>
          <a:ln w="12700">
            <a:solidFill>
              <a:srgbClr val="00C875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72384" y="14813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60520" y="1426464"/>
            <a:ext cx="4992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Burstable general purpose — dev/test, light web servers, labs. Accumulates CPU credits when idle.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892808"/>
            <a:ext cx="137160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91640" y="1892808"/>
            <a:ext cx="128016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1892808"/>
            <a:ext cx="100584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80" y="1892808"/>
            <a:ext cx="512064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189280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t3.small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64792" y="18928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2 GB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72384" y="1984248"/>
            <a:ext cx="914400" cy="292608"/>
          </a:xfrm>
          <a:prstGeom prst="rect">
            <a:avLst/>
          </a:prstGeom>
          <a:solidFill>
            <a:srgbClr val="B85C00">
              <a:alpha val="70000"/>
            </a:srgbClr>
          </a:solidFill>
          <a:ln w="12700">
            <a:solidFill>
              <a:srgbClr val="B85C0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72384" y="1984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~R415/mo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60520" y="1929384"/>
            <a:ext cx="4992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web apps, staging. ~$0.023/hr on-demand. Best entry-level production instance.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395728"/>
            <a:ext cx="137160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91640" y="2395728"/>
            <a:ext cx="128016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2395728"/>
            <a:ext cx="100584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9080" y="2395728"/>
            <a:ext cx="512064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3957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t3.medium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64792" y="23957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4 GB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72384" y="2487168"/>
            <a:ext cx="914400" cy="292608"/>
          </a:xfrm>
          <a:prstGeom prst="rect">
            <a:avLst/>
          </a:prstGeom>
          <a:solidFill>
            <a:srgbClr val="B85C00">
              <a:alpha val="70000"/>
            </a:srgbClr>
          </a:solidFill>
          <a:ln w="12700">
            <a:solidFill>
              <a:srgbClr val="B85C00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72384" y="24871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~R830/mo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60520" y="2432304"/>
            <a:ext cx="4992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applications, small databases. Double the RAM of small for same CPU.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898648"/>
            <a:ext cx="137160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91640" y="2898648"/>
            <a:ext cx="128016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17520" y="2898648"/>
            <a:ext cx="100584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69080" y="2898648"/>
            <a:ext cx="512064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289864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m5.large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764792" y="28986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8 GB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072384" y="2990088"/>
            <a:ext cx="914400" cy="292608"/>
          </a:xfrm>
          <a:prstGeom prst="rect">
            <a:avLst/>
          </a:prstGeom>
          <a:solidFill>
            <a:srgbClr val="B85C00">
              <a:alpha val="70000"/>
            </a:srgbClr>
          </a:solidFill>
          <a:ln w="12700">
            <a:solidFill>
              <a:srgbClr val="B85C00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72384" y="29900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~R1 730/mo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60520" y="2935224"/>
            <a:ext cx="4992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production. Balanced CPU/memory. The workhorse for SA SaaS apps.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401568"/>
            <a:ext cx="137160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91640" y="3401568"/>
            <a:ext cx="128016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17520" y="3401568"/>
            <a:ext cx="100584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69080" y="3401568"/>
            <a:ext cx="512064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40156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c5.xlarge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764792" y="34015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vCPU / 8 GB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072384" y="3493008"/>
            <a:ext cx="914400" cy="292608"/>
          </a:xfrm>
          <a:prstGeom prst="rect">
            <a:avLst/>
          </a:prstGeom>
          <a:solidFill>
            <a:srgbClr val="B85C00">
              <a:alpha val="70000"/>
            </a:srgbClr>
          </a:solidFill>
          <a:ln w="12700">
            <a:solidFill>
              <a:srgbClr val="B85C00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72384" y="34930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~R3 060/mo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160520" y="3438144"/>
            <a:ext cx="4992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Compute-optimised. Batch jobs, analytics, encoding. C = CPU is the priority.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3904488"/>
            <a:ext cx="137160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91640" y="3904488"/>
            <a:ext cx="128016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17520" y="3904488"/>
            <a:ext cx="100584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69080" y="3904488"/>
            <a:ext cx="5120640" cy="475488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39044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r5.large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764792" y="3904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16 GB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72384" y="3995928"/>
            <a:ext cx="914400" cy="292608"/>
          </a:xfrm>
          <a:prstGeom prst="rect">
            <a:avLst/>
          </a:prstGeom>
          <a:solidFill>
            <a:srgbClr val="B85C00">
              <a:alpha val="70000"/>
            </a:srgbClr>
          </a:solidFill>
          <a:ln w="12700">
            <a:solidFill>
              <a:srgbClr val="B85C00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72384" y="39959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~R2 270/mo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160520" y="3941064"/>
            <a:ext cx="4992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Memory-optimised. In-memory databases, caching. R = RAM is the priority.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4  ·  Cloud Infrastructure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Pricing Models — Choose Wisely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the pricing model can save 70–90% — this is a real architectural decision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3703320"/>
          </a:xfrm>
          <a:prstGeom prst="rect">
            <a:avLst/>
          </a:prstGeom>
          <a:solidFill>
            <a:srgbClr val="231200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74320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second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flexibility.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Dev/test, unpredictable workloads,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projects.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2194560" cy="50292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930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Baseline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cost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059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unsure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you need 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27832" y="1078992"/>
            <a:ext cx="2743200" cy="3703320"/>
          </a:xfrm>
          <a:prstGeom prst="rect">
            <a:avLst/>
          </a:prstGeom>
          <a:solidFill>
            <a:srgbClr val="231200"/>
          </a:solidFill>
          <a:ln w="12700">
            <a:solidFill>
              <a:srgbClr val="00C8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078992"/>
            <a:ext cx="2743200" cy="50292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115568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9272" y="16459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 3-year term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72% cheaper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or monthly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24688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web servers,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core app servers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 24/7.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02152" y="3493008"/>
            <a:ext cx="2194560" cy="502920"/>
          </a:xfrm>
          <a:prstGeom prst="rect">
            <a:avLst/>
          </a:prstGeom>
          <a:solidFill>
            <a:srgbClr val="00C875">
              <a:alpha val="80000"/>
            </a:srgbClr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34930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~65–72%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19272" y="4059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months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81344" y="1078992"/>
            <a:ext cx="2743200" cy="3703320"/>
          </a:xfrm>
          <a:prstGeom prst="rect">
            <a:avLst/>
          </a:prstGeom>
          <a:solidFill>
            <a:srgbClr val="23120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078992"/>
            <a:ext cx="2743200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115568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72784" y="16459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90% cheaper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termination notice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AWS capacity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24688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analytics, ML training,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rendering, genomics.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tolerate interruption.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55664" y="3493008"/>
            <a:ext cx="2194560" cy="50292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34930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~80–90%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72784" y="4059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workloads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4  ·  Cloud Infrastructure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— Object Storage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99.999999999% durability (11 nines) — S3 is where the cloud stores the world's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46304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7899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83080" y="1078992"/>
            <a:ext cx="100584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07899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Cost/GB/mo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1078992"/>
            <a:ext cx="91440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07899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Duration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94760" y="1078992"/>
            <a:ext cx="100584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07899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Use Case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46320" y="1078992"/>
            <a:ext cx="4114800" cy="274320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078992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389888"/>
            <a:ext cx="146304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1389888"/>
            <a:ext cx="100584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1389888"/>
            <a:ext cx="91440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1389888"/>
            <a:ext cx="100584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389888"/>
            <a:ext cx="411480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426464"/>
            <a:ext cx="1389888" cy="365760"/>
          </a:xfrm>
          <a:prstGeom prst="rect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389888"/>
            <a:ext cx="135331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37944" y="1389888"/>
            <a:ext cx="93268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$0.023/GB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9504" y="1389888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minimum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1389888"/>
            <a:ext cx="398678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Daily-accessed data: product photos, app uploads, current logs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1865376"/>
            <a:ext cx="146304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83080" y="1865376"/>
            <a:ext cx="100584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1865376"/>
            <a:ext cx="91440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1865376"/>
            <a:ext cx="100584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865376"/>
            <a:ext cx="411480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1901952"/>
            <a:ext cx="1389888" cy="365760"/>
          </a:xfrm>
          <a:prstGeom prst="rect">
            <a:avLst/>
          </a:prstGeom>
          <a:solidFill>
            <a:srgbClr val="00BFFF">
              <a:alpha val="20000"/>
            </a:srgbClr>
          </a:solidFill>
          <a:ln w="12700">
            <a:solidFill>
              <a:srgbClr val="00B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1865376"/>
            <a:ext cx="135331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37944" y="1865376"/>
            <a:ext cx="93268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$0.0125/GB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89504" y="1865376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1865376"/>
            <a:ext cx="398678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older logs, data accessed monthly. Retrieval fee applies.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340864"/>
            <a:ext cx="146304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83080" y="2340864"/>
            <a:ext cx="100584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2340864"/>
            <a:ext cx="91440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94760" y="2340864"/>
            <a:ext cx="100584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340864"/>
            <a:ext cx="4114800" cy="448056"/>
          </a:xfrm>
          <a:prstGeom prst="rect">
            <a:avLst/>
          </a:prstGeom>
          <a:solidFill>
            <a:srgbClr val="2312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2377440"/>
            <a:ext cx="1389888" cy="365760"/>
          </a:xfrm>
          <a:prstGeom prst="rect">
            <a:avLst/>
          </a:prstGeom>
          <a:solidFill>
            <a:srgbClr val="00C875">
              <a:alpha val="20000"/>
            </a:srgbClr>
          </a:solidFill>
          <a:ln w="12700">
            <a:solidFill>
              <a:srgbClr val="00C875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2340864"/>
            <a:ext cx="135331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Instant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37944" y="2340864"/>
            <a:ext cx="93268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$0.004/GB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89504" y="2340864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37760" y="2340864"/>
            <a:ext cx="398678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accessed few times/year. SA patient records &gt; 3 years old.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2816352"/>
            <a:ext cx="146304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2816352"/>
            <a:ext cx="100584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2816352"/>
            <a:ext cx="91440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94760" y="2816352"/>
            <a:ext cx="100584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2816352"/>
            <a:ext cx="4114800" cy="448056"/>
          </a:xfrm>
          <a:prstGeom prst="rect">
            <a:avLst/>
          </a:prstGeom>
          <a:solidFill>
            <a:srgbClr val="1A0A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2852928"/>
            <a:ext cx="1389888" cy="365760"/>
          </a:xfrm>
          <a:prstGeom prst="rect">
            <a:avLst/>
          </a:prstGeom>
          <a:solidFill>
            <a:srgbClr val="7A6A5A">
              <a:alpha val="20000"/>
            </a:srgbClr>
          </a:solidFill>
          <a:ln w="12700">
            <a:solidFill>
              <a:srgbClr val="7A6A5A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2816352"/>
            <a:ext cx="135331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Flexible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837944" y="2816352"/>
            <a:ext cx="93268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$0.0036/GB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889504" y="2816352"/>
            <a:ext cx="841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37760" y="2816352"/>
            <a:ext cx="398678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archives. 1–12hr retrieval. Cheapest active storage.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3291840"/>
            <a:ext cx="8595360" cy="658368"/>
          </a:xfrm>
          <a:prstGeom prst="rect">
            <a:avLst/>
          </a:prstGeom>
          <a:solidFill>
            <a:srgbClr val="1A08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337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POPIA Critical: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103120" y="3337560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publicly readable S3 bucket containing SA customer PII is almost certainly a POPIA Condition 7 violation. Always enable Block Public Access on buckets holding personal information. Use SSE-KMS encryption for audit trail.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solidFill>
            <a:srgbClr val="231200"/>
          </a:solidFill>
          <a:ln w="12700">
            <a:solidFill>
              <a:srgbClr val="00C875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07822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nines durability = 99.999999999%  →  If you stored 10 billion files, you might lose one in 10,000 years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4  ·  Cloud Infrastructure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— Managed Relational Databases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patches, backs up, and fails over automatically — you focus on your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023360" cy="3721608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023360" cy="41148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380390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Multi-AZ — High Availability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1691640" cy="1051560"/>
          </a:xfrm>
          <a:prstGeom prst="rect">
            <a:avLst/>
          </a:prstGeom>
          <a:solidFill>
            <a:srgbClr val="00C875">
              <a:alpha val="20000"/>
            </a:srgbClr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64208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AZ-1a PRIMARY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938528"/>
            <a:ext cx="1545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reads &amp; writes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12848" y="2148840"/>
            <a:ext cx="658368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31136" y="19568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35224" y="1627632"/>
            <a:ext cx="1234440" cy="1051560"/>
          </a:xfrm>
          <a:prstGeom prst="rect">
            <a:avLst/>
          </a:prstGeom>
          <a:solidFill>
            <a:srgbClr val="7A6A5A">
              <a:alpha val="25000"/>
            </a:srgbClr>
          </a:solidFill>
          <a:ln w="12700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AZ-1b STANDBY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9232" y="1938528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 copy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TRAFFIC: NO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0" y="2852928"/>
            <a:ext cx="0" cy="347472"/>
          </a:xfrm>
          <a:prstGeom prst="line">
            <a:avLst/>
          </a:prstGeom>
          <a:noFill/>
          <a:ln w="12700">
            <a:solidFill>
              <a:srgbClr val="FF6B6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3200400"/>
            <a:ext cx="3474720" cy="502920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18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AUTO-FAILOVER: Primary fails → Standby promoted → DNS updated in 60–120 sec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3474720" cy="658368"/>
          </a:xfrm>
          <a:prstGeom prst="rect">
            <a:avLst/>
          </a:prstGeom>
          <a:solidFill>
            <a:srgbClr val="2E1800"/>
          </a:solidFill>
          <a:ln w="12700">
            <a:solidFill>
              <a:srgbClr val="7A6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1304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TRAP: Standby does NOT serve reads.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read scaling → use Read Replicas (separate feature).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1078992"/>
            <a:ext cx="4434840" cy="3721608"/>
          </a:xfrm>
          <a:prstGeom prst="rect">
            <a:avLst/>
          </a:prstGeom>
          <a:solidFill>
            <a:srgbClr val="23120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1078992"/>
            <a:ext cx="443484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115568"/>
            <a:ext cx="4251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Engine Selection Guide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572768"/>
            <a:ext cx="4251960" cy="475488"/>
          </a:xfrm>
          <a:prstGeom prst="rect">
            <a:avLst/>
          </a:prstGeom>
          <a:solidFill>
            <a:srgbClr val="2E18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157276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5727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stack, WordPress, Django, most SA web apps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084832"/>
            <a:ext cx="425196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0848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9320" y="20848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queries, fintech, GIS, SA analytics platforms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96896"/>
            <a:ext cx="4251960" cy="475488"/>
          </a:xfrm>
          <a:prstGeom prst="rect">
            <a:avLst/>
          </a:prstGeom>
          <a:solidFill>
            <a:srgbClr val="2E18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259689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25968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High-traffic SaaS, 5× MySQL speed, 15 read replicas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108960"/>
            <a:ext cx="425196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310896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31089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apps, IoT, payments — millions of TPS, sub-ms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3621024"/>
            <a:ext cx="4251960" cy="475488"/>
          </a:xfrm>
          <a:prstGeom prst="rect">
            <a:avLst/>
          </a:prstGeom>
          <a:solidFill>
            <a:srgbClr val="2E18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362102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362102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storage, leaderboards, real-time caching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4133088"/>
            <a:ext cx="4251960" cy="475488"/>
          </a:xfrm>
          <a:prstGeom prst="rect">
            <a:avLst/>
          </a:prstGeom>
          <a:solidFill>
            <a:srgbClr val="2312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41330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89320" y="41330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— JSE analytics, BI dashboards, reporting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4  ·  Cloud Infrastructure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Identity and Access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security service in AWS — misconfigured IAM caused the 2019 Capital One breach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591056" cy="3246120"/>
          </a:xfrm>
          <a:prstGeom prst="rect">
            <a:avLst/>
          </a:prstGeom>
          <a:solidFill>
            <a:srgbClr val="231200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1591056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Account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572768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for daily work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immediately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keys — ever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907792"/>
            <a:ext cx="1408176" cy="1207008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44368"/>
            <a:ext cx="1335024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nuclear launch code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lock it away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1078992"/>
            <a:ext cx="1591056" cy="3246120"/>
          </a:xfrm>
          <a:prstGeom prst="rect">
            <a:avLst/>
          </a:prstGeom>
          <a:solidFill>
            <a:srgbClr val="231200"/>
          </a:solidFill>
          <a:ln w="1270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078992"/>
            <a:ext cx="1591056" cy="43891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111556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84832" y="1572768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identity for humans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credentials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keys every 90 days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84832" y="2907792"/>
            <a:ext cx="1408176" cy="1207008"/>
          </a:xfrm>
          <a:prstGeom prst="rect">
            <a:avLst/>
          </a:prstGeom>
          <a:solidFill>
            <a:srgbClr val="00BFFF">
              <a:alpha val="12000"/>
            </a:srgbClr>
          </a:solidFill>
          <a:ln w="12700">
            <a:solidFill>
              <a:srgbClr val="00B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2944368"/>
            <a:ext cx="1335024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person.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groups.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30752" y="1078992"/>
            <a:ext cx="1591056" cy="3246120"/>
          </a:xfrm>
          <a:prstGeom prst="rect">
            <a:avLst/>
          </a:prstGeom>
          <a:solidFill>
            <a:srgbClr val="23120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0752" y="1078992"/>
            <a:ext cx="1591056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111556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22192" y="1572768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permission policies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/ Admins / ReadOnly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22192" y="2907792"/>
            <a:ext cx="1408176" cy="1207008"/>
          </a:xfrm>
          <a:prstGeom prst="rect">
            <a:avLst/>
          </a:prstGeom>
          <a:solidFill>
            <a:srgbClr val="FFD166">
              <a:alpha val="12000"/>
            </a:srgbClr>
          </a:solidFill>
          <a:ln w="12700">
            <a:solidFill>
              <a:srgbClr val="FFD166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2944368"/>
            <a:ext cx="1335024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users to groups,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individual policies.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68112" y="1078992"/>
            <a:ext cx="1591056" cy="3246120"/>
          </a:xfrm>
          <a:prstGeom prst="rect">
            <a:avLst/>
          </a:prstGeom>
          <a:solidFill>
            <a:srgbClr val="231200"/>
          </a:solidFill>
          <a:ln w="12700">
            <a:solidFill>
              <a:srgbClr val="00C8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68112" y="1078992"/>
            <a:ext cx="1591056" cy="438912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1264" y="111556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59552" y="1572768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identity for services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by EC2, Lambda, etc.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credential rotation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59552" y="2907792"/>
            <a:ext cx="1408176" cy="1207008"/>
          </a:xfrm>
          <a:prstGeom prst="rect">
            <a:avLst/>
          </a:prstGeom>
          <a:solidFill>
            <a:srgbClr val="00C875">
              <a:alpha val="12000"/>
            </a:srgbClr>
          </a:solidFill>
          <a:ln w="12700">
            <a:solidFill>
              <a:srgbClr val="00C875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2944368"/>
            <a:ext cx="1335024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→ S3 needs a role.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access keys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server.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05472" y="1078992"/>
            <a:ext cx="1591056" cy="3246120"/>
          </a:xfrm>
          <a:prstGeom prst="rect">
            <a:avLst/>
          </a:prstGeom>
          <a:solidFill>
            <a:srgbClr val="23120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05472" y="1078992"/>
            <a:ext cx="1591056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111556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96912" y="1572768"/>
            <a:ext cx="14081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Effect/Action/Resource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Deny always wins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Deny everything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96912" y="2907792"/>
            <a:ext cx="1408176" cy="1207008"/>
          </a:xfrm>
          <a:prstGeom prst="rect">
            <a:avLst/>
          </a:prstGeom>
          <a:solidFill>
            <a:srgbClr val="FFD166">
              <a:alpha val="12000"/>
            </a:srgbClr>
          </a:solidFill>
          <a:ln w="12700">
            <a:solidFill>
              <a:srgbClr val="FFD166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3488" y="2944368"/>
            <a:ext cx="1335024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is needed,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more.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4434840"/>
            <a:ext cx="8641080" cy="384048"/>
          </a:xfrm>
          <a:prstGeom prst="rect">
            <a:avLst/>
          </a:prstGeom>
          <a:solidFill>
            <a:srgbClr val="1208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443984"/>
            <a:ext cx="8394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JSON: { "Effect":"Allow", "Action":["s3:GetObject","s3:PutObject"], "Resource":"arn:aws:s3:::gda-bucket/*" }  →  Explicit Deny always overrides any Allow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4  ·  Cloud Infrastructure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Costs &amp; the 2-Tier Application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budget alert before Day 1 — then deploy your production-pattern 2-tier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023360" cy="3721608"/>
          </a:xfrm>
          <a:prstGeom prst="rect">
            <a:avLst/>
          </a:prstGeom>
          <a:solidFill>
            <a:srgbClr val="231200"/>
          </a:solidFill>
          <a:ln w="12700">
            <a:solidFill>
              <a:srgbClr val="B85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023360" cy="41148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380390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— On-Demand (ZAR at R18/USD)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40480" cy="420624"/>
          </a:xfrm>
          <a:prstGeom prst="rect">
            <a:avLst/>
          </a:prstGeom>
          <a:solidFill>
            <a:srgbClr val="2E18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t3.small (24/7)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157276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$0.023/hr × 720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66160" y="157276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R298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3840480" cy="420624"/>
          </a:xfrm>
          <a:prstGeom prst="rect">
            <a:avLst/>
          </a:prstGeom>
          <a:solidFill>
            <a:srgbClr val="2312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299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db.t3.micro (Single-AZ)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202996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$0.017/hr × 720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66160" y="202996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R220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3840480" cy="420624"/>
          </a:xfrm>
          <a:prstGeom prst="rect">
            <a:avLst/>
          </a:prstGeom>
          <a:solidFill>
            <a:srgbClr val="2E18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871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 (100 GB)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248716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$0.023/GB × 100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566160" y="248716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R41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3840480" cy="420624"/>
          </a:xfrm>
          <a:prstGeom prst="rect">
            <a:avLst/>
          </a:prstGeom>
          <a:solidFill>
            <a:srgbClr val="2312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443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gp3 (20 GB)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06040" y="294436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$0.08/GB × 20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566160" y="294436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R29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3840480" cy="420624"/>
          </a:xfrm>
          <a:prstGeom prst="rect">
            <a:avLst/>
          </a:prstGeom>
          <a:solidFill>
            <a:srgbClr val="2E1800"/>
          </a:solidFill>
          <a:ln w="12700">
            <a:solidFill>
              <a:srgbClr val="3A2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015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(50 GB)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06040" y="340156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$0.09/GB × 50 − 10 free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566160" y="340156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R65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858768"/>
            <a:ext cx="3840480" cy="420624"/>
          </a:xfrm>
          <a:prstGeom prst="rect">
            <a:avLst/>
          </a:prstGeom>
          <a:solidFill>
            <a:srgbClr val="2A10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58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ON-DEMAND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06040" y="385876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566160" y="385876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R653/mo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315968"/>
            <a:ext cx="3840480" cy="420624"/>
          </a:xfrm>
          <a:prstGeom prst="rect">
            <a:avLst/>
          </a:prstGeom>
          <a:solidFill>
            <a:srgbClr val="2A10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159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RESERVED 1yr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606040" y="431596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Reserved — save ~65%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566160" y="431596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R398/mo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80560" y="1078992"/>
            <a:ext cx="4434840" cy="3721608"/>
          </a:xfrm>
          <a:prstGeom prst="rect">
            <a:avLst/>
          </a:prstGeom>
          <a:solidFill>
            <a:srgbClr val="23120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078992"/>
            <a:ext cx="443484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1115568"/>
            <a:ext cx="4251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2-Tier Application Architecture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1627632"/>
            <a:ext cx="1828800" cy="502920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664208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User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77840" y="2130552"/>
            <a:ext cx="0" cy="338328"/>
          </a:xfrm>
          <a:prstGeom prst="line">
            <a:avLst/>
          </a:prstGeom>
          <a:noFill/>
          <a:ln w="12700">
            <a:solidFill>
              <a:srgbClr val="7A6A5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63440" y="2176272"/>
            <a:ext cx="1828800" cy="502920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212848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web server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(public subnet)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77840" y="2679192"/>
            <a:ext cx="0" cy="338328"/>
          </a:xfrm>
          <a:prstGeom prst="line">
            <a:avLst/>
          </a:prstGeom>
          <a:noFill/>
          <a:ln w="12700">
            <a:solidFill>
              <a:srgbClr val="7A6A5A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663440" y="2852928"/>
            <a:ext cx="1828800" cy="502920"/>
          </a:xfrm>
          <a:prstGeom prst="rect">
            <a:avLst/>
          </a:prstGeom>
          <a:solidFill>
            <a:srgbClr val="00C875">
              <a:alpha val="25000"/>
            </a:srgbClr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889504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→ S3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(media/static)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577840" y="3355848"/>
            <a:ext cx="0" cy="338328"/>
          </a:xfrm>
          <a:prstGeom prst="line">
            <a:avLst/>
          </a:prstGeom>
          <a:noFill/>
          <a:ln w="12700">
            <a:solidFill>
              <a:srgbClr val="7A6A5A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663440" y="3493008"/>
            <a:ext cx="1828800" cy="502920"/>
          </a:xfrm>
          <a:prstGeom prst="rect">
            <a:avLst/>
          </a:prstGeom>
          <a:solidFill>
            <a:srgbClr val="B85C00">
              <a:alpha val="25000"/>
            </a:srgbClr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529584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 subnet)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675120" y="1627632"/>
            <a:ext cx="21031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SG: 80/443 from 0.0.0.0/0 · 22 from mgmt 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SG: 3306 from Web SG ID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Role: s3:GetObject/PutObject on specific bucket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480560" y="4041648"/>
            <a:ext cx="4434840" cy="384048"/>
          </a:xfrm>
          <a:prstGeom prst="rect">
            <a:avLst/>
          </a:prstGeom>
          <a:solidFill>
            <a:srgbClr val="1A0D00"/>
          </a:solidFill>
          <a:ln w="12700">
            <a:solidFill>
              <a:srgbClr val="00C875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405079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Lab 4a: EC2 + nginx  ·  Lab 4b: RDS + data  ·  Lab 4c: IAM role + policy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4  ·  Cloud Infrastructure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731520"/>
            <a:ext cx="4114800" cy="4114800"/>
          </a:xfrm>
          <a:prstGeom prst="ellipse">
            <a:avLst/>
          </a:prstGeom>
          <a:solidFill>
            <a:srgbClr val="B85C00">
              <a:alpha val="10000"/>
            </a:srgbClr>
          </a:solidFill>
          <a:ln w="12700">
            <a:solidFill>
              <a:srgbClr val="B85C0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deployed 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production-pattern app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RDS · S3 · IAM · Billing — all live in AWS Cape Town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6400800" cy="301752"/>
          </a:xfrm>
          <a:prstGeom prst="rect">
            <a:avLst/>
          </a:prstGeom>
          <a:solidFill>
            <a:srgbClr val="231200"/>
          </a:solidFill>
          <a:ln w="12700">
            <a:solidFill>
              <a:srgbClr val="231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43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8437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28437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t2.micro + nginx — browser-accessible web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6400800" cy="301752"/>
          </a:xfrm>
          <a:prstGeom prst="rect">
            <a:avLst/>
          </a:prstGeom>
          <a:solidFill>
            <a:srgbClr val="231200"/>
          </a:solidFill>
          <a:ln w="12700">
            <a:solidFill>
              <a:srgbClr val="231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318211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64208" y="31821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 in private subnet — SA cities database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6400800" cy="301752"/>
          </a:xfrm>
          <a:prstGeom prst="rect">
            <a:avLst/>
          </a:prstGeom>
          <a:solidFill>
            <a:srgbClr val="0D1A08"/>
          </a:solidFill>
          <a:ln w="12700">
            <a:solidFill>
              <a:srgbClr val="00C875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35204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64208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with least-privilege S3 policy — negative test passed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9624"/>
            <a:ext cx="6400800" cy="301752"/>
          </a:xfrm>
          <a:prstGeom prst="rect">
            <a:avLst/>
          </a:prstGeom>
          <a:solidFill>
            <a:srgbClr val="0D1A08"/>
          </a:solidFill>
          <a:ln w="12700">
            <a:solidFill>
              <a:srgbClr val="00C875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" y="3858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64208" y="3858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 in ZAR — Reserved vs On-Demand calculated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622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Next: Module 5 — Cloud Security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4  ·  Cloud Infrastructure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— Cloud Infrastructure</dc:title>
  <dc:subject>PptxGenJS Presentation</dc:subject>
  <dc:creator>Ginashe Digital Academy</dc:creator>
  <cp:lastModifiedBy>Ginashe Digital Academy</cp:lastModifiedBy>
  <cp:revision>1</cp:revision>
  <dcterms:created xsi:type="dcterms:W3CDTF">2026-04-20T12:52:54Z</dcterms:created>
  <dcterms:modified xsi:type="dcterms:W3CDTF">2026-04-20T12:52:54Z</dcterms:modified>
</cp:coreProperties>
</file>