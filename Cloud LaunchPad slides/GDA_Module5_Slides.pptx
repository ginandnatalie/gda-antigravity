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48640"/>
            <a:ext cx="4572000" cy="4572000"/>
          </a:xfrm>
          <a:prstGeom prst="ellipse">
            <a:avLst/>
          </a:prstGeom>
          <a:solidFill>
            <a:srgbClr val="3C3489">
              <a:alpha val="12000"/>
            </a:srgbClr>
          </a:solidFill>
          <a:ln w="12700">
            <a:solidFill>
              <a:srgbClr val="B388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371600"/>
            <a:ext cx="2926080" cy="2926080"/>
          </a:xfrm>
          <a:prstGeom prst="ellipse">
            <a:avLst/>
          </a:prstGeom>
          <a:solidFill>
            <a:srgbClr val="B388FF">
              <a:alpha val="15000"/>
            </a:srgbClr>
          </a:solidFill>
          <a:ln w="12700">
            <a:solidFill>
              <a:srgbClr val="B388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GINASHE DIGITAL ACADEMY  ·  Cloud Launchpad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02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274320" y="3611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  ·  15 hours  ·  NQF Level 4  ·  US 116935  ·  US 259605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041648"/>
            <a:ext cx="1572768" cy="411480"/>
          </a:xfrm>
          <a:prstGeom prst="rect">
            <a:avLst/>
          </a:prstGeom>
          <a:solidFill>
            <a:srgbClr val="3C3489">
              <a:alpha val="45000"/>
            </a:srgbClr>
          </a:solidFill>
          <a:ln w="12700">
            <a:solidFill>
              <a:srgbClr val="B388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04164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0" y="4041648"/>
            <a:ext cx="1572768" cy="411480"/>
          </a:xfrm>
          <a:prstGeom prst="rect">
            <a:avLst/>
          </a:prstGeom>
          <a:solidFill>
            <a:srgbClr val="3C3489">
              <a:alpha val="45000"/>
            </a:srgbClr>
          </a:solidFill>
          <a:ln w="12700">
            <a:solidFill>
              <a:srgbClr val="B388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404164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0" y="4041648"/>
            <a:ext cx="1572768" cy="411480"/>
          </a:xfrm>
          <a:prstGeom prst="rect">
            <a:avLst/>
          </a:prstGeom>
          <a:solidFill>
            <a:srgbClr val="3C3489">
              <a:alpha val="45000"/>
            </a:srgbClr>
          </a:solidFill>
          <a:ln w="12700">
            <a:solidFill>
              <a:srgbClr val="B388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404164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Conditions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4041648"/>
            <a:ext cx="1572768" cy="411480"/>
          </a:xfrm>
          <a:prstGeom prst="rect">
            <a:avLst/>
          </a:prstGeom>
          <a:solidFill>
            <a:srgbClr val="3C3489">
              <a:alpha val="45000"/>
            </a:srgbClr>
          </a:solidFill>
          <a:ln w="12700">
            <a:solidFill>
              <a:srgbClr val="B388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404164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23760" y="4041648"/>
            <a:ext cx="1572768" cy="411480"/>
          </a:xfrm>
          <a:prstGeom prst="rect">
            <a:avLst/>
          </a:prstGeom>
          <a:solidFill>
            <a:srgbClr val="3C3489">
              <a:alpha val="45000"/>
            </a:srgbClr>
          </a:solidFill>
          <a:ln w="12700">
            <a:solidFill>
              <a:srgbClr val="B388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404164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5  ·  Cloud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0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0E28"/>
          </a:solidFill>
          <a:ln w="12700">
            <a:solidFill>
              <a:srgbClr val="100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Shared Responsibility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 was not breached. Equifax's application was breached. AWS was not at fault.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06240" cy="3721608"/>
          </a:xfrm>
          <a:prstGeom prst="rect">
            <a:avLst/>
          </a:prstGeom>
          <a:solidFill>
            <a:srgbClr val="0A1F30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206240" cy="502920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is responsible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cloud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1682496"/>
            <a:ext cx="54864" cy="32918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824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centres (af-south-1 Cape Town)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139696"/>
            <a:ext cx="54864" cy="32918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396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 and servers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596896"/>
            <a:ext cx="54864" cy="32918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968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 hypervisor software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054096"/>
            <a:ext cx="54864" cy="32918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540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patching (RDS engine, Lambda runtime)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3511296"/>
            <a:ext cx="54864" cy="32918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5112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network infrastructure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968496"/>
            <a:ext cx="54864" cy="32918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684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 power and cooling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078992"/>
            <a:ext cx="4206240" cy="3721608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078992"/>
            <a:ext cx="4206240" cy="502920"/>
          </a:xfrm>
          <a:prstGeom prst="rect">
            <a:avLst/>
          </a:prstGeom>
          <a:solidFill>
            <a:srgbClr val="FF6B6B">
              <a:alpha val="9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11556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responsible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1389888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10912" y="1682496"/>
            <a:ext cx="5486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6824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operating system patching — YOUR job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10912" y="2139696"/>
            <a:ext cx="5486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1396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and vulnerabilities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10912" y="2596896"/>
            <a:ext cx="5486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25968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and encryption choices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10912" y="3054096"/>
            <a:ext cx="5486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0540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user, group, role, and policy management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10912" y="3511296"/>
            <a:ext cx="5486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35112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and NACL configuration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10912" y="3968496"/>
            <a:ext cx="5486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39684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policies and public access settings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5  ·  Cloud Security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0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0E28"/>
          </a:solidFill>
          <a:ln w="12700">
            <a:solidFill>
              <a:srgbClr val="100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Encryption — At Rest and In Transit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Condition 7 requires reasonable technical safeguards — encryption is not optional for PII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188720" cy="274320"/>
          </a:xfrm>
          <a:prstGeom prst="rect">
            <a:avLst/>
          </a:prstGeom>
          <a:solidFill>
            <a:srgbClr val="181530"/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7899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078992"/>
            <a:ext cx="822960" cy="274320"/>
          </a:xfrm>
          <a:prstGeom prst="rect">
            <a:avLst/>
          </a:prstGeom>
          <a:solidFill>
            <a:srgbClr val="181530"/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63624" y="10789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77440" y="1078992"/>
            <a:ext cx="1371600" cy="274320"/>
          </a:xfrm>
          <a:prstGeom prst="rect">
            <a:avLst/>
          </a:prstGeom>
          <a:solidFill>
            <a:srgbClr val="181530"/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10789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94760" y="1078992"/>
            <a:ext cx="914400" cy="274320"/>
          </a:xfrm>
          <a:prstGeom prst="rect">
            <a:avLst/>
          </a:prstGeom>
          <a:solidFill>
            <a:srgbClr val="181530"/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07899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1078992"/>
            <a:ext cx="4663440" cy="274320"/>
          </a:xfrm>
          <a:prstGeom prst="rect">
            <a:avLst/>
          </a:prstGeom>
          <a:solidFill>
            <a:srgbClr val="181530"/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078992"/>
            <a:ext cx="4590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389888"/>
            <a:ext cx="118872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1389888"/>
            <a:ext cx="82296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1389888"/>
            <a:ext cx="137160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1389888"/>
            <a:ext cx="91440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389888"/>
            <a:ext cx="466344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38988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SSE-S3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63624" y="1389888"/>
            <a:ext cx="7498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32304" y="1389888"/>
            <a:ext cx="12984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9624" y="1389888"/>
            <a:ext cx="8412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389888"/>
            <a:ext cx="453542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S3 buckets — no audit trail of key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1847088"/>
            <a:ext cx="118872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8760" y="1847088"/>
            <a:ext cx="82296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1847088"/>
            <a:ext cx="137160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1847088"/>
            <a:ext cx="91440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847088"/>
            <a:ext cx="466344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184708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SSE-KMS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63624" y="1847088"/>
            <a:ext cx="7498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32304" y="1847088"/>
            <a:ext cx="12984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CMK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9624" y="1847088"/>
            <a:ext cx="8412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$1/CMK/mo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1847088"/>
            <a:ext cx="453542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POPIA: full CloudTrail audit of every decrypt operation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304288"/>
            <a:ext cx="118872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08760" y="2304288"/>
            <a:ext cx="82296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2304288"/>
            <a:ext cx="137160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94760" y="2304288"/>
            <a:ext cx="91440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304288"/>
            <a:ext cx="4663440" cy="429768"/>
          </a:xfrm>
          <a:prstGeom prst="rect">
            <a:avLst/>
          </a:prstGeom>
          <a:solidFill>
            <a:srgbClr val="18153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30428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EBS default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63624" y="2304288"/>
            <a:ext cx="7498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32304" y="2304288"/>
            <a:ext cx="12984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49624" y="2304288"/>
            <a:ext cx="8412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2304288"/>
            <a:ext cx="453542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account-level default — all new volumes encrypted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2761488"/>
            <a:ext cx="118872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08760" y="2761488"/>
            <a:ext cx="82296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2761488"/>
            <a:ext cx="137160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94760" y="2761488"/>
            <a:ext cx="91440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2761488"/>
            <a:ext cx="466344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276148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EBS KMS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63624" y="2761488"/>
            <a:ext cx="7498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432304" y="2761488"/>
            <a:ext cx="12984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CMK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849624" y="2761488"/>
            <a:ext cx="8412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$1/CMK/mo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46320" y="2761488"/>
            <a:ext cx="453542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databases — must enable AT CREATION, cannot add later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3218688"/>
            <a:ext cx="118872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08760" y="3218688"/>
            <a:ext cx="82296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18688"/>
            <a:ext cx="137160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94760" y="3218688"/>
            <a:ext cx="91440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3218688"/>
            <a:ext cx="4663440" cy="429768"/>
          </a:xfrm>
          <a:prstGeom prst="rect">
            <a:avLst/>
          </a:prstGeom>
          <a:solidFill>
            <a:srgbClr val="1E1A00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321868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RDS KMS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563624" y="3218688"/>
            <a:ext cx="7498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432304" y="3218688"/>
            <a:ext cx="12984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or AWS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849624" y="3218688"/>
            <a:ext cx="8412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$1/CMK/mo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46320" y="3218688"/>
            <a:ext cx="453542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cannot encrypt existing RDS — snapshot → copy → restore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3675888"/>
            <a:ext cx="118872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08760" y="3675888"/>
            <a:ext cx="82296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3675888"/>
            <a:ext cx="137160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794760" y="3675888"/>
            <a:ext cx="91440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54880" y="3675888"/>
            <a:ext cx="4663440" cy="429768"/>
          </a:xfrm>
          <a:prstGeom prst="rect">
            <a:avLst/>
          </a:prstGeom>
          <a:solidFill>
            <a:srgbClr val="100E28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367588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 in transit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563624" y="3675888"/>
            <a:ext cx="74980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432304" y="3675888"/>
            <a:ext cx="12984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certificate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849624" y="3675888"/>
            <a:ext cx="8412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(ALB)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846320" y="3675888"/>
            <a:ext cx="453542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HTTPS traffic — ACM auto-renews, no manual intervention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" y="4187952"/>
            <a:ext cx="8595360" cy="320040"/>
          </a:xfrm>
          <a:prstGeom prst="rect">
            <a:avLst/>
          </a:prstGeom>
          <a:solidFill>
            <a:srgbClr val="120E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4197096"/>
            <a:ext cx="8394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MIGRATION PATTERN: Create snapshot → Copy snapshot WITH encryption enabled (specify KMS key) → Restore new encrypted instance → Update connection string → Delete old instance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5  ·  Cloud Security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0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0E28"/>
          </a:solidFill>
          <a:ln w="12700">
            <a:solidFill>
              <a:srgbClr val="100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— 8 Conditions Mapped to AWS Controls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1 July 2021 · Penalty: up to R10 million or 10 years imprisonment · 72-hour breach notification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4206240" cy="841248"/>
          </a:xfrm>
          <a:prstGeom prst="rect">
            <a:avLst/>
          </a:prstGeom>
          <a:solidFill>
            <a:srgbClr val="181530"/>
          </a:solidFill>
          <a:ln w="12700">
            <a:solidFill>
              <a:srgbClr val="3C348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15568"/>
            <a:ext cx="411480" cy="841248"/>
          </a:xfrm>
          <a:prstGeom prst="rect">
            <a:avLst/>
          </a:prstGeom>
          <a:solidFill>
            <a:srgbClr val="3C3489">
              <a:alpha val="80000"/>
            </a:srgbClr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34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15214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an Information Officer — a legal requirement, not a technical role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7007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— audit evidence that controls are operating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" y="2011680"/>
            <a:ext cx="4206240" cy="841248"/>
          </a:xfrm>
          <a:prstGeom prst="rect">
            <a:avLst/>
          </a:prstGeom>
          <a:solidFill>
            <a:srgbClr val="181530"/>
          </a:solidFill>
          <a:ln w="12700">
            <a:solidFill>
              <a:srgbClr val="B3885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011680"/>
            <a:ext cx="411480" cy="841248"/>
          </a:xfrm>
          <a:prstGeom prst="rect">
            <a:avLst/>
          </a:prstGeom>
          <a:solidFill>
            <a:srgbClr val="B3885C">
              <a:alpha val="80000"/>
            </a:srgbClr>
          </a:solidFill>
          <a:ln w="12700">
            <a:solidFill>
              <a:srgbClr val="B3885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11680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88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20482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8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B38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the minimum personal data necessary for the stated purpose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5968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38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least-privilege policies restrict access to PII data stores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4206240" cy="841248"/>
          </a:xfrm>
          <a:prstGeom prst="rect">
            <a:avLst/>
          </a:prstGeom>
          <a:solidFill>
            <a:srgbClr val="181530"/>
          </a:solidFill>
          <a:ln w="12700">
            <a:solidFill>
              <a:srgbClr val="B388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907792"/>
            <a:ext cx="411480" cy="841248"/>
          </a:xfrm>
          <a:prstGeom prst="rect">
            <a:avLst/>
          </a:prstGeom>
          <a:solidFill>
            <a:srgbClr val="B388FF">
              <a:alpha val="80000"/>
            </a:srgbClr>
          </a:solidFill>
          <a:ln w="12700">
            <a:solidFill>
              <a:srgbClr val="B388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907792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8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29443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255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communicate the lawful purpose for data collection to data subjects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34930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tags on S3 buckets and RDS instances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3803904"/>
            <a:ext cx="4206240" cy="841248"/>
          </a:xfrm>
          <a:prstGeom prst="rect">
            <a:avLst/>
          </a:prstGeom>
          <a:solidFill>
            <a:srgbClr val="181530"/>
          </a:solidFill>
          <a:ln w="12700">
            <a:solidFill>
              <a:srgbClr val="7DD3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803904"/>
            <a:ext cx="411480" cy="841248"/>
          </a:xfrm>
          <a:prstGeom prst="rect">
            <a:avLst/>
          </a:prstGeom>
          <a:solidFill>
            <a:srgbClr val="7DD3FC">
              <a:alpha val="80000"/>
            </a:srgbClr>
          </a:solidFill>
          <a:ln w="12700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803904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" y="38404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processing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 of personal data must be compatible with original purpose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policies restricting which services can access PII objects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45152" y="1115568"/>
            <a:ext cx="4206240" cy="841248"/>
          </a:xfrm>
          <a:prstGeom prst="rect">
            <a:avLst/>
          </a:prstGeom>
          <a:solidFill>
            <a:srgbClr val="181530"/>
          </a:solidFill>
          <a:ln w="12700">
            <a:solidFill>
              <a:srgbClr val="00FF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5152" y="1115568"/>
            <a:ext cx="411480" cy="841248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1115568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120640" y="115214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quality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206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must be accurate, complete, and current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0" y="17007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automated backups — data integrity; CloudTrail modification logs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45152" y="2011680"/>
            <a:ext cx="4206240" cy="841248"/>
          </a:xfrm>
          <a:prstGeom prst="rect">
            <a:avLst/>
          </a:prstGeom>
          <a:solidFill>
            <a:srgbClr val="181530"/>
          </a:solidFill>
          <a:ln w="12700">
            <a:solidFill>
              <a:srgbClr val="FFD16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45152" y="2011680"/>
            <a:ext cx="411480" cy="84124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2011680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120640" y="20482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2064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privacy notice — identify the responsible party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20640" y="25968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on S3 static website; architecture docs for regulators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45152" y="2907792"/>
            <a:ext cx="4206240" cy="841248"/>
          </a:xfrm>
          <a:prstGeom prst="rect">
            <a:avLst/>
          </a:prstGeom>
          <a:solidFill>
            <a:srgbClr val="181530"/>
          </a:solidFill>
          <a:ln w="12700">
            <a:solidFill>
              <a:srgbClr val="FF6B6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45152" y="2907792"/>
            <a:ext cx="411480" cy="84124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2907792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120640" y="29443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20640" y="3255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+ organisational measures to prevent unauthorised access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0" y="34930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encryption · TLS · MFA · SGs · VPC Flow Logs · GuardDuty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45152" y="3803904"/>
            <a:ext cx="4206240" cy="841248"/>
          </a:xfrm>
          <a:prstGeom prst="rect">
            <a:avLst/>
          </a:prstGeom>
          <a:solidFill>
            <a:srgbClr val="181530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45152" y="3803904"/>
            <a:ext cx="411480" cy="84124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3803904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120640" y="38404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20640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subjects can request access, correction, and deletion of their data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20640" y="43891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user data export and delete features required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5  ·  Cloud Security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0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0E28"/>
          </a:solidFill>
          <a:ln w="12700">
            <a:solidFill>
              <a:srgbClr val="100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CloudTrail, VPC Flow Logs &amp; AWS Config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these three before deploying anything — you cannot investigate an incident without logs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83464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B3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834640" cy="457200"/>
          </a:xfrm>
          <a:prstGeom prst="rect">
            <a:avLst/>
          </a:prstGeom>
          <a:solidFill>
            <a:srgbClr val="B388FF">
              <a:alpha val="85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609344"/>
            <a:ext cx="2651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API call in your account.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IAM ARN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API action (e.g. DeleteDBInstance)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Source IP address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Timestamp to millisecond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multi-region trail.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 Integrity Validation.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management events.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3639312"/>
            <a:ext cx="2651760" cy="1024128"/>
          </a:xfrm>
          <a:prstGeom prst="rect">
            <a:avLst/>
          </a:prstGeom>
          <a:solidFill>
            <a:srgbClr val="070810"/>
          </a:solidFill>
          <a:ln w="12700">
            <a:solidFill>
              <a:srgbClr val="B388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3675888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deleted the production database?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CloudTrail → Filter: DeleteDBInstance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Identity: arn:aws:iam::123:user/dev-alice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Time: 2024-08-15T02:14:33Z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Source IP: 197.x.x.x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27832" y="1078992"/>
            <a:ext cx="283464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78992"/>
            <a:ext cx="2834640" cy="457200"/>
          </a:xfrm>
          <a:prstGeom prst="rect">
            <a:avLst/>
          </a:prstGeom>
          <a:solidFill>
            <a:srgbClr val="7DD3FC">
              <a:alpha val="85000"/>
            </a:srgbClr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115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609344"/>
            <a:ext cx="2651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metadata of all network connections.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/ Destination 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and protocol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and packets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ACCEPT or REJECT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capture payload content.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 every VPC with sensitive data.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~R50–200/month for small environments.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19272" y="3639312"/>
            <a:ext cx="2651760" cy="1024128"/>
          </a:xfrm>
          <a:prstGeom prst="rect">
            <a:avLst/>
          </a:prstGeom>
          <a:solidFill>
            <a:srgbClr val="070810"/>
          </a:solidFill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3675888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under attack?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athena query flow logs: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ACTION=REJECT AND DSTPORT=3306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14,847 rejected attempts from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41.x.x.x in 90 minutes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Automated brute-force — blocked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99632" y="1078992"/>
            <a:ext cx="283464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078992"/>
            <a:ext cx="2834640" cy="457200"/>
          </a:xfrm>
          <a:prstGeom prst="rect">
            <a:avLst/>
          </a:prstGeom>
          <a:solidFill>
            <a:srgbClr val="00FF88">
              <a:alpha val="8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115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91072" y="1609344"/>
            <a:ext cx="2651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configurations.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policy violations in real time.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rules: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restricted-ssh (port 22 open?)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s3-bucket-public-access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encrypted-volumes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root-account-mfa-enabled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rds-instance-public-access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via Lambda.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91072" y="3639312"/>
            <a:ext cx="2651760" cy="1024128"/>
          </a:xfrm>
          <a:prstGeom prst="rect">
            <a:avLst/>
          </a:prstGeom>
          <a:solidFill>
            <a:srgbClr val="070810"/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675888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NON_COMPLIANT detected: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group sg-0abc123 allows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from 0.0.0.0/0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rule: restricted-ssh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HIGH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Lambda auto-remediation triggered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SG rule removed in 45 seconds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5  ·  Cloud Security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0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0E28"/>
          </a:solidFill>
          <a:ln w="12700">
            <a:solidFill>
              <a:srgbClr val="100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Incident Response — 6 Phases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SolarWinds: 18,000 organisations breached. Prepared ones contained it in days. Unprepared: months.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37160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1B4F8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1371600" cy="502920"/>
          </a:xfrm>
          <a:prstGeom prst="rect">
            <a:avLst/>
          </a:prstGeom>
          <a:solidFill>
            <a:srgbClr val="1B4F8A">
              <a:alpha val="90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97280"/>
            <a:ext cx="43891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0E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115568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" y="1645920"/>
            <a:ext cx="12252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 forensic IAM role, IR runbook documented and tested, GuardDuty and CloudTrail enabled, out-of-band comms plan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37360" y="1078992"/>
            <a:ext cx="137160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0F6E5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37360" y="1078992"/>
            <a:ext cx="1371600" cy="502920"/>
          </a:xfrm>
          <a:prstGeom prst="rect">
            <a:avLst/>
          </a:prstGeom>
          <a:solidFill>
            <a:srgbClr val="0F6E56">
              <a:alpha val="90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097280"/>
            <a:ext cx="43891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0E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94560" y="1115568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10512" y="1645920"/>
            <a:ext cx="12252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finding, CloudTrail anomaly, billing alert spike (cryptomining!), VPC Flow Log spike detected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18688" y="1078992"/>
            <a:ext cx="137160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993C1D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078992"/>
            <a:ext cx="1371600" cy="502920"/>
          </a:xfrm>
          <a:prstGeom prst="rect">
            <a:avLst/>
          </a:prstGeom>
          <a:solidFill>
            <a:srgbClr val="993C1D">
              <a:alpha val="90000"/>
            </a:srgbClr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097280"/>
            <a:ext cx="43891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0E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75888" y="1115568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1645920"/>
            <a:ext cx="12252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compromised EC2 SG with deny-all, revoke compromised IAM credentials, take EBS SNAPSHOT BEFORE terminating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0016" y="1078992"/>
            <a:ext cx="137160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854F0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016" y="1078992"/>
            <a:ext cx="1371600" cy="502920"/>
          </a:xfrm>
          <a:prstGeom prst="rect">
            <a:avLst/>
          </a:prstGeom>
          <a:solidFill>
            <a:srgbClr val="854F0B">
              <a:alpha val="9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1097280"/>
            <a:ext cx="43891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0E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57216" y="1115568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73168" y="1645920"/>
            <a:ext cx="12252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compromised instance (AFTER snapshot), delete attacker-created IAM users/policies, patch the vulnerability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81344" y="1078992"/>
            <a:ext cx="137160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3C3489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1078992"/>
            <a:ext cx="1371600" cy="502920"/>
          </a:xfrm>
          <a:prstGeom prst="rect">
            <a:avLst/>
          </a:prstGeom>
          <a:solidFill>
            <a:srgbClr val="3C3489">
              <a:alpha val="90000"/>
            </a:srgbClr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097280"/>
            <a:ext cx="43891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0E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38544" y="1115568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1645920"/>
            <a:ext cx="12252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from clean AMI, restore RDS from verified backup, monitor intensively for 72 hours for recurrence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62672" y="1078992"/>
            <a:ext cx="1371600" cy="3721608"/>
          </a:xfrm>
          <a:prstGeom prst="rect">
            <a:avLst/>
          </a:prstGeom>
          <a:solidFill>
            <a:srgbClr val="181530"/>
          </a:solidFill>
          <a:ln w="12700">
            <a:solidFill>
              <a:srgbClr val="3C3489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62672" y="1078992"/>
            <a:ext cx="1371600" cy="502920"/>
          </a:xfrm>
          <a:prstGeom prst="rect">
            <a:avLst/>
          </a:prstGeom>
          <a:solidFill>
            <a:srgbClr val="3C3489">
              <a:alpha val="90000"/>
            </a:srgbClr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1097280"/>
            <a:ext cx="43891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0E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119872" y="1115568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0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35824" y="1645920"/>
            <a:ext cx="1225296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post-mortem within 5 days. Root cause analysis. Update runbooks. Notify Information Regulator if POPIA breach.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4681728"/>
            <a:ext cx="8650224" cy="274320"/>
          </a:xfrm>
          <a:prstGeom prst="rect">
            <a:avLst/>
          </a:prstGeom>
          <a:solidFill>
            <a:srgbClr val="1500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690872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CRITICAL: Take EBS snapshot BEFORE terminating the compromised instance — preserves forensic evidence. Never terminate first.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5  ·  Cloud Security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0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0E28"/>
          </a:solidFill>
          <a:ln w="12700">
            <a:solidFill>
              <a:srgbClr val="100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Security Pillar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framework + free tool in the AWS console — your professional security review checklist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834640" cy="1719072"/>
          </a:xfrm>
          <a:prstGeom prst="rect">
            <a:avLst/>
          </a:prstGeom>
          <a:solidFill>
            <a:srgbClr val="181530"/>
          </a:solidFill>
          <a:ln w="12700">
            <a:solidFill>
              <a:srgbClr val="B388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15568"/>
            <a:ext cx="73152" cy="171907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8872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strong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foundation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682496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IAM, MFA on all accounts, no long-term credentials for services. Eliminate root account use.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115568"/>
            <a:ext cx="2834640" cy="1719072"/>
          </a:xfrm>
          <a:prstGeom prst="rect">
            <a:avLst/>
          </a:prstGeom>
          <a:solidFill>
            <a:srgbClr val="181530"/>
          </a:solidFill>
          <a:ln w="12700">
            <a:solidFill>
              <a:srgbClr val="7DD3F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115568"/>
            <a:ext cx="73152" cy="171907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18872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traceability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74136" y="1682496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CloudTrail, VPC Flow Logs, AWS Config, CloudWatch — log and monitor all actions. Integrate with detection tools.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9632" y="1115568"/>
            <a:ext cx="2834640" cy="1719072"/>
          </a:xfrm>
          <a:prstGeom prst="rect">
            <a:avLst/>
          </a:prstGeom>
          <a:solidFill>
            <a:srgbClr val="181530"/>
          </a:solidFill>
          <a:ln w="12700">
            <a:solidFill>
              <a:srgbClr val="00FF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115568"/>
            <a:ext cx="73152" cy="17190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18872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layers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45936" y="1682496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(SG/NACL), Compute (OS patching), Data (KMS), Application (input validation). Defence-in-depth.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926080"/>
            <a:ext cx="2834640" cy="1719072"/>
          </a:xfrm>
          <a:prstGeom prst="rect">
            <a:avLst/>
          </a:prstGeom>
          <a:solidFill>
            <a:srgbClr val="181530"/>
          </a:solidFill>
          <a:ln w="12700">
            <a:solidFill>
              <a:srgbClr val="FFD1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926080"/>
            <a:ext cx="73152" cy="17190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999232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security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" y="3493008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rules + Lambda auto-remediation. IaC for consistent security. No manual one-off configurations.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2926080"/>
            <a:ext cx="2834640" cy="1719072"/>
          </a:xfrm>
          <a:prstGeom prst="rect">
            <a:avLst/>
          </a:prstGeom>
          <a:solidFill>
            <a:srgbClr val="181530"/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2926080"/>
            <a:ext cx="73152" cy="17190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2999232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and at rest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74136" y="3493008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CMKs for PII, TLS 1.2+ everywhere, ACM certificates, S3 Block Public Access on all PII buckets.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9632" y="2926080"/>
            <a:ext cx="2834640" cy="1719072"/>
          </a:xfrm>
          <a:prstGeom prst="rect">
            <a:avLst/>
          </a:prstGeom>
          <a:solidFill>
            <a:srgbClr val="181530"/>
          </a:solidFill>
          <a:ln w="12700">
            <a:solidFill>
              <a:srgbClr val="B388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2926080"/>
            <a:ext cx="73152" cy="171907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2999232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45936" y="3493008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runbook tested, forensic tooling pre-staged, out-of-band comms ready, GameDays practised, POPIA obligations known.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681728"/>
            <a:ext cx="8650224" cy="274320"/>
          </a:xfrm>
          <a:prstGeom prst="rect">
            <a:avLst/>
          </a:prstGeom>
          <a:solidFill>
            <a:srgbClr val="0C0A20"/>
          </a:solidFill>
          <a:ln w="12700">
            <a:solidFill>
              <a:srgbClr val="B388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690872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Tool: free in the console — answers security lens questions and generates a prioritised improvement plan for your architecture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5  ·  Cloud Security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0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3C3489">
              <a:alpha val="10000"/>
            </a:srgbClr>
          </a:solidFill>
          <a:ln w="12700">
            <a:solidFill>
              <a:srgbClr val="3C3489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secured your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application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· POPIA · CloudTrail · IR · Well-Architected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6858000" cy="301752"/>
          </a:xfrm>
          <a:prstGeom prst="rect">
            <a:avLst/>
          </a:prstGeom>
          <a:solidFill>
            <a:srgbClr val="181530"/>
          </a:solidFill>
          <a:ln w="12700">
            <a:solidFill>
              <a:srgbClr val="181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43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8437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2843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created — S3 and EBS encrypted — POPIA justification written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6858000" cy="301752"/>
          </a:xfrm>
          <a:prstGeom prst="rect">
            <a:avLst/>
          </a:prstGeom>
          <a:solidFill>
            <a:srgbClr val="181530"/>
          </a:solidFill>
          <a:ln w="12700">
            <a:solidFill>
              <a:srgbClr val="1815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318211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64208" y="31821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multi-region trail — VPC Flow Logs — Config restricted-ssh rule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6858000" cy="301752"/>
          </a:xfrm>
          <a:prstGeom prst="rect">
            <a:avLst/>
          </a:prstGeom>
          <a:solidFill>
            <a:srgbClr val="100E20"/>
          </a:solidFill>
          <a:ln w="12700">
            <a:solidFill>
              <a:srgbClr val="B388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35204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5.1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64208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compliance audit — 8 conditions mapped to AWS controls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9624"/>
            <a:ext cx="6858000" cy="301752"/>
          </a:xfrm>
          <a:prstGeom prst="rect">
            <a:avLst/>
          </a:prstGeom>
          <a:solidFill>
            <a:srgbClr val="100E20"/>
          </a:solidFill>
          <a:ln w="12700">
            <a:solidFill>
              <a:srgbClr val="B388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" y="3858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5.4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64208" y="38587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Report — 5 findings — Well-Architected assessment scored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622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Next: Module 6 — Capstone Project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5  ·  Cloud Security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— Cloud Security</dc:title>
  <dc:subject>PptxGenJS Presentation</dc:subject>
  <dc:creator>Ginashe Digital Academy</dc:creator>
  <cp:lastModifiedBy>Ginashe Digital Academy</cp:lastModifiedBy>
  <cp:revision>1</cp:revision>
  <dcterms:created xsi:type="dcterms:W3CDTF">2026-04-20T12:52:54Z</dcterms:created>
  <dcterms:modified xsi:type="dcterms:W3CDTF">2026-04-20T12:52:54Z</dcterms:modified>
</cp:coreProperties>
</file>