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54864"/>
          </a:xfrm>
          <a:prstGeom prst="rect">
            <a:avLst/>
          </a:prstGeom>
          <a:solidFill>
            <a:srgbClr val="C8A850"/>
          </a:solidFill>
          <a:ln w="12700">
            <a:solidFill>
              <a:srgbClr val="C8A8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560320"/>
            <a:ext cx="3200400" cy="32004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926080"/>
            <a:ext cx="2011680" cy="2011680"/>
          </a:xfrm>
          <a:prstGeom prst="ellipse">
            <a:avLst/>
          </a:prstGeom>
          <a:solidFill>
            <a:srgbClr val="C8A850">
              <a:alpha val="12000"/>
            </a:srgbClr>
          </a:solidFill>
          <a:ln w="12700">
            <a:solidFill>
              <a:srgbClr val="C8A850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GINASHE DIGITAL ACADEMY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58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Launchpad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&amp;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8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Foundations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94360" y="3886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 ·  20 hours  ·  NQF Level 3–4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Digital World?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is already living in the digital economy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371600"/>
          </a:xfrm>
          <a:prstGeom prst="rect">
            <a:avLst/>
          </a:prstGeom>
          <a:solidFill>
            <a:srgbClr val="D6E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6M+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431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 eFiling returns p.a.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88720"/>
            <a:ext cx="1920240" cy="1371600"/>
          </a:xfrm>
          <a:prstGeom prst="rect">
            <a:avLst/>
          </a:prstGeom>
          <a:solidFill>
            <a:srgbClr val="D6E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23444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9431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Capitec active app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1920240" cy="1371600"/>
          </a:xfrm>
          <a:prstGeom prst="rect">
            <a:avLst/>
          </a:prstGeom>
          <a:solidFill>
            <a:srgbClr val="D6E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23444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9431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Takealot orders per 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188720"/>
            <a:ext cx="1920240" cy="1371600"/>
          </a:xfrm>
          <a:prstGeom prst="rect">
            <a:avLst/>
          </a:prstGeom>
          <a:solidFill>
            <a:srgbClr val="D6E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23444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20k+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0840" y="19431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cloud jobs needed by 2027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2743200" cy="1691640"/>
          </a:xfrm>
          <a:prstGeom prst="rect">
            <a:avLst/>
          </a:prstGeom>
          <a:solidFill>
            <a:srgbClr val="D6E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88920"/>
            <a:ext cx="2743200" cy="731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Digitisation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→ digital. Same process, different medium.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2743200" cy="1691640"/>
          </a:xfrm>
          <a:prstGeom prst="rect">
            <a:avLst/>
          </a:prstGeom>
          <a:solidFill>
            <a:srgbClr val="DCEE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788920"/>
            <a:ext cx="2743200" cy="731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Digitalisation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data improves processes. Systems change.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788920"/>
            <a:ext cx="2743200" cy="1691640"/>
          </a:xfrm>
          <a:prstGeom prst="rect">
            <a:avLst/>
          </a:prstGeom>
          <a:solidFill>
            <a:srgbClr val="E5F0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788920"/>
            <a:ext cx="2743200" cy="731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Transformation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fundamentally reimagined. Value changes.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844"/>
          </a:solidFill>
          <a:ln w="12700">
            <a:solidFill>
              <a:srgbClr val="0D2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Essential Characteristics of Cloud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Definition — the universal standard for all cloud certifications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572768" cy="3383280"/>
          </a:xfrm>
          <a:prstGeom prst="rect">
            <a:avLst/>
          </a:prstGeom>
          <a:solidFill>
            <a:srgbClr val="0F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1572768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7043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01752" y="16459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On-Demand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" y="2331720"/>
            <a:ext cx="14264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resources instantly — no human interaction from provider. Spin up a server in 60 seconds.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84248" y="1143000"/>
            <a:ext cx="1572768" cy="3383280"/>
          </a:xfrm>
          <a:prstGeom prst="rect">
            <a:avLst/>
          </a:prstGeom>
          <a:solidFill>
            <a:srgbClr val="0F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84248" y="1143000"/>
            <a:ext cx="1572768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117043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57400" y="16459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Network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57400" y="2331720"/>
            <a:ext cx="14264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from any device over any network. The farmer in Limpopo accesses the same cloud as Johannesburg.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9896" y="1143000"/>
            <a:ext cx="1572768" cy="3383280"/>
          </a:xfrm>
          <a:prstGeom prst="rect">
            <a:avLst/>
          </a:prstGeom>
          <a:solidFill>
            <a:srgbClr val="0F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9896" y="1143000"/>
            <a:ext cx="1572768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117043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13048" y="16459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13048" y="2331720"/>
            <a:ext cx="14264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customers share physical infrastructure. Your virtual server and a competitor's share one machine — invisibly.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95544" y="1143000"/>
            <a:ext cx="1572768" cy="3383280"/>
          </a:xfrm>
          <a:prstGeom prst="rect">
            <a:avLst/>
          </a:prstGeom>
          <a:solidFill>
            <a:srgbClr val="0F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95544" y="1143000"/>
            <a:ext cx="1572768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117043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68696" y="16459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Rapid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68696" y="2331720"/>
            <a:ext cx="14264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for Black Friday peak traffic, scale down at midnight. Pay only for the hours used.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51192" y="1143000"/>
            <a:ext cx="1572768" cy="3383280"/>
          </a:xfrm>
          <a:prstGeom prst="rect">
            <a:avLst/>
          </a:prstGeom>
          <a:solidFill>
            <a:srgbClr val="0F2A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51192" y="1143000"/>
            <a:ext cx="1572768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117043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24344" y="16459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24344" y="2331720"/>
            <a:ext cx="14264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by the second like an electricity meter. No idle capacity, no over-provisioning.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Service Models: IaaS · PaaS · SaaS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manages what — and why it matters for POPIA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611880"/>
          </a:xfrm>
          <a:prstGeom prst="rect">
            <a:avLst/>
          </a:prstGeom>
          <a:solidFill>
            <a:srgbClr val="D6E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OS, middleware, apps,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 Hardware, virtualisation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AWS EC2, Azure VMs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use: Custom banking apps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4343400"/>
            <a:ext cx="274320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361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control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responsibility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743200" cy="3611880"/>
          </a:xfrm>
          <a:prstGeom prst="rect">
            <a:avLst/>
          </a:prstGeom>
          <a:solidFill>
            <a:srgbClr val="D8F2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43000"/>
            <a:ext cx="2743200" cy="594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30428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Application code and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 Runtime, OS, hardware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AWS Elastic Beanstalk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use: Startup web apps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4343400"/>
            <a:ext cx="274320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4361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control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143000"/>
            <a:ext cx="2743200" cy="361188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143000"/>
            <a:ext cx="2743200" cy="594360"/>
          </a:xfrm>
          <a:prstGeom prst="rect">
            <a:avLst/>
          </a:prstGeom>
          <a:solidFill>
            <a:srgbClr val="C8A850"/>
          </a:solidFill>
          <a:ln w="12700">
            <a:solidFill>
              <a:srgbClr val="C8A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304288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 Your data and user access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 Everything else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Gmail, Microsoft 365, Sage SA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use: Every SA business daily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4343400"/>
            <a:ext cx="2743200" cy="384048"/>
          </a:xfrm>
          <a:prstGeom prst="rect">
            <a:avLst/>
          </a:prstGeom>
          <a:solidFill>
            <a:srgbClr val="C8A850"/>
          </a:solidFill>
          <a:ln w="12700">
            <a:solidFill>
              <a:srgbClr val="C8A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361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control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overhead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844"/>
          </a:solidFill>
          <a:ln w="12700">
            <a:solidFill>
              <a:srgbClr val="0D2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Deployment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data lives is a legal and strategic decision in South Africa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11680" cy="3520440"/>
          </a:xfrm>
          <a:prstGeom prst="rect">
            <a:avLst/>
          </a:prstGeom>
          <a:solidFill>
            <a:srgbClr val="0F20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01168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7957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" y="1627632"/>
            <a:ext cx="18653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AWS/Azure/GCP infrastructure.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cost, global scale, pay-as-you-go.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examples: Most SA startups,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eFiling portals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4224528"/>
            <a:ext cx="2011680" cy="420624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424281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af-south-1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SA North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41448" y="1143000"/>
            <a:ext cx="2011680" cy="3520440"/>
          </a:xfrm>
          <a:prstGeom prst="rect">
            <a:avLst/>
          </a:prstGeom>
          <a:solidFill>
            <a:srgbClr val="0F20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143000"/>
            <a:ext cx="2011680" cy="4389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7957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1627632"/>
            <a:ext cx="18653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dedicated to one org.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custom compliance.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examples: Standard Bank,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Nedbank core banking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41448" y="4224528"/>
            <a:ext cx="2011680" cy="420624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424281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hosted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54296" y="1143000"/>
            <a:ext cx="2011680" cy="3520440"/>
          </a:xfrm>
          <a:prstGeom prst="rect">
            <a:avLst/>
          </a:prstGeom>
          <a:solidFill>
            <a:srgbClr val="0F20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1143000"/>
            <a:ext cx="2011680" cy="43891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17957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27448" y="1627632"/>
            <a:ext cx="18653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+ public connected.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on-prem, burst to cloud.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examples: Nedbank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+ public apps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54296" y="4224528"/>
            <a:ext cx="2011680" cy="420624"/>
          </a:xfrm>
          <a:prstGeom prst="rect">
            <a:avLst/>
          </a:prstGeom>
          <a:solidFill>
            <a:srgbClr val="854F0B">
              <a:alpha val="70000"/>
            </a:srgbClr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424281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 banks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model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67144" y="1143000"/>
            <a:ext cx="2011680" cy="3520440"/>
          </a:xfrm>
          <a:prstGeom prst="rect">
            <a:avLst/>
          </a:prstGeom>
          <a:solidFill>
            <a:srgbClr val="0F20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67144" y="1143000"/>
            <a:ext cx="2011680" cy="43891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0296" y="117957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0296" y="1627632"/>
            <a:ext cx="18653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public clouds.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Best-of-breed, no vendor lock-in.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examples: MTN, Telkom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Azure combined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67144" y="4224528"/>
            <a:ext cx="2011680" cy="420624"/>
          </a:xfrm>
          <a:prstGeom prst="rect">
            <a:avLst/>
          </a:prstGeom>
          <a:solidFill>
            <a:srgbClr val="993C1D">
              <a:alpha val="70000"/>
            </a:srgbClr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424281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 enterprise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Hyperscalers — SA Presence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af-south-1 · Azure SA North/West · Google Cloud Johannesburg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611880"/>
          </a:xfrm>
          <a:prstGeom prst="rect">
            <a:avLst/>
          </a:prstGeom>
          <a:solidFill>
            <a:srgbClr val="D6E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957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af-south-1 — Cape Town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Availability Zones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April 2020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 globally.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 cloud certifications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AWS-first.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611880"/>
            <a:ext cx="2743200" cy="530352"/>
          </a:xfrm>
          <a:prstGeom prst="rect">
            <a:avLst/>
          </a:prstGeom>
          <a:solidFill>
            <a:srgbClr val="FF9900">
              <a:alpha val="8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639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S3 · RDS · Lambda · IAM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9044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 cloud jobs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743200" cy="3611880"/>
          </a:xfrm>
          <a:prstGeom prst="rect">
            <a:avLst/>
          </a:prstGeom>
          <a:solidFill>
            <a:srgbClr val="E8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7957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Azure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North — Johannesburg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West — Cape Town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in SA enterprise.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Microsoft 365 integration.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standard.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3611880"/>
            <a:ext cx="2743200" cy="530352"/>
          </a:xfrm>
          <a:prstGeom prst="rect">
            <a:avLst/>
          </a:prstGeom>
          <a:solidFill>
            <a:srgbClr val="0078D4">
              <a:alpha val="80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639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· Blob · SQL · Functions · Entra 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39044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 enterprise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143000"/>
            <a:ext cx="2743200" cy="3611880"/>
          </a:xfrm>
          <a:prstGeom prst="rect">
            <a:avLst/>
          </a:prstGeom>
          <a:solidFill>
            <a:srgbClr val="E8EE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143000"/>
            <a:ext cx="2743200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179576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169164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Johannesburg region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2023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 data &amp; AI.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world-class.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SA fintech.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3611880"/>
            <a:ext cx="2743200" cy="530352"/>
          </a:xfrm>
          <a:prstGeom prst="rect">
            <a:avLst/>
          </a:prstGeom>
          <a:solidFill>
            <a:srgbClr val="4285F4">
              <a:alpha val="80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639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· BigQuery · Vertex AI · GCS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39044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data &amp; AI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844"/>
          </a:solidFill>
          <a:ln w="12700">
            <a:solidFill>
              <a:srgbClr val="0D28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Economics: CapEx → OpEx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changes everything for SA startups and enterprises alike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3520440"/>
          </a:xfrm>
          <a:prstGeom prst="rect">
            <a:avLst/>
          </a:prstGeom>
          <a:solidFill>
            <a:srgbClr val="0F20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3931920" cy="45720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—  Traditional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R500,000+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server purchase
</a:t>
            </a:r>
            <a:pPr indent="0" marL="0">
              <a:buNone/>
            </a:pPr>
            <a:r>
              <a:rPr lang="en-US" sz="1050" b="1" dirty="0">
                <a:solidFill>
                  <a:srgbClr val="FFB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period
</a:t>
            </a:r>
            <a:pPr indent="0" marL="0">
              <a:buNone/>
            </a:pPr>
            <a:r>
              <a:rPr lang="en-US" sz="1050" b="1" dirty="0">
                <a:solidFill>
                  <a:srgbClr val="FFB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idle time on average
</a:t>
            </a:r>
            <a:pPr indent="0" marL="0">
              <a:buNone/>
            </a:pPr>
            <a:r>
              <a:rPr lang="en-US" sz="1050" b="1" dirty="0">
                <a:solidFill>
                  <a:srgbClr val="FFB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peak — pay always
</a:t>
            </a:r>
            <a:pPr indent="0" marL="0">
              <a:buNone/>
            </a:pPr>
            <a:r>
              <a:rPr lang="en-US" sz="1050" b="1" dirty="0">
                <a:solidFill>
                  <a:srgbClr val="FFB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needed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first line of code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3931920" cy="3520440"/>
          </a:xfrm>
          <a:prstGeom prst="rect">
            <a:avLst/>
          </a:prstGeom>
          <a:solidFill>
            <a:srgbClr val="0F20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43000"/>
            <a:ext cx="393192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1704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 —  Cloud Computing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R300/month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(free tier!)
</a:t>
            </a:r>
            <a:pPr indent="0" marL="0">
              <a:buNone/>
            </a:pPr>
            <a:r>
              <a:rPr lang="en-US" sz="1050" b="1" dirty="0">
                <a:solidFill>
                  <a:srgbClr val="99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second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stop, stop paying
</a:t>
            </a:r>
            <a:pPr indent="0" marL="0">
              <a:buNone/>
            </a:pPr>
            <a:r>
              <a:rPr lang="en-US" sz="1050" b="1" dirty="0">
                <a:solidFill>
                  <a:srgbClr val="99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 demand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idle capacity
</a:t>
            </a:r>
            <a:pPr indent="0" marL="0">
              <a:buNone/>
            </a:pPr>
            <a:r>
              <a:rPr lang="en-US" sz="1050" b="1" dirty="0">
                <a:solidFill>
                  <a:srgbClr val="99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tax benefit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deduct in period
</a:t>
            </a:r>
            <a:pPr indent="0" marL="0">
              <a:buNone/>
            </a:pPr>
            <a:r>
              <a:rPr lang="en-US" sz="1050" b="1" dirty="0">
                <a:solidFill>
                  <a:srgbClr val="99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immediately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revenue funds growth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2377440"/>
            <a:ext cx="640080" cy="54864"/>
          </a:xfrm>
          <a:prstGeom prst="rect">
            <a:avLst/>
          </a:prstGeom>
          <a:solidFill>
            <a:srgbClr val="C8A850"/>
          </a:solidFill>
          <a:ln w="12700">
            <a:solidFill>
              <a:srgbClr val="C8A8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Career Pathways in South Africa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R180k → R900k/year  ·  20,000+ positions needed by 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1554480" cy="3566160"/>
          </a:xfrm>
          <a:prstGeom prst="rect">
            <a:avLst/>
          </a:prstGeom>
          <a:solidFill>
            <a:srgbClr val="D6E8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1554480" cy="23774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61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9184" y="142646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Support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Technician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210312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R180–280k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487168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" y="2788920"/>
            <a:ext cx="14081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cloud support, EC2/S3 management, ticketing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1143000"/>
            <a:ext cx="1554480" cy="3566160"/>
          </a:xfrm>
          <a:prstGeom prst="rect">
            <a:avLst/>
          </a:prstGeom>
          <a:solidFill>
            <a:srgbClr val="D8F2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143000"/>
            <a:ext cx="1554480" cy="23774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61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66544" y="142646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48256" y="210312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R300–450k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48256" y="2487168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66544" y="2788920"/>
            <a:ext cx="14081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environments, IAM, monitoring, cost optimisation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30752" y="1143000"/>
            <a:ext cx="1554480" cy="356616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1143000"/>
            <a:ext cx="1554480" cy="237744"/>
          </a:xfrm>
          <a:prstGeom prst="rect">
            <a:avLst/>
          </a:prstGeom>
          <a:solidFill>
            <a:srgbClr val="C8A850"/>
          </a:solidFill>
          <a:ln w="12700">
            <a:solidFill>
              <a:srgbClr val="C8A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161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03904" y="142646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85616" y="210312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R550–900k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85616" y="2487168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03904" y="2788920"/>
            <a:ext cx="14081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cloud architectures, lead migrations, consult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68112" y="1143000"/>
            <a:ext cx="1554480" cy="3566160"/>
          </a:xfrm>
          <a:prstGeom prst="rect">
            <a:avLst/>
          </a:prstGeom>
          <a:solidFill>
            <a:srgbClr val="FCE8E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68112" y="1143000"/>
            <a:ext cx="1554480" cy="237744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1161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41264" y="142646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Security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22976" y="210312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R480–780k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22976" y="2487168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41264" y="2788920"/>
            <a:ext cx="14081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architecture, POPIA compliance, threat detection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05472" y="1143000"/>
            <a:ext cx="1554480" cy="3566160"/>
          </a:xfrm>
          <a:prstGeom prst="rect">
            <a:avLst/>
          </a:prstGeom>
          <a:solidFill>
            <a:srgbClr val="E5E3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5472" y="1143000"/>
            <a:ext cx="1554480" cy="23774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05472" y="1161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78624" y="1426464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60336" y="210312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R420–720k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60336" y="2487168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78624" y="2788920"/>
            <a:ext cx="14081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 IaC, Kubernetes, automation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50"/>
          </a:solidFill>
          <a:ln w="12700">
            <a:solidFill>
              <a:srgbClr val="C8A8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A850"/>
          </a:solidFill>
          <a:ln w="12700">
            <a:solidFill>
              <a:srgbClr val="C8A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14400"/>
            <a:ext cx="4114800" cy="4114800"/>
          </a:xfrm>
          <a:prstGeom prst="ellipse">
            <a:avLst/>
          </a:prstGeom>
          <a:solidFill>
            <a:srgbClr val="1B4F8A">
              <a:alpha val="10000"/>
            </a:srgbClr>
          </a:solidFill>
          <a:ln w="12700">
            <a:solidFill>
              <a:srgbClr val="0D1B2E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02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now understand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cloud works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 5 NIST characteristics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IaaS vs PaaS vs SaaS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16382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Public, private, hybrid, multi-cloud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112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AWS, Azure &amp; GCP — SA regions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8587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CapEx vs OpEx economics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Your cloud career pathway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2 — Linux Essentials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1  ·  Digital &amp; Cloud Foundations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Digital &amp; Cloud Foundations</dc:title>
  <dc:subject>PptxGenJS Presentation</dc:subject>
  <dc:creator>Ginashe Digital Academy</dc:creator>
  <cp:lastModifiedBy>Ginashe Digital Academy</cp:lastModifiedBy>
  <cp:revision>1</cp:revision>
  <dcterms:created xsi:type="dcterms:W3CDTF">2026-04-19T13:52:58Z</dcterms:created>
  <dcterms:modified xsi:type="dcterms:W3CDTF">2026-04-19T13:52:58Z</dcterms:modified>
</cp:coreProperties>
</file>