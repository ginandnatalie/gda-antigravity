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64008" cy="64008"/>
          </a:xfrm>
          <a:prstGeom prst="ellipse">
            <a:avLst/>
          </a:prstGeom>
          <a:solidFill>
            <a:srgbClr val="0C7B93">
              <a:alpha val="-13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" y="365760"/>
            <a:ext cx="64008" cy="64008"/>
          </a:xfrm>
          <a:prstGeom prst="ellipse">
            <a:avLst/>
          </a:prstGeom>
          <a:solidFill>
            <a:srgbClr val="0C7B93">
              <a:alpha val="-10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00784" y="365760"/>
            <a:ext cx="64008" cy="64008"/>
          </a:xfrm>
          <a:prstGeom prst="ellipse">
            <a:avLst/>
          </a:prstGeom>
          <a:solidFill>
            <a:srgbClr val="0C7B93">
              <a:alpha val="-7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22576" y="365760"/>
            <a:ext cx="64008" cy="64008"/>
          </a:xfrm>
          <a:prstGeom prst="ellipse">
            <a:avLst/>
          </a:prstGeom>
          <a:solidFill>
            <a:srgbClr val="0C7B93">
              <a:alpha val="-4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44368" y="365760"/>
            <a:ext cx="64008" cy="64008"/>
          </a:xfrm>
          <a:prstGeom prst="ellipse">
            <a:avLst/>
          </a:prstGeom>
          <a:solidFill>
            <a:srgbClr val="0C7B93">
              <a:alpha val="-1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66160" y="365760"/>
            <a:ext cx="64008" cy="64008"/>
          </a:xfrm>
          <a:prstGeom prst="ellipse">
            <a:avLst/>
          </a:prstGeom>
          <a:solidFill>
            <a:srgbClr val="0C7B93">
              <a:alpha val="2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87952" y="365760"/>
            <a:ext cx="64008" cy="64008"/>
          </a:xfrm>
          <a:prstGeom prst="ellipse">
            <a:avLst/>
          </a:prstGeom>
          <a:solidFill>
            <a:srgbClr val="0C7B93">
              <a:alpha val="5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9744" y="365760"/>
            <a:ext cx="64008" cy="64008"/>
          </a:xfrm>
          <a:prstGeom prst="ellipse">
            <a:avLst/>
          </a:prstGeom>
          <a:solidFill>
            <a:srgbClr val="0C7B93">
              <a:alpha val="8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31536" y="365760"/>
            <a:ext cx="64008" cy="64008"/>
          </a:xfrm>
          <a:prstGeom prst="ellipse">
            <a:avLst/>
          </a:prstGeom>
          <a:solidFill>
            <a:srgbClr val="0C7B93">
              <a:alpha val="5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53328" y="365760"/>
            <a:ext cx="64008" cy="64008"/>
          </a:xfrm>
          <a:prstGeom prst="ellipse">
            <a:avLst/>
          </a:prstGeom>
          <a:solidFill>
            <a:srgbClr val="0C7B93">
              <a:alpha val="2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365760"/>
            <a:ext cx="64008" cy="64008"/>
          </a:xfrm>
          <a:prstGeom prst="ellipse">
            <a:avLst/>
          </a:prstGeom>
          <a:solidFill>
            <a:srgbClr val="0C7B93">
              <a:alpha val="-1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96912" y="365760"/>
            <a:ext cx="64008" cy="64008"/>
          </a:xfrm>
          <a:prstGeom prst="ellipse">
            <a:avLst/>
          </a:prstGeom>
          <a:solidFill>
            <a:srgbClr val="0C7B93">
              <a:alpha val="-4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18704" y="365760"/>
            <a:ext cx="64008" cy="64008"/>
          </a:xfrm>
          <a:prstGeom prst="ellipse">
            <a:avLst/>
          </a:prstGeom>
          <a:solidFill>
            <a:srgbClr val="0C7B93">
              <a:alpha val="-7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0496" y="365760"/>
            <a:ext cx="64008" cy="64008"/>
          </a:xfrm>
          <a:prstGeom prst="ellipse">
            <a:avLst/>
          </a:prstGeom>
          <a:solidFill>
            <a:srgbClr val="0C7B93">
              <a:alpha val="-10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960120"/>
            <a:ext cx="64008" cy="64008"/>
          </a:xfrm>
          <a:prstGeom prst="ellipse">
            <a:avLst/>
          </a:prstGeom>
          <a:solidFill>
            <a:srgbClr val="0C7B93">
              <a:alpha val="-5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8992" y="960120"/>
            <a:ext cx="64008" cy="64008"/>
          </a:xfrm>
          <a:prstGeom prst="ellipse">
            <a:avLst/>
          </a:prstGeom>
          <a:solidFill>
            <a:srgbClr val="0C7B93">
              <a:alpha val="-2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700784" y="960120"/>
            <a:ext cx="64008" cy="64008"/>
          </a:xfrm>
          <a:prstGeom prst="ellipse">
            <a:avLst/>
          </a:prstGeom>
          <a:solidFill>
            <a:srgbClr val="0C7B93">
              <a:alpha val="1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22576" y="960120"/>
            <a:ext cx="64008" cy="64008"/>
          </a:xfrm>
          <a:prstGeom prst="ellipse">
            <a:avLst/>
          </a:prstGeom>
          <a:solidFill>
            <a:srgbClr val="0C7B93">
              <a:alpha val="4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44368" y="960120"/>
            <a:ext cx="64008" cy="64008"/>
          </a:xfrm>
          <a:prstGeom prst="ellipse">
            <a:avLst/>
          </a:prstGeom>
          <a:solidFill>
            <a:srgbClr val="0C7B93">
              <a:alpha val="7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66160" y="960120"/>
            <a:ext cx="64008" cy="64008"/>
          </a:xfrm>
          <a:prstGeom prst="ellipse">
            <a:avLst/>
          </a:prstGeom>
          <a:solidFill>
            <a:srgbClr val="0C7B93">
              <a:alpha val="10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87952" y="960120"/>
            <a:ext cx="64008" cy="64008"/>
          </a:xfrm>
          <a:prstGeom prst="ellipse">
            <a:avLst/>
          </a:prstGeom>
          <a:solidFill>
            <a:srgbClr val="0C7B93">
              <a:alpha val="13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9744" y="960120"/>
            <a:ext cx="64008" cy="64008"/>
          </a:xfrm>
          <a:prstGeom prst="ellipse">
            <a:avLst/>
          </a:prstGeom>
          <a:solidFill>
            <a:srgbClr val="0C7B93">
              <a:alpha val="16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31536" y="960120"/>
            <a:ext cx="64008" cy="64008"/>
          </a:xfrm>
          <a:prstGeom prst="ellipse">
            <a:avLst/>
          </a:prstGeom>
          <a:solidFill>
            <a:srgbClr val="0C7B93">
              <a:alpha val="13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53328" y="960120"/>
            <a:ext cx="64008" cy="64008"/>
          </a:xfrm>
          <a:prstGeom prst="ellipse">
            <a:avLst/>
          </a:prstGeom>
          <a:solidFill>
            <a:srgbClr val="0C7B93">
              <a:alpha val="10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960120"/>
            <a:ext cx="64008" cy="64008"/>
          </a:xfrm>
          <a:prstGeom prst="ellipse">
            <a:avLst/>
          </a:prstGeom>
          <a:solidFill>
            <a:srgbClr val="0C7B93">
              <a:alpha val="7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960120"/>
            <a:ext cx="64008" cy="64008"/>
          </a:xfrm>
          <a:prstGeom prst="ellipse">
            <a:avLst/>
          </a:prstGeom>
          <a:solidFill>
            <a:srgbClr val="0C7B93">
              <a:alpha val="4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18704" y="960120"/>
            <a:ext cx="64008" cy="64008"/>
          </a:xfrm>
          <a:prstGeom prst="ellipse">
            <a:avLst/>
          </a:prstGeom>
          <a:solidFill>
            <a:srgbClr val="0C7B93">
              <a:alpha val="1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40496" y="960120"/>
            <a:ext cx="64008" cy="64008"/>
          </a:xfrm>
          <a:prstGeom prst="ellipse">
            <a:avLst/>
          </a:prstGeom>
          <a:solidFill>
            <a:srgbClr val="0C7B93">
              <a:alpha val="-2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1554480"/>
            <a:ext cx="64008" cy="64008"/>
          </a:xfrm>
          <a:prstGeom prst="ellipse">
            <a:avLst/>
          </a:prstGeom>
          <a:solidFill>
            <a:srgbClr val="0C7B93">
              <a:alpha val="3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78992" y="1554480"/>
            <a:ext cx="64008" cy="64008"/>
          </a:xfrm>
          <a:prstGeom prst="ellipse">
            <a:avLst/>
          </a:prstGeom>
          <a:solidFill>
            <a:srgbClr val="0C7B93">
              <a:alpha val="6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00784" y="1554480"/>
            <a:ext cx="64008" cy="64008"/>
          </a:xfrm>
          <a:prstGeom prst="ellipse">
            <a:avLst/>
          </a:prstGeom>
          <a:solidFill>
            <a:srgbClr val="0C7B93">
              <a:alpha val="9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22576" y="1554480"/>
            <a:ext cx="64008" cy="64008"/>
          </a:xfrm>
          <a:prstGeom prst="ellipse">
            <a:avLst/>
          </a:prstGeom>
          <a:solidFill>
            <a:srgbClr val="0C7B93">
              <a:alpha val="12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44368" y="1554480"/>
            <a:ext cx="64008" cy="64008"/>
          </a:xfrm>
          <a:prstGeom prst="ellipse">
            <a:avLst/>
          </a:prstGeom>
          <a:solidFill>
            <a:srgbClr val="0C7B93">
              <a:alpha val="15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1554480"/>
            <a:ext cx="64008" cy="64008"/>
          </a:xfrm>
          <a:prstGeom prst="ellipse">
            <a:avLst/>
          </a:prstGeom>
          <a:solidFill>
            <a:srgbClr val="0C7B93">
              <a:alpha val="18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87952" y="1554480"/>
            <a:ext cx="64008" cy="64008"/>
          </a:xfrm>
          <a:prstGeom prst="ellipse">
            <a:avLst/>
          </a:prstGeom>
          <a:solidFill>
            <a:srgbClr val="0C7B93">
              <a:alpha val="21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9744" y="1554480"/>
            <a:ext cx="64008" cy="64008"/>
          </a:xfrm>
          <a:prstGeom prst="ellipse">
            <a:avLst/>
          </a:prstGeom>
          <a:solidFill>
            <a:srgbClr val="0C7B93">
              <a:alpha val="24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31536" y="1554480"/>
            <a:ext cx="64008" cy="64008"/>
          </a:xfrm>
          <a:prstGeom prst="ellipse">
            <a:avLst/>
          </a:prstGeom>
          <a:solidFill>
            <a:srgbClr val="0C7B93">
              <a:alpha val="21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53328" y="1554480"/>
            <a:ext cx="64008" cy="64008"/>
          </a:xfrm>
          <a:prstGeom prst="ellipse">
            <a:avLst/>
          </a:prstGeom>
          <a:solidFill>
            <a:srgbClr val="0C7B93">
              <a:alpha val="18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75120" y="1554480"/>
            <a:ext cx="64008" cy="64008"/>
          </a:xfrm>
          <a:prstGeom prst="ellipse">
            <a:avLst/>
          </a:prstGeom>
          <a:solidFill>
            <a:srgbClr val="0C7B93">
              <a:alpha val="15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96912" y="1554480"/>
            <a:ext cx="64008" cy="64008"/>
          </a:xfrm>
          <a:prstGeom prst="ellipse">
            <a:avLst/>
          </a:prstGeom>
          <a:solidFill>
            <a:srgbClr val="0C7B93">
              <a:alpha val="12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18704" y="1554480"/>
            <a:ext cx="64008" cy="64008"/>
          </a:xfrm>
          <a:prstGeom prst="ellipse">
            <a:avLst/>
          </a:prstGeom>
          <a:solidFill>
            <a:srgbClr val="0C7B93">
              <a:alpha val="9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40496" y="1554480"/>
            <a:ext cx="64008" cy="64008"/>
          </a:xfrm>
          <a:prstGeom prst="ellipse">
            <a:avLst/>
          </a:prstGeom>
          <a:solidFill>
            <a:srgbClr val="0C7B93">
              <a:alpha val="6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7200" y="2148840"/>
            <a:ext cx="64008" cy="64008"/>
          </a:xfrm>
          <a:prstGeom prst="ellipse">
            <a:avLst/>
          </a:prstGeom>
          <a:solidFill>
            <a:srgbClr val="0C7B93">
              <a:alpha val="11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78992" y="2148840"/>
            <a:ext cx="64008" cy="64008"/>
          </a:xfrm>
          <a:prstGeom prst="ellipse">
            <a:avLst/>
          </a:prstGeom>
          <a:solidFill>
            <a:srgbClr val="0C7B93">
              <a:alpha val="14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00784" y="2148840"/>
            <a:ext cx="64008" cy="64008"/>
          </a:xfrm>
          <a:prstGeom prst="ellipse">
            <a:avLst/>
          </a:prstGeom>
          <a:solidFill>
            <a:srgbClr val="0C7B93">
              <a:alpha val="17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322576" y="2148840"/>
            <a:ext cx="64008" cy="64008"/>
          </a:xfrm>
          <a:prstGeom prst="ellipse">
            <a:avLst/>
          </a:prstGeom>
          <a:solidFill>
            <a:srgbClr val="0C7B93">
              <a:alpha val="20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44368" y="2148840"/>
            <a:ext cx="64008" cy="64008"/>
          </a:xfrm>
          <a:prstGeom prst="ellipse">
            <a:avLst/>
          </a:prstGeom>
          <a:solidFill>
            <a:srgbClr val="0C7B93">
              <a:alpha val="23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66160" y="2148840"/>
            <a:ext cx="64008" cy="64008"/>
          </a:xfrm>
          <a:prstGeom prst="ellipse">
            <a:avLst/>
          </a:prstGeom>
          <a:solidFill>
            <a:srgbClr val="0C7B93">
              <a:alpha val="26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187952" y="2148840"/>
            <a:ext cx="64008" cy="64008"/>
          </a:xfrm>
          <a:prstGeom prst="ellipse">
            <a:avLst/>
          </a:prstGeom>
          <a:solidFill>
            <a:srgbClr val="0C7B93">
              <a:alpha val="29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09744" y="2148840"/>
            <a:ext cx="64008" cy="64008"/>
          </a:xfrm>
          <a:prstGeom prst="ellipse">
            <a:avLst/>
          </a:prstGeom>
          <a:solidFill>
            <a:srgbClr val="0C7B93">
              <a:alpha val="32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431536" y="2148840"/>
            <a:ext cx="64008" cy="64008"/>
          </a:xfrm>
          <a:prstGeom prst="ellipse">
            <a:avLst/>
          </a:prstGeom>
          <a:solidFill>
            <a:srgbClr val="0C7B93">
              <a:alpha val="29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53328" y="2148840"/>
            <a:ext cx="64008" cy="64008"/>
          </a:xfrm>
          <a:prstGeom prst="ellipse">
            <a:avLst/>
          </a:prstGeom>
          <a:solidFill>
            <a:srgbClr val="0C7B93">
              <a:alpha val="26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75120" y="2148840"/>
            <a:ext cx="64008" cy="64008"/>
          </a:xfrm>
          <a:prstGeom prst="ellipse">
            <a:avLst/>
          </a:prstGeom>
          <a:solidFill>
            <a:srgbClr val="0C7B93">
              <a:alpha val="23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96912" y="2148840"/>
            <a:ext cx="64008" cy="64008"/>
          </a:xfrm>
          <a:prstGeom prst="ellipse">
            <a:avLst/>
          </a:prstGeom>
          <a:solidFill>
            <a:srgbClr val="0C7B93">
              <a:alpha val="20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918704" y="2148840"/>
            <a:ext cx="64008" cy="64008"/>
          </a:xfrm>
          <a:prstGeom prst="ellipse">
            <a:avLst/>
          </a:prstGeom>
          <a:solidFill>
            <a:srgbClr val="0C7B93">
              <a:alpha val="17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540496" y="2148840"/>
            <a:ext cx="64008" cy="64008"/>
          </a:xfrm>
          <a:prstGeom prst="ellipse">
            <a:avLst/>
          </a:prstGeom>
          <a:solidFill>
            <a:srgbClr val="0C7B93">
              <a:alpha val="14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7200" y="2743200"/>
            <a:ext cx="64008" cy="64008"/>
          </a:xfrm>
          <a:prstGeom prst="ellipse">
            <a:avLst/>
          </a:prstGeom>
          <a:solidFill>
            <a:srgbClr val="0C7B93">
              <a:alpha val="19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78992" y="2743200"/>
            <a:ext cx="64008" cy="64008"/>
          </a:xfrm>
          <a:prstGeom prst="ellipse">
            <a:avLst/>
          </a:prstGeom>
          <a:solidFill>
            <a:srgbClr val="0C7B93">
              <a:alpha val="22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700784" y="2743200"/>
            <a:ext cx="64008" cy="64008"/>
          </a:xfrm>
          <a:prstGeom prst="ellipse">
            <a:avLst/>
          </a:prstGeom>
          <a:solidFill>
            <a:srgbClr val="0C7B93">
              <a:alpha val="25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322576" y="2743200"/>
            <a:ext cx="64008" cy="64008"/>
          </a:xfrm>
          <a:prstGeom prst="ellipse">
            <a:avLst/>
          </a:prstGeom>
          <a:solidFill>
            <a:srgbClr val="0C7B93">
              <a:alpha val="28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44368" y="2743200"/>
            <a:ext cx="64008" cy="64008"/>
          </a:xfrm>
          <a:prstGeom prst="ellipse">
            <a:avLst/>
          </a:prstGeom>
          <a:solidFill>
            <a:srgbClr val="0C7B93">
              <a:alpha val="31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566160" y="2743200"/>
            <a:ext cx="64008" cy="64008"/>
          </a:xfrm>
          <a:prstGeom prst="ellipse">
            <a:avLst/>
          </a:prstGeom>
          <a:solidFill>
            <a:srgbClr val="0C7B93">
              <a:alpha val="34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187952" y="2743200"/>
            <a:ext cx="64008" cy="64008"/>
          </a:xfrm>
          <a:prstGeom prst="ellipse">
            <a:avLst/>
          </a:prstGeom>
          <a:solidFill>
            <a:srgbClr val="0C7B93">
              <a:alpha val="37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09744" y="2743200"/>
            <a:ext cx="64008" cy="64008"/>
          </a:xfrm>
          <a:prstGeom prst="ellipse">
            <a:avLst/>
          </a:prstGeom>
          <a:solidFill>
            <a:srgbClr val="0C7B93">
              <a:alpha val="40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431536" y="2743200"/>
            <a:ext cx="64008" cy="64008"/>
          </a:xfrm>
          <a:prstGeom prst="ellipse">
            <a:avLst/>
          </a:prstGeom>
          <a:solidFill>
            <a:srgbClr val="0C7B93">
              <a:alpha val="37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53328" y="2743200"/>
            <a:ext cx="64008" cy="64008"/>
          </a:xfrm>
          <a:prstGeom prst="ellipse">
            <a:avLst/>
          </a:prstGeom>
          <a:solidFill>
            <a:srgbClr val="0C7B93">
              <a:alpha val="34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675120" y="2743200"/>
            <a:ext cx="64008" cy="64008"/>
          </a:xfrm>
          <a:prstGeom prst="ellipse">
            <a:avLst/>
          </a:prstGeom>
          <a:solidFill>
            <a:srgbClr val="0C7B93">
              <a:alpha val="31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296912" y="2743200"/>
            <a:ext cx="64008" cy="64008"/>
          </a:xfrm>
          <a:prstGeom prst="ellipse">
            <a:avLst/>
          </a:prstGeom>
          <a:solidFill>
            <a:srgbClr val="0C7B93">
              <a:alpha val="28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918704" y="2743200"/>
            <a:ext cx="64008" cy="64008"/>
          </a:xfrm>
          <a:prstGeom prst="ellipse">
            <a:avLst/>
          </a:prstGeom>
          <a:solidFill>
            <a:srgbClr val="0C7B93">
              <a:alpha val="25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540496" y="2743200"/>
            <a:ext cx="64008" cy="64008"/>
          </a:xfrm>
          <a:prstGeom prst="ellipse">
            <a:avLst/>
          </a:prstGeom>
          <a:solidFill>
            <a:srgbClr val="0C7B93">
              <a:alpha val="22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57200" y="3337560"/>
            <a:ext cx="64008" cy="64008"/>
          </a:xfrm>
          <a:prstGeom prst="ellipse">
            <a:avLst/>
          </a:prstGeom>
          <a:solidFill>
            <a:srgbClr val="0C7B93">
              <a:alpha val="11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78992" y="3337560"/>
            <a:ext cx="64008" cy="64008"/>
          </a:xfrm>
          <a:prstGeom prst="ellipse">
            <a:avLst/>
          </a:prstGeom>
          <a:solidFill>
            <a:srgbClr val="0C7B93">
              <a:alpha val="14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700784" y="3337560"/>
            <a:ext cx="64008" cy="64008"/>
          </a:xfrm>
          <a:prstGeom prst="ellipse">
            <a:avLst/>
          </a:prstGeom>
          <a:solidFill>
            <a:srgbClr val="0C7B93">
              <a:alpha val="17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322576" y="3337560"/>
            <a:ext cx="64008" cy="64008"/>
          </a:xfrm>
          <a:prstGeom prst="ellipse">
            <a:avLst/>
          </a:prstGeom>
          <a:solidFill>
            <a:srgbClr val="0C7B93">
              <a:alpha val="20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944368" y="3337560"/>
            <a:ext cx="64008" cy="64008"/>
          </a:xfrm>
          <a:prstGeom prst="ellipse">
            <a:avLst/>
          </a:prstGeom>
          <a:solidFill>
            <a:srgbClr val="0C7B93">
              <a:alpha val="23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566160" y="3337560"/>
            <a:ext cx="64008" cy="64008"/>
          </a:xfrm>
          <a:prstGeom prst="ellipse">
            <a:avLst/>
          </a:prstGeom>
          <a:solidFill>
            <a:srgbClr val="0C7B93">
              <a:alpha val="26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187952" y="3337560"/>
            <a:ext cx="64008" cy="64008"/>
          </a:xfrm>
          <a:prstGeom prst="ellipse">
            <a:avLst/>
          </a:prstGeom>
          <a:solidFill>
            <a:srgbClr val="0C7B93">
              <a:alpha val="29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09744" y="3337560"/>
            <a:ext cx="64008" cy="64008"/>
          </a:xfrm>
          <a:prstGeom prst="ellipse">
            <a:avLst/>
          </a:prstGeom>
          <a:solidFill>
            <a:srgbClr val="0C7B93">
              <a:alpha val="32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431536" y="3337560"/>
            <a:ext cx="64008" cy="64008"/>
          </a:xfrm>
          <a:prstGeom prst="ellipse">
            <a:avLst/>
          </a:prstGeom>
          <a:solidFill>
            <a:srgbClr val="0C7B93">
              <a:alpha val="29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053328" y="3337560"/>
            <a:ext cx="64008" cy="64008"/>
          </a:xfrm>
          <a:prstGeom prst="ellipse">
            <a:avLst/>
          </a:prstGeom>
          <a:solidFill>
            <a:srgbClr val="0C7B93">
              <a:alpha val="26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675120" y="3337560"/>
            <a:ext cx="64008" cy="64008"/>
          </a:xfrm>
          <a:prstGeom prst="ellipse">
            <a:avLst/>
          </a:prstGeom>
          <a:solidFill>
            <a:srgbClr val="0C7B93">
              <a:alpha val="23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296912" y="3337560"/>
            <a:ext cx="64008" cy="64008"/>
          </a:xfrm>
          <a:prstGeom prst="ellipse">
            <a:avLst/>
          </a:prstGeom>
          <a:solidFill>
            <a:srgbClr val="0C7B93">
              <a:alpha val="20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18704" y="3337560"/>
            <a:ext cx="64008" cy="64008"/>
          </a:xfrm>
          <a:prstGeom prst="ellipse">
            <a:avLst/>
          </a:prstGeom>
          <a:solidFill>
            <a:srgbClr val="0C7B93">
              <a:alpha val="17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540496" y="3337560"/>
            <a:ext cx="64008" cy="64008"/>
          </a:xfrm>
          <a:prstGeom prst="ellipse">
            <a:avLst/>
          </a:prstGeom>
          <a:solidFill>
            <a:srgbClr val="0C7B93">
              <a:alpha val="14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57200" y="3931920"/>
            <a:ext cx="64008" cy="64008"/>
          </a:xfrm>
          <a:prstGeom prst="ellipse">
            <a:avLst/>
          </a:prstGeom>
          <a:solidFill>
            <a:srgbClr val="0C7B93">
              <a:alpha val="3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78992" y="3931920"/>
            <a:ext cx="64008" cy="64008"/>
          </a:xfrm>
          <a:prstGeom prst="ellipse">
            <a:avLst/>
          </a:prstGeom>
          <a:solidFill>
            <a:srgbClr val="0C7B93">
              <a:alpha val="6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700784" y="3931920"/>
            <a:ext cx="64008" cy="64008"/>
          </a:xfrm>
          <a:prstGeom prst="ellipse">
            <a:avLst/>
          </a:prstGeom>
          <a:solidFill>
            <a:srgbClr val="0C7B93">
              <a:alpha val="9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322576" y="3931920"/>
            <a:ext cx="64008" cy="64008"/>
          </a:xfrm>
          <a:prstGeom prst="ellipse">
            <a:avLst/>
          </a:prstGeom>
          <a:solidFill>
            <a:srgbClr val="0C7B93">
              <a:alpha val="12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944368" y="3931920"/>
            <a:ext cx="64008" cy="64008"/>
          </a:xfrm>
          <a:prstGeom prst="ellipse">
            <a:avLst/>
          </a:prstGeom>
          <a:solidFill>
            <a:srgbClr val="0C7B93">
              <a:alpha val="15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566160" y="3931920"/>
            <a:ext cx="64008" cy="64008"/>
          </a:xfrm>
          <a:prstGeom prst="ellipse">
            <a:avLst/>
          </a:prstGeom>
          <a:solidFill>
            <a:srgbClr val="0C7B93">
              <a:alpha val="18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187952" y="3931920"/>
            <a:ext cx="64008" cy="64008"/>
          </a:xfrm>
          <a:prstGeom prst="ellipse">
            <a:avLst/>
          </a:prstGeom>
          <a:solidFill>
            <a:srgbClr val="0C7B93">
              <a:alpha val="21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809744" y="3931920"/>
            <a:ext cx="64008" cy="64008"/>
          </a:xfrm>
          <a:prstGeom prst="ellipse">
            <a:avLst/>
          </a:prstGeom>
          <a:solidFill>
            <a:srgbClr val="0C7B93">
              <a:alpha val="24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431536" y="3931920"/>
            <a:ext cx="64008" cy="64008"/>
          </a:xfrm>
          <a:prstGeom prst="ellipse">
            <a:avLst/>
          </a:prstGeom>
          <a:solidFill>
            <a:srgbClr val="0C7B93">
              <a:alpha val="21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053328" y="3931920"/>
            <a:ext cx="64008" cy="64008"/>
          </a:xfrm>
          <a:prstGeom prst="ellipse">
            <a:avLst/>
          </a:prstGeom>
          <a:solidFill>
            <a:srgbClr val="0C7B93">
              <a:alpha val="18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675120" y="3931920"/>
            <a:ext cx="64008" cy="64008"/>
          </a:xfrm>
          <a:prstGeom prst="ellipse">
            <a:avLst/>
          </a:prstGeom>
          <a:solidFill>
            <a:srgbClr val="0C7B93">
              <a:alpha val="15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296912" y="3931920"/>
            <a:ext cx="64008" cy="64008"/>
          </a:xfrm>
          <a:prstGeom prst="ellipse">
            <a:avLst/>
          </a:prstGeom>
          <a:solidFill>
            <a:srgbClr val="0C7B93">
              <a:alpha val="12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918704" y="3931920"/>
            <a:ext cx="64008" cy="64008"/>
          </a:xfrm>
          <a:prstGeom prst="ellipse">
            <a:avLst/>
          </a:prstGeom>
          <a:solidFill>
            <a:srgbClr val="0C7B93">
              <a:alpha val="9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540496" y="3931920"/>
            <a:ext cx="64008" cy="64008"/>
          </a:xfrm>
          <a:prstGeom prst="ellipse">
            <a:avLst/>
          </a:prstGeom>
          <a:solidFill>
            <a:srgbClr val="0C7B93">
              <a:alpha val="6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57200" y="4526280"/>
            <a:ext cx="64008" cy="64008"/>
          </a:xfrm>
          <a:prstGeom prst="ellipse">
            <a:avLst/>
          </a:prstGeom>
          <a:solidFill>
            <a:srgbClr val="0C7B93">
              <a:alpha val="-5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78992" y="4526280"/>
            <a:ext cx="64008" cy="64008"/>
          </a:xfrm>
          <a:prstGeom prst="ellipse">
            <a:avLst/>
          </a:prstGeom>
          <a:solidFill>
            <a:srgbClr val="0C7B93">
              <a:alpha val="-2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00784" y="4526280"/>
            <a:ext cx="64008" cy="64008"/>
          </a:xfrm>
          <a:prstGeom prst="ellipse">
            <a:avLst/>
          </a:prstGeom>
          <a:solidFill>
            <a:srgbClr val="0C7B93">
              <a:alpha val="1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322576" y="4526280"/>
            <a:ext cx="64008" cy="64008"/>
          </a:xfrm>
          <a:prstGeom prst="ellipse">
            <a:avLst/>
          </a:prstGeom>
          <a:solidFill>
            <a:srgbClr val="0C7B93">
              <a:alpha val="4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944368" y="4526280"/>
            <a:ext cx="64008" cy="64008"/>
          </a:xfrm>
          <a:prstGeom prst="ellipse">
            <a:avLst/>
          </a:prstGeom>
          <a:solidFill>
            <a:srgbClr val="0C7B93">
              <a:alpha val="7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566160" y="4526280"/>
            <a:ext cx="64008" cy="64008"/>
          </a:xfrm>
          <a:prstGeom prst="ellipse">
            <a:avLst/>
          </a:prstGeom>
          <a:solidFill>
            <a:srgbClr val="0C7B93">
              <a:alpha val="10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187952" y="4526280"/>
            <a:ext cx="64008" cy="64008"/>
          </a:xfrm>
          <a:prstGeom prst="ellipse">
            <a:avLst/>
          </a:prstGeom>
          <a:solidFill>
            <a:srgbClr val="0C7B93">
              <a:alpha val="13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809744" y="4526280"/>
            <a:ext cx="64008" cy="64008"/>
          </a:xfrm>
          <a:prstGeom prst="ellipse">
            <a:avLst/>
          </a:prstGeom>
          <a:solidFill>
            <a:srgbClr val="0C7B93">
              <a:alpha val="16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431536" y="4526280"/>
            <a:ext cx="64008" cy="64008"/>
          </a:xfrm>
          <a:prstGeom prst="ellipse">
            <a:avLst/>
          </a:prstGeom>
          <a:solidFill>
            <a:srgbClr val="0C7B93">
              <a:alpha val="13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053328" y="4526280"/>
            <a:ext cx="64008" cy="64008"/>
          </a:xfrm>
          <a:prstGeom prst="ellipse">
            <a:avLst/>
          </a:prstGeom>
          <a:solidFill>
            <a:srgbClr val="0C7B93">
              <a:alpha val="10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675120" y="4526280"/>
            <a:ext cx="64008" cy="64008"/>
          </a:xfrm>
          <a:prstGeom prst="ellipse">
            <a:avLst/>
          </a:prstGeom>
          <a:solidFill>
            <a:srgbClr val="0C7B93">
              <a:alpha val="7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296912" y="4526280"/>
            <a:ext cx="64008" cy="64008"/>
          </a:xfrm>
          <a:prstGeom prst="ellipse">
            <a:avLst/>
          </a:prstGeom>
          <a:solidFill>
            <a:srgbClr val="0C7B93">
              <a:alpha val="4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918704" y="4526280"/>
            <a:ext cx="64008" cy="64008"/>
          </a:xfrm>
          <a:prstGeom prst="ellipse">
            <a:avLst/>
          </a:prstGeom>
          <a:solidFill>
            <a:srgbClr val="0C7B93">
              <a:alpha val="1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540496" y="4526280"/>
            <a:ext cx="64008" cy="64008"/>
          </a:xfrm>
          <a:prstGeom prst="ellipse">
            <a:avLst/>
          </a:prstGeom>
          <a:solidFill>
            <a:srgbClr val="0C7B93">
              <a:alpha val="-2000"/>
            </a:srgbClr>
          </a:solidFill>
          <a:ln w="12700">
            <a:solidFill>
              <a:srgbClr val="0C7B93">
                <a:alpha val="1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5720" y="0"/>
            <a:ext cx="909828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74320" y="164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GINASHE DIGITAL ACADEMY  ·  Cloud Launchpad</a:t>
            </a:r>
            <a:endParaRPr lang="en-US" sz="900" dirty="0"/>
          </a:p>
        </p:txBody>
      </p:sp>
      <p:sp>
        <p:nvSpPr>
          <p:cNvPr id="117" name="Text 115"/>
          <p:cNvSpPr/>
          <p:nvPr/>
        </p:nvSpPr>
        <p:spPr>
          <a:xfrm>
            <a:off x="274320" y="5029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0A1E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1000" dirty="0"/>
          </a:p>
        </p:txBody>
      </p:sp>
      <p:sp>
        <p:nvSpPr>
          <p:cNvPr id="118" name="Text 116"/>
          <p:cNvSpPr/>
          <p:nvPr/>
        </p:nvSpPr>
        <p:spPr>
          <a:xfrm>
            <a:off x="274320" y="1783080"/>
            <a:ext cx="8503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5400" dirty="0"/>
          </a:p>
        </p:txBody>
      </p:sp>
      <p:sp>
        <p:nvSpPr>
          <p:cNvPr id="119" name="Text 117"/>
          <p:cNvSpPr/>
          <p:nvPr/>
        </p:nvSpPr>
        <p:spPr>
          <a:xfrm>
            <a:off x="274320" y="2578608"/>
            <a:ext cx="8503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5400" dirty="0"/>
          </a:p>
        </p:txBody>
      </p:sp>
      <p:sp>
        <p:nvSpPr>
          <p:cNvPr id="120" name="Text 118"/>
          <p:cNvSpPr/>
          <p:nvPr/>
        </p:nvSpPr>
        <p:spPr>
          <a:xfrm>
            <a:off x="274320" y="356616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  ·  20 hours  ·  NQF Level 4  ·  US 114076  ·  US 259604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274320" y="4023360"/>
            <a:ext cx="1143000" cy="347472"/>
          </a:xfrm>
          <a:prstGeom prst="rect">
            <a:avLst/>
          </a:prstGeom>
          <a:solidFill>
            <a:srgbClr val="00D4FF">
              <a:alpha val="45000"/>
            </a:srgbClr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74320" y="402336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App</a:t>
            </a:r>
            <a:endParaRPr lang="en-US" sz="900" dirty="0"/>
          </a:p>
        </p:txBody>
      </p:sp>
      <p:sp>
        <p:nvSpPr>
          <p:cNvPr id="123" name="Shape 121"/>
          <p:cNvSpPr/>
          <p:nvPr/>
        </p:nvSpPr>
        <p:spPr>
          <a:xfrm>
            <a:off x="1536192" y="4023360"/>
            <a:ext cx="1143000" cy="347472"/>
          </a:xfrm>
          <a:prstGeom prst="rect">
            <a:avLst/>
          </a:prstGeom>
          <a:solidFill>
            <a:srgbClr val="00CC77">
              <a:alpha val="45000"/>
            </a:srgbClr>
          </a:solidFill>
          <a:ln w="12700">
            <a:solidFill>
              <a:srgbClr val="00CC77">
                <a:alpha val="70000"/>
              </a:srgbClr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1536192" y="402336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Pres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2798064" y="4023360"/>
            <a:ext cx="1143000" cy="347472"/>
          </a:xfrm>
          <a:prstGeom prst="rect">
            <a:avLst/>
          </a:prstGeom>
          <a:solidFill>
            <a:srgbClr val="B388FF">
              <a:alpha val="45000"/>
            </a:srgbClr>
          </a:solidFill>
          <a:ln w="12700">
            <a:solidFill>
              <a:srgbClr val="B388FF">
                <a:alpha val="70000"/>
              </a:srgbClr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2798064" y="402336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Sess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4059936" y="4023360"/>
            <a:ext cx="1143000" cy="347472"/>
          </a:xfrm>
          <a:prstGeom prst="rect">
            <a:avLst/>
          </a:prstGeom>
          <a:solidFill>
            <a:srgbClr val="FFD166">
              <a:alpha val="45000"/>
            </a:srgbClr>
          </a:solidFill>
          <a:ln w="12700">
            <a:solidFill>
              <a:srgbClr val="FFD166">
                <a:alpha val="70000"/>
              </a:srgbClr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059936" y="402336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Trans</a:t>
            </a:r>
            <a:endParaRPr lang="en-US" sz="900" dirty="0"/>
          </a:p>
        </p:txBody>
      </p:sp>
      <p:sp>
        <p:nvSpPr>
          <p:cNvPr id="129" name="Shape 127"/>
          <p:cNvSpPr/>
          <p:nvPr/>
        </p:nvSpPr>
        <p:spPr>
          <a:xfrm>
            <a:off x="5321808" y="4023360"/>
            <a:ext cx="1143000" cy="347472"/>
          </a:xfrm>
          <a:prstGeom prst="rect">
            <a:avLst/>
          </a:prstGeom>
          <a:solidFill>
            <a:srgbClr val="FF6B35">
              <a:alpha val="45000"/>
            </a:srgbClr>
          </a:solidFill>
          <a:ln w="12700">
            <a:solidFill>
              <a:srgbClr val="FF6B35">
                <a:alpha val="70000"/>
              </a:srgbClr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321808" y="402336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Net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583680" y="4023360"/>
            <a:ext cx="1143000" cy="347472"/>
          </a:xfrm>
          <a:prstGeom prst="rect">
            <a:avLst/>
          </a:prstGeom>
          <a:solidFill>
            <a:srgbClr val="06FFC8">
              <a:alpha val="45000"/>
            </a:srgbClr>
          </a:solidFill>
          <a:ln w="12700">
            <a:solidFill>
              <a:srgbClr val="06FFC8">
                <a:alpha val="70000"/>
              </a:srgbClr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6583680" y="402336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Data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7845552" y="4023360"/>
            <a:ext cx="1143000" cy="347472"/>
          </a:xfrm>
          <a:prstGeom prst="rect">
            <a:avLst/>
          </a:prstGeom>
          <a:solidFill>
            <a:srgbClr val="8B9EB0">
              <a:alpha val="45000"/>
            </a:srgbClr>
          </a:solidFill>
          <a:ln w="12700">
            <a:solidFill>
              <a:srgbClr val="8B9EB0">
                <a:alpha val="70000"/>
              </a:srgbClr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7845552" y="4023360"/>
            <a:ext cx="1143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Phys</a:t>
            </a:r>
            <a:endParaRPr lang="en-US" sz="900" dirty="0"/>
          </a:p>
        </p:txBody>
      </p:sp>
      <p:sp>
        <p:nvSpPr>
          <p:cNvPr id="135" name="Shape 1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3  ·  Networking Fundamentals</a:t>
            </a:r>
            <a:endParaRPr lang="en-US" sz="900" dirty="0"/>
          </a:p>
        </p:txBody>
      </p:sp>
      <p:sp>
        <p:nvSpPr>
          <p:cNvPr id="137" name="Text 135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0D18"/>
          </a:solidFill>
          <a:ln w="12700">
            <a:solidFill>
              <a:srgbClr val="060D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OSI Model — 7 Layers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network communication passes through all 7 layers — the universal troubleshooting framework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502920" cy="457200"/>
          </a:xfrm>
          <a:prstGeom prst="rect">
            <a:avLst/>
          </a:prstGeom>
          <a:solidFill>
            <a:srgbClr val="00D4FF">
              <a:alpha val="9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1556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49808" y="1115568"/>
            <a:ext cx="1371600" cy="457200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1115568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39696" y="1115568"/>
            <a:ext cx="3840480" cy="45720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31136" y="1133856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· HTTPS · FTP · SMTP · DNS · SSH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035040" y="1133856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browser → requests page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1636776"/>
            <a:ext cx="502920" cy="457200"/>
          </a:xfrm>
          <a:prstGeom prst="rect">
            <a:avLst/>
          </a:prstGeom>
          <a:solidFill>
            <a:srgbClr val="00CC77">
              <a:alpha val="90000"/>
            </a:srgbClr>
          </a:solidFill>
          <a:ln w="12700">
            <a:solidFill>
              <a:srgbClr val="00CC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63677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49808" y="1636776"/>
            <a:ext cx="1371600" cy="457200"/>
          </a:xfrm>
          <a:prstGeom prst="rect">
            <a:avLst/>
          </a:prstGeom>
          <a:solidFill>
            <a:srgbClr val="00CC77">
              <a:alpha val="25000"/>
            </a:srgbClr>
          </a:solidFill>
          <a:ln w="12700">
            <a:solidFill>
              <a:srgbClr val="00CC77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1636776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39696" y="1636776"/>
            <a:ext cx="3840480" cy="457200"/>
          </a:xfrm>
          <a:prstGeom prst="rect">
            <a:avLst/>
          </a:prstGeom>
          <a:solidFill>
            <a:srgbClr val="0D1A2E"/>
          </a:solidFill>
          <a:ln w="12700">
            <a:solidFill>
              <a:srgbClr val="00CC77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31136" y="1655064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C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SSL/TLS · JPEG · ASCII · MPEG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35040" y="1655064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· Encoding · Compression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2157984"/>
            <a:ext cx="502920" cy="457200"/>
          </a:xfrm>
          <a:prstGeom prst="rect">
            <a:avLst/>
          </a:prstGeom>
          <a:solidFill>
            <a:srgbClr val="B388FF">
              <a:alpha val="90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15798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49808" y="2157984"/>
            <a:ext cx="1371600" cy="457200"/>
          </a:xfrm>
          <a:prstGeom prst="rect">
            <a:avLst/>
          </a:prstGeom>
          <a:solidFill>
            <a:srgbClr val="B388FF">
              <a:alpha val="25000"/>
            </a:srgbClr>
          </a:solidFill>
          <a:ln w="12700">
            <a:solidFill>
              <a:srgbClr val="B388FF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2157984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39696" y="2157984"/>
            <a:ext cx="3840480" cy="457200"/>
          </a:xfrm>
          <a:prstGeom prst="rect">
            <a:avLst/>
          </a:prstGeom>
          <a:solidFill>
            <a:srgbClr val="0D1A2E"/>
          </a:solidFill>
          <a:ln w="12700">
            <a:solidFill>
              <a:srgbClr val="B388FF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31136" y="2176272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8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NetBIOS · RPC · PPTP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35040" y="2176272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management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28600" y="2679192"/>
            <a:ext cx="502920" cy="457200"/>
          </a:xfrm>
          <a:prstGeom prst="rect">
            <a:avLst/>
          </a:prstGeom>
          <a:solidFill>
            <a:srgbClr val="FFD166">
              <a:alpha val="9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26791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749808" y="2679192"/>
            <a:ext cx="1371600" cy="457200"/>
          </a:xfrm>
          <a:prstGeom prst="rect">
            <a:avLst/>
          </a:prstGeom>
          <a:solidFill>
            <a:srgbClr val="FFD166">
              <a:alpha val="25000"/>
            </a:srgbClr>
          </a:solidFill>
          <a:ln w="12700">
            <a:solidFill>
              <a:srgbClr val="FFD166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" y="2679192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139696" y="2679192"/>
            <a:ext cx="3840480" cy="457200"/>
          </a:xfrm>
          <a:prstGeom prst="rect">
            <a:avLst/>
          </a:prstGeom>
          <a:solidFill>
            <a:srgbClr val="0D1A2E"/>
          </a:solidFill>
          <a:ln w="12700">
            <a:solidFill>
              <a:srgbClr val="FFD166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31136" y="269748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 · UDP — ports, reliability, flow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035040" y="2697480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· Port numbers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28600" y="3200400"/>
            <a:ext cx="502920" cy="457200"/>
          </a:xfrm>
          <a:prstGeom prst="rect">
            <a:avLst/>
          </a:prstGeom>
          <a:solidFill>
            <a:srgbClr val="FF6B35">
              <a:alpha val="9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32004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749808" y="3200400"/>
            <a:ext cx="1371600" cy="457200"/>
          </a:xfrm>
          <a:prstGeom prst="rect">
            <a:avLst/>
          </a:prstGeom>
          <a:solidFill>
            <a:srgbClr val="FF6B35">
              <a:alpha val="25000"/>
            </a:srgbClr>
          </a:solidFill>
          <a:ln w="12700">
            <a:solidFill>
              <a:srgbClr val="FF6B35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" y="3200400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139696" y="3200400"/>
            <a:ext cx="3840480" cy="457200"/>
          </a:xfrm>
          <a:prstGeom prst="rect">
            <a:avLst/>
          </a:prstGeom>
          <a:solidFill>
            <a:srgbClr val="0D1A2E"/>
          </a:solidFill>
          <a:ln w="12700">
            <a:solidFill>
              <a:srgbClr val="FF6B35">
                <a:alpha val="3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31136" y="321868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· ICMP · ARP · Routing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035040" y="3218688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addressing · Path selection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28600" y="3721608"/>
            <a:ext cx="502920" cy="457200"/>
          </a:xfrm>
          <a:prstGeom prst="rect">
            <a:avLst/>
          </a:prstGeom>
          <a:solidFill>
            <a:srgbClr val="06FFC8">
              <a:alpha val="90000"/>
            </a:srgbClr>
          </a:solidFill>
          <a:ln w="12700">
            <a:solidFill>
              <a:srgbClr val="06FFC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" y="37216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749808" y="3721608"/>
            <a:ext cx="1371600" cy="457200"/>
          </a:xfrm>
          <a:prstGeom prst="rect">
            <a:avLst/>
          </a:prstGeom>
          <a:solidFill>
            <a:srgbClr val="06FFC8">
              <a:alpha val="25000"/>
            </a:srgbClr>
          </a:solidFill>
          <a:ln w="12700">
            <a:solidFill>
              <a:srgbClr val="06FFC8">
                <a:alpha val="5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8096" y="3721608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Link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139696" y="3721608"/>
            <a:ext cx="3840480" cy="457200"/>
          </a:xfrm>
          <a:prstGeom prst="rect">
            <a:avLst/>
          </a:prstGeom>
          <a:solidFill>
            <a:srgbClr val="0D1A2E"/>
          </a:solidFill>
          <a:ln w="12700">
            <a:solidFill>
              <a:srgbClr val="06FFC8">
                <a:alpha val="3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31136" y="3739896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FF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Ethernet · Wi-Fi 802.11 · MAC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035040" y="3739896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addressing · Frame delivery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28600" y="4242816"/>
            <a:ext cx="502920" cy="457200"/>
          </a:xfrm>
          <a:prstGeom prst="rect">
            <a:avLst/>
          </a:prstGeom>
          <a:solidFill>
            <a:srgbClr val="8B9EB0">
              <a:alpha val="90000"/>
            </a:srgbClr>
          </a:solidFill>
          <a:ln w="12700">
            <a:solidFill>
              <a:srgbClr val="8B9EB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" y="424281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749808" y="4242816"/>
            <a:ext cx="1371600" cy="457200"/>
          </a:xfrm>
          <a:prstGeom prst="rect">
            <a:avLst/>
          </a:prstGeom>
          <a:solidFill>
            <a:srgbClr val="8B9EB0">
              <a:alpha val="25000"/>
            </a:srgbClr>
          </a:solidFill>
          <a:ln w="12700">
            <a:solidFill>
              <a:srgbClr val="8B9EB0">
                <a:alpha val="5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8096" y="4242816"/>
            <a:ext cx="1335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139696" y="4242816"/>
            <a:ext cx="3840480" cy="457200"/>
          </a:xfrm>
          <a:prstGeom prst="rect">
            <a:avLst/>
          </a:prstGeom>
          <a:solidFill>
            <a:srgbClr val="0D1A2E"/>
          </a:solidFill>
          <a:ln w="12700">
            <a:solidFill>
              <a:srgbClr val="8B9EB0">
                <a:alpha val="3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31136" y="4261104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E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Cat6 · Fibre · Wi-Fi radio · Copper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035040" y="4261104"/>
            <a:ext cx="2926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on the wire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28600" y="1033272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49808" y="10332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139696" y="103327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Protocols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035040" y="103327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/ Cloud Context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3  ·  Networking Fundamentals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0D18"/>
          </a:solidFill>
          <a:ln w="12700">
            <a:solidFill>
              <a:srgbClr val="060D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vs UDP — Layer 4 Transport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reliability vs speed trade-off that every cloud architect must understand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365760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4114800" cy="4754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3385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— Connection-Oriented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3931920" cy="868680"/>
          </a:xfrm>
          <a:prstGeom prst="rect">
            <a:avLst/>
          </a:prstGeom>
          <a:solidFill>
            <a:srgbClr val="071520"/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190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 ─────────────→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─────────── SYN-ACK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15798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 ─────────────→  [ connected 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54864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26334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packet acknowledged — lost packets retransmitted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54864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3017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delivery guaranteed — arrives in sequence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401568"/>
            <a:ext cx="54864" cy="2743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34015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but reliable — every byte counted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794760"/>
            <a:ext cx="4114800" cy="38404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8130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SSH · HTTPS · Email · Database queries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178808"/>
            <a:ext cx="4114800" cy="384048"/>
          </a:xfrm>
          <a:prstGeom prst="rect">
            <a:avLst/>
          </a:prstGeom>
          <a:solidFill>
            <a:srgbClr val="0A1525"/>
          </a:solidFill>
          <a:ln w="12700">
            <a:solidFill>
              <a:srgbClr val="6A7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1970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example: Capitec balance check uses HTTPS/TCP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1097280"/>
            <a:ext cx="4114800" cy="3657600"/>
          </a:xfrm>
          <a:prstGeom prst="rect">
            <a:avLst/>
          </a:prstGeom>
          <a:solidFill>
            <a:srgbClr val="0D1A2E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097280"/>
            <a:ext cx="4114800" cy="47548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133856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— Connectionless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1664208"/>
            <a:ext cx="3931920" cy="868680"/>
          </a:xfrm>
          <a:prstGeom prst="rect">
            <a:avLst/>
          </a:prstGeom>
          <a:solidFill>
            <a:srgbClr val="1A1000"/>
          </a:solidFill>
          <a:ln w="12700">
            <a:solidFill>
              <a:srgbClr val="FFD166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71907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────────────→ (no reply needed)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37760" y="193852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────────────→ (lost? not retried)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37760" y="215798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────────────→ (order not guaranteed)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2633472"/>
            <a:ext cx="54864" cy="274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74336" y="26334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handshake — data sent immediately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017520"/>
            <a:ext cx="54864" cy="274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74336" y="3017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acknowledgement — dropped packets stay dropped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3401568"/>
            <a:ext cx="54864" cy="274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74336" y="34015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lower latency, lower overhead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3794760"/>
            <a:ext cx="4114800" cy="384048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8130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Live video · DNS · Gaming · IoT telemetry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4178808"/>
            <a:ext cx="4114800" cy="384048"/>
          </a:xfrm>
          <a:prstGeom prst="rect">
            <a:avLst/>
          </a:prstGeom>
          <a:solidFill>
            <a:srgbClr val="0A1525"/>
          </a:solidFill>
          <a:ln w="12700">
            <a:solidFill>
              <a:srgbClr val="6A7A8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41970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example: DStv Now streaming uses UDP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3  ·  Networking Fundamentals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0D18"/>
          </a:solidFill>
          <a:ln w="12700">
            <a:solidFill>
              <a:srgbClr val="060D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 &amp; CIDR Subnetting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VPC subnet you create requires a CIDR block — this calculation is on every cloud cert exam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640080" cy="274320"/>
          </a:xfrm>
          <a:prstGeom prst="rect">
            <a:avLst/>
          </a:prstGeom>
          <a:solidFill>
            <a:srgbClr val="0A1525"/>
          </a:solidFill>
          <a:ln w="12700">
            <a:solidFill>
              <a:srgbClr val="0C7B93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078992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60120" y="1078992"/>
            <a:ext cx="1828800" cy="274320"/>
          </a:xfrm>
          <a:prstGeom prst="rect">
            <a:avLst/>
          </a:prstGeom>
          <a:solidFill>
            <a:srgbClr val="0A1525"/>
          </a:solidFill>
          <a:ln w="12700">
            <a:solidFill>
              <a:srgbClr val="0C7B93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4984" y="1078992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 Mask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1078992"/>
            <a:ext cx="1280160" cy="274320"/>
          </a:xfrm>
          <a:prstGeom prst="rect">
            <a:avLst/>
          </a:prstGeom>
          <a:solidFill>
            <a:srgbClr val="0A1525"/>
          </a:solidFill>
          <a:ln w="12700">
            <a:solidFill>
              <a:srgbClr val="0C7B93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9504" y="1078992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Hosts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60520" y="1078992"/>
            <a:ext cx="5212080" cy="274320"/>
          </a:xfrm>
          <a:prstGeom prst="rect">
            <a:avLst/>
          </a:prstGeom>
          <a:solidFill>
            <a:srgbClr val="0A1525"/>
          </a:solidFill>
          <a:ln w="12700">
            <a:solidFill>
              <a:srgbClr val="0C7B93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15384" y="1078992"/>
            <a:ext cx="5138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Cloud Use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389888"/>
            <a:ext cx="640080" cy="365760"/>
          </a:xfrm>
          <a:prstGeom prst="rect">
            <a:avLst/>
          </a:prstGeom>
          <a:solidFill>
            <a:srgbClr val="0A1A2C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1389888"/>
            <a:ext cx="1828800" cy="365760"/>
          </a:xfrm>
          <a:prstGeom prst="rect">
            <a:avLst/>
          </a:prstGeom>
          <a:solidFill>
            <a:srgbClr val="0A1A2C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4640" y="1389888"/>
            <a:ext cx="1280160" cy="365760"/>
          </a:xfrm>
          <a:prstGeom prst="rect">
            <a:avLst/>
          </a:prstGeom>
          <a:solidFill>
            <a:srgbClr val="0A1A2C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0520" y="1389888"/>
            <a:ext cx="5212080" cy="365760"/>
          </a:xfrm>
          <a:prstGeom prst="rect">
            <a:avLst/>
          </a:prstGeom>
          <a:solidFill>
            <a:srgbClr val="0A1A2C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138988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7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/8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33272" y="13898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255.0.0.0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07792" y="138988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16,777,214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51960" y="1389888"/>
            <a:ext cx="5084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10.0.0.0/8 — Class A private (RFC 1918)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1783080"/>
            <a:ext cx="640080" cy="365760"/>
          </a:xfrm>
          <a:prstGeom prst="rect">
            <a:avLst/>
          </a:prstGeom>
          <a:solidFill>
            <a:srgbClr val="0D2030"/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1783080"/>
            <a:ext cx="1828800" cy="365760"/>
          </a:xfrm>
          <a:prstGeom prst="rect">
            <a:avLst/>
          </a:prstGeom>
          <a:solidFill>
            <a:srgbClr val="0D2030"/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34640" y="1783080"/>
            <a:ext cx="1280160" cy="365760"/>
          </a:xfrm>
          <a:prstGeom prst="rect">
            <a:avLst/>
          </a:prstGeom>
          <a:solidFill>
            <a:srgbClr val="0D2030"/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60520" y="1783080"/>
            <a:ext cx="5212080" cy="365760"/>
          </a:xfrm>
          <a:prstGeom prst="rect">
            <a:avLst/>
          </a:prstGeom>
          <a:solidFill>
            <a:srgbClr val="0D2030"/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" y="1783080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/16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33272" y="17830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255.255.0.0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907792" y="1783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65,534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51960" y="1783080"/>
            <a:ext cx="5084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AWS VPC CIDR — most deployments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2176272"/>
            <a:ext cx="640080" cy="365760"/>
          </a:xfrm>
          <a:prstGeom prst="rect">
            <a:avLst/>
          </a:prstGeom>
          <a:solidFill>
            <a:srgbClr val="0D2030"/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0120" y="2176272"/>
            <a:ext cx="1828800" cy="365760"/>
          </a:xfrm>
          <a:prstGeom prst="rect">
            <a:avLst/>
          </a:prstGeom>
          <a:solidFill>
            <a:srgbClr val="0D2030"/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34640" y="2176272"/>
            <a:ext cx="1280160" cy="365760"/>
          </a:xfrm>
          <a:prstGeom prst="rect">
            <a:avLst/>
          </a:prstGeom>
          <a:solidFill>
            <a:srgbClr val="0D2030"/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60520" y="2176272"/>
            <a:ext cx="5212080" cy="365760"/>
          </a:xfrm>
          <a:prstGeom prst="rect">
            <a:avLst/>
          </a:prstGeom>
          <a:solidFill>
            <a:srgbClr val="0D2030"/>
          </a:solidFill>
          <a:ln w="12700">
            <a:solidFill>
              <a:srgbClr val="00D4FF">
                <a:alpha val="7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" y="2176272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/24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33272" y="217627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255.255.255.0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907792" y="217627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251960" y="2176272"/>
            <a:ext cx="5084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subnet per AZ — the standard design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2569464"/>
            <a:ext cx="640080" cy="365760"/>
          </a:xfrm>
          <a:prstGeom prst="rect">
            <a:avLst/>
          </a:prstGeom>
          <a:solidFill>
            <a:srgbClr val="060D18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0120" y="2569464"/>
            <a:ext cx="1828800" cy="365760"/>
          </a:xfrm>
          <a:prstGeom prst="rect">
            <a:avLst/>
          </a:prstGeom>
          <a:solidFill>
            <a:srgbClr val="060D18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34640" y="2569464"/>
            <a:ext cx="1280160" cy="365760"/>
          </a:xfrm>
          <a:prstGeom prst="rect">
            <a:avLst/>
          </a:prstGeom>
          <a:solidFill>
            <a:srgbClr val="060D18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60520" y="2569464"/>
            <a:ext cx="5212080" cy="365760"/>
          </a:xfrm>
          <a:prstGeom prst="rect">
            <a:avLst/>
          </a:prstGeom>
          <a:solidFill>
            <a:srgbClr val="060D18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" y="2569464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7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/25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033272" y="256946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255.255.255.128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907792" y="256946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251960" y="2569464"/>
            <a:ext cx="5084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 /24 in half — two equal subnets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2962656"/>
            <a:ext cx="640080" cy="365760"/>
          </a:xfrm>
          <a:prstGeom prst="rect">
            <a:avLst/>
          </a:prstGeom>
          <a:solidFill>
            <a:srgbClr val="0A1A2C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60120" y="2962656"/>
            <a:ext cx="1828800" cy="365760"/>
          </a:xfrm>
          <a:prstGeom prst="rect">
            <a:avLst/>
          </a:prstGeom>
          <a:solidFill>
            <a:srgbClr val="0A1A2C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34640" y="2962656"/>
            <a:ext cx="1280160" cy="365760"/>
          </a:xfrm>
          <a:prstGeom prst="rect">
            <a:avLst/>
          </a:prstGeom>
          <a:solidFill>
            <a:srgbClr val="0A1A2C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60520" y="2962656"/>
            <a:ext cx="5212080" cy="365760"/>
          </a:xfrm>
          <a:prstGeom prst="rect">
            <a:avLst/>
          </a:prstGeom>
          <a:solidFill>
            <a:srgbClr val="0A1A2C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9184" y="2962656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7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/26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033272" y="296265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255.255.255.192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907792" y="296265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251960" y="2962656"/>
            <a:ext cx="5084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subnets per /24 — smaller tiers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74320" y="3355848"/>
            <a:ext cx="640080" cy="365760"/>
          </a:xfrm>
          <a:prstGeom prst="rect">
            <a:avLst/>
          </a:prstGeom>
          <a:solidFill>
            <a:srgbClr val="060D18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60120" y="3355848"/>
            <a:ext cx="1828800" cy="365760"/>
          </a:xfrm>
          <a:prstGeom prst="rect">
            <a:avLst/>
          </a:prstGeom>
          <a:solidFill>
            <a:srgbClr val="060D18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834640" y="3355848"/>
            <a:ext cx="1280160" cy="365760"/>
          </a:xfrm>
          <a:prstGeom prst="rect">
            <a:avLst/>
          </a:prstGeom>
          <a:solidFill>
            <a:srgbClr val="060D18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60520" y="3355848"/>
            <a:ext cx="5212080" cy="365760"/>
          </a:xfrm>
          <a:prstGeom prst="rect">
            <a:avLst/>
          </a:prstGeom>
          <a:solidFill>
            <a:srgbClr val="060D18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9184" y="3355848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7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/27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1033272" y="335584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255.255.255.224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2907792" y="335584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251960" y="3355848"/>
            <a:ext cx="5084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or management subnet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74320" y="3749040"/>
            <a:ext cx="640080" cy="365760"/>
          </a:xfrm>
          <a:prstGeom prst="rect">
            <a:avLst/>
          </a:prstGeom>
          <a:solidFill>
            <a:srgbClr val="0A1A2C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60120" y="3749040"/>
            <a:ext cx="1828800" cy="365760"/>
          </a:xfrm>
          <a:prstGeom prst="rect">
            <a:avLst/>
          </a:prstGeom>
          <a:solidFill>
            <a:srgbClr val="0A1A2C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834640" y="3749040"/>
            <a:ext cx="1280160" cy="365760"/>
          </a:xfrm>
          <a:prstGeom prst="rect">
            <a:avLst/>
          </a:prstGeom>
          <a:solidFill>
            <a:srgbClr val="0A1A2C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160520" y="3749040"/>
            <a:ext cx="5212080" cy="365760"/>
          </a:xfrm>
          <a:prstGeom prst="rect">
            <a:avLst/>
          </a:prstGeom>
          <a:solidFill>
            <a:srgbClr val="0A1A2C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9184" y="3749040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7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/28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1033272" y="3749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255.255.255.240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2907792" y="3749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4251960" y="3749040"/>
            <a:ext cx="5084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Bastion hosts, NAT gateway subnets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274320" y="4142232"/>
            <a:ext cx="640080" cy="365760"/>
          </a:xfrm>
          <a:prstGeom prst="rect">
            <a:avLst/>
          </a:prstGeom>
          <a:solidFill>
            <a:srgbClr val="060D18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60120" y="4142232"/>
            <a:ext cx="1828800" cy="365760"/>
          </a:xfrm>
          <a:prstGeom prst="rect">
            <a:avLst/>
          </a:prstGeom>
          <a:solidFill>
            <a:srgbClr val="060D18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834640" y="4142232"/>
            <a:ext cx="1280160" cy="365760"/>
          </a:xfrm>
          <a:prstGeom prst="rect">
            <a:avLst/>
          </a:prstGeom>
          <a:solidFill>
            <a:srgbClr val="060D18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160520" y="4142232"/>
            <a:ext cx="5212080" cy="365760"/>
          </a:xfrm>
          <a:prstGeom prst="rect">
            <a:avLst/>
          </a:prstGeom>
          <a:solidFill>
            <a:srgbClr val="060D18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9184" y="4142232"/>
            <a:ext cx="566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7B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/30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1033272" y="41422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255.255.255.252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2907792" y="414223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4251960" y="4142232"/>
            <a:ext cx="5084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Point-to-point link only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74320" y="4572000"/>
            <a:ext cx="8686800" cy="310896"/>
          </a:xfrm>
          <a:prstGeom prst="rect">
            <a:avLst/>
          </a:prstGeom>
          <a:solidFill>
            <a:srgbClr val="071520"/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1480" y="458114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Formula: usable hosts = 2^(32−prefix) − 2   Example: /26 → 2^6 − 2 = 62   Network: 192.168.10.0   Broadcast: 192.168.10.63   Hosts: .1 – .62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3  ·  Networking Fundamentals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0D18"/>
          </a:solidFill>
          <a:ln w="12700">
            <a:solidFill>
              <a:srgbClr val="060D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&amp; ufw Firewall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down your server — allow only what is needed, deny everything else by default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5029200" cy="3721608"/>
          </a:xfrm>
          <a:prstGeom prst="rect">
            <a:avLst/>
          </a:prstGeom>
          <a:solidFill>
            <a:srgbClr val="070B12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78992"/>
            <a:ext cx="5029200" cy="274320"/>
          </a:xfrm>
          <a:prstGeom prst="rect">
            <a:avLst/>
          </a:prstGeom>
          <a:solidFill>
            <a:srgbClr val="1E2A35"/>
          </a:solidFill>
          <a:ln w="12700">
            <a:solidFill>
              <a:srgbClr val="1E2A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" y="1143000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" y="1143000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1143000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10642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ubuntu@ec2:~$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02336" y="1408176"/>
            <a:ext cx="4828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Enable ufw — default deny incoming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02336" y="1604772"/>
            <a:ext cx="4828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ufw enable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2336" y="1801368"/>
            <a:ext cx="4828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ufw default deny incoming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02336" y="1997964"/>
            <a:ext cx="4828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ufw default allow outgoing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02336" y="2391156"/>
            <a:ext cx="4828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D5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Allow only what is needed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02336" y="2587752"/>
            <a:ext cx="4828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ufw allow from 41.x.x.x to any port 22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02336" y="2784348"/>
            <a:ext cx="4828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ufw allow 80/tcp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2336" y="2980944"/>
            <a:ext cx="4828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ufw allow 443/tcp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02336" y="3177540"/>
            <a:ext cx="4828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ufw deny 8080/tcp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02336" y="3570732"/>
            <a:ext cx="4828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ufw status verbose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02336" y="3767328"/>
            <a:ext cx="4828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active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02336" y="3963924"/>
            <a:ext cx="4828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      Action    From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02336" y="4160520"/>
            <a:ext cx="4828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22/tcp   ALLOW IN  41.x.x.x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02336" y="4357116"/>
            <a:ext cx="4828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80/tcp   ALLOW IN  Anywhere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02336" y="4553712"/>
            <a:ext cx="4828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443/tcp  ALLOW IN  Anywhere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02336" y="4750308"/>
            <a:ext cx="48280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8080/tcp DENY IN   Anywhere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532120" y="1078992"/>
            <a:ext cx="3383280" cy="3721608"/>
          </a:xfrm>
          <a:prstGeom prst="rect">
            <a:avLst/>
          </a:prstGeom>
          <a:solidFill>
            <a:srgbClr val="0D1A2E"/>
          </a:solidFill>
          <a:ln w="12700">
            <a:solidFill>
              <a:srgbClr val="0C7B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23560" y="115214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 Chaining Pattern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23560" y="146304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Security Group best practice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760720" y="1920240"/>
            <a:ext cx="3108960" cy="640080"/>
          </a:xfrm>
          <a:prstGeom prst="rect">
            <a:avLst/>
          </a:prstGeom>
          <a:solidFill>
            <a:srgbClr val="0C7B93">
              <a:alpha val="80000"/>
            </a:srgbClr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52160" y="1956816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0.0.0.0/0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760720" y="2697480"/>
            <a:ext cx="3108960" cy="640080"/>
          </a:xfrm>
          <a:prstGeom prst="rect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52160" y="2734056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SG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80/443 from 0.0.0.0/0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22 from mgmt IP only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760720" y="3611880"/>
            <a:ext cx="3108960" cy="713232"/>
          </a:xfrm>
          <a:prstGeom prst="rect">
            <a:avLst/>
          </a:prstGeom>
          <a:solidFill>
            <a:srgbClr val="00FF88">
              <a:alpha val="30000"/>
            </a:srgbClr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0" y="3648456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SG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3306 from Web SG ID only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from 0.0.0.0/0 !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269480" y="2560320"/>
            <a:ext cx="0" cy="27432"/>
          </a:xfrm>
          <a:prstGeom prst="line">
            <a:avLst/>
          </a:prstGeom>
          <a:noFill/>
          <a:ln w="12700">
            <a:solidFill>
              <a:srgbClr val="6A7A8A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7269480" y="2560320"/>
            <a:ext cx="0" cy="850392"/>
          </a:xfrm>
          <a:prstGeom prst="line">
            <a:avLst/>
          </a:prstGeom>
          <a:noFill/>
          <a:ln w="12700">
            <a:solidFill>
              <a:srgbClr val="6A7A8A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3  ·  Networking Fundamentals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0D18"/>
          </a:solidFill>
          <a:ln w="12700">
            <a:solidFill>
              <a:srgbClr val="060D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VPC Architecture — af-south-1 Cape Town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this on paper before touching the console — the network your 2-tier app lives 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" y="1078992"/>
            <a:ext cx="8641080" cy="374904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4F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47472" y="1115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VPC  10.0.0.0/16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977640" y="1170432"/>
            <a:ext cx="1188720" cy="438912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1170432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0" y="1005840"/>
            <a:ext cx="0" cy="164592"/>
          </a:xfrm>
          <a:prstGeom prst="line">
            <a:avLst/>
          </a:prstGeom>
          <a:noFill/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6400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16916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AZ: af-south-1a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1965960"/>
            <a:ext cx="3840480" cy="1234440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0116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subnet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331720" y="20116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10.0.1.0/24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2331720"/>
            <a:ext cx="3566160" cy="347472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3317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web server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272491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Route: 0.0.0.0/0 → IGW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" y="3337560"/>
            <a:ext cx="3840480" cy="1234440"/>
          </a:xfrm>
          <a:prstGeom prst="rect">
            <a:avLst/>
          </a:prstGeom>
          <a:solidFill>
            <a:srgbClr val="FF6B35">
              <a:alpha val="1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383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subnet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331720" y="33832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10.0.11.0/24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0080" y="3703320"/>
            <a:ext cx="3566160" cy="347472"/>
          </a:xfrm>
          <a:prstGeom prst="rect">
            <a:avLst/>
          </a:prstGeom>
          <a:solidFill>
            <a:srgbClr val="FF6B35">
              <a:alpha val="20000"/>
            </a:srgbClr>
          </a:solidFill>
          <a:ln w="1270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7033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database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409651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No internet route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54880" y="16916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AZ: af-south-1b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54880" y="1965960"/>
            <a:ext cx="3840480" cy="1234440"/>
          </a:xfrm>
          <a:prstGeom prst="rect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0116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subnet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583680" y="20116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10.0.2.0/24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92040" y="2331720"/>
            <a:ext cx="3566160" cy="347472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23317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(future)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92040" y="272491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Route: 0.0.0.0/0 → IGW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754880" y="3337560"/>
            <a:ext cx="3840480" cy="1234440"/>
          </a:xfrm>
          <a:prstGeom prst="rect">
            <a:avLst/>
          </a:prstGeom>
          <a:solidFill>
            <a:srgbClr val="FF6B35">
              <a:alpha val="1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3832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subnet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583680" y="33832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10.0.12.0/24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92040" y="3703320"/>
            <a:ext cx="3566160" cy="347472"/>
          </a:xfrm>
          <a:prstGeom prst="rect">
            <a:avLst/>
          </a:prstGeom>
          <a:solidFill>
            <a:srgbClr val="FF6B35">
              <a:alpha val="20000"/>
            </a:srgbClr>
          </a:solidFill>
          <a:ln w="12700">
            <a:solidFill>
              <a:srgbClr val="FF6B35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7033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standby (Multi-AZ)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92040" y="409651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A7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No internet route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3  ·  Networking Fundamentals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0D18"/>
          </a:solidFill>
          <a:ln w="12700">
            <a:solidFill>
              <a:srgbClr val="060D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4572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Troubleshooting — OSI Bottom-Up Method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issues cause 90% of connectivity failures — diagnose in this order every time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1572768" cy="3520440"/>
          </a:xfrm>
          <a:prstGeom prst="rect">
            <a:avLst/>
          </a:prstGeom>
          <a:solidFill>
            <a:srgbClr val="0D1A2E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1572768" cy="4754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97280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9808" y="1115568"/>
            <a:ext cx="1024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SG Rule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609344"/>
            <a:ext cx="1389888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 has no inbound rule for the port.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EC2 → Security Groups → Inbound Rules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 Allow rule for the required port and source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11680" y="1078992"/>
            <a:ext cx="1572768" cy="3520440"/>
          </a:xfrm>
          <a:prstGeom prst="rect">
            <a:avLst/>
          </a:prstGeom>
          <a:solidFill>
            <a:srgbClr val="0D1A2E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0" y="1078992"/>
            <a:ext cx="1572768" cy="47548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1097280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87168" y="1115568"/>
            <a:ext cx="1024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IGW Attached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1609344"/>
            <a:ext cx="1389888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has no Internet Gateway or it is detached.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VPC console → Internet Gateways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Create IGW and attach it to your VPC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49040" y="1078992"/>
            <a:ext cx="1572768" cy="352044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49040" y="1078992"/>
            <a:ext cx="1572768" cy="4754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097280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224528" y="1115568"/>
            <a:ext cx="1024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 Wrong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0" y="1609344"/>
            <a:ext cx="1389888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subnet route table missing 0.0.0.0/0 → IGW.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Subnet → Route Table → Routes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 route 0.0.0.0/0 → your IGW ID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0" y="1078992"/>
            <a:ext cx="1572768" cy="3520440"/>
          </a:xfrm>
          <a:prstGeom prst="rect">
            <a:avLst/>
          </a:prstGeom>
          <a:solidFill>
            <a:srgbClr val="0D1A2E"/>
          </a:solidFill>
          <a:ln w="12700">
            <a:solidFill>
              <a:srgbClr val="00FF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1078992"/>
            <a:ext cx="1572768" cy="475488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1097280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961888" y="1115568"/>
            <a:ext cx="1024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IP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77840" y="1609344"/>
            <a:ext cx="1389888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launched without auto-assign public IP.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EC2 instance description → Public IPv4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Allocate Elastic IP and associate with instance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23760" y="1078992"/>
            <a:ext cx="1572768" cy="3520440"/>
          </a:xfrm>
          <a:prstGeom prst="rect">
            <a:avLst/>
          </a:prstGeom>
          <a:solidFill>
            <a:srgbClr val="0D1A2E"/>
          </a:solidFill>
          <a:ln w="12700">
            <a:solidFill>
              <a:srgbClr val="B388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23760" y="1078992"/>
            <a:ext cx="1572768" cy="475488"/>
          </a:xfrm>
          <a:prstGeom prst="rect">
            <a:avLst/>
          </a:prstGeom>
          <a:solidFill>
            <a:srgbClr val="B388FF"/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23760" y="1097280"/>
            <a:ext cx="4754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0D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699248" y="1115568"/>
            <a:ext cx="10241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0D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NACL Blocking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15200" y="1609344"/>
            <a:ext cx="1389888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ACL has an explicit DENY rule (stateless!).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Subnet → Network ACL → Inbound AND Outbound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NACL needs both inbound + outbound rules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4681728"/>
            <a:ext cx="8595360" cy="274320"/>
          </a:xfrm>
          <a:prstGeom prst="rect">
            <a:avLst/>
          </a:prstGeom>
          <a:solidFill>
            <a:srgbClr val="050D18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6908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OSI bottom-up checklist: L1 interface up? → L3 ping gateway? → L4 port open (telnet/nc)? → L7 app responding?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3  ·  Networking Fundamentals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1097280"/>
            <a:ext cx="73152" cy="73152"/>
          </a:xfrm>
          <a:prstGeom prst="ellipse">
            <a:avLst/>
          </a:prstGeom>
          <a:solidFill>
            <a:srgbClr val="00D4FF">
              <a:alpha val="50000"/>
            </a:srgbClr>
          </a:solidFill>
          <a:ln w="12700">
            <a:solidFill>
              <a:srgbClr val="060D18">
                <a:alpha val="1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48272" y="1097280"/>
            <a:ext cx="73152" cy="73152"/>
          </a:xfrm>
          <a:prstGeom prst="ellipse">
            <a:avLst/>
          </a:prstGeom>
          <a:solidFill>
            <a:srgbClr val="00D4FF">
              <a:alpha val="45000"/>
            </a:srgbClr>
          </a:solidFill>
          <a:ln w="12700">
            <a:solidFill>
              <a:srgbClr val="060D18">
                <a:alpha val="1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78624" y="1097280"/>
            <a:ext cx="73152" cy="73152"/>
          </a:xfrm>
          <a:prstGeom prst="ellipse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60D18">
                <a:alpha val="1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08976" y="1097280"/>
            <a:ext cx="73152" cy="73152"/>
          </a:xfrm>
          <a:prstGeom prst="ellipse">
            <a:avLst/>
          </a:prstGeom>
          <a:solidFill>
            <a:srgbClr val="00D4FF">
              <a:alpha val="35000"/>
            </a:srgbClr>
          </a:solidFill>
          <a:ln w="12700">
            <a:solidFill>
              <a:srgbClr val="060D18">
                <a:alpha val="1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39328" y="1097280"/>
            <a:ext cx="73152" cy="73152"/>
          </a:xfrm>
          <a:prstGeom prst="ellipse">
            <a:avLst/>
          </a:prstGeom>
          <a:solidFill>
            <a:srgbClr val="00D4FF">
              <a:alpha val="30000"/>
            </a:srgbClr>
          </a:solidFill>
          <a:ln w="12700">
            <a:solidFill>
              <a:srgbClr val="060D18">
                <a:alpha val="1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691640"/>
            <a:ext cx="73152" cy="73152"/>
          </a:xfrm>
          <a:prstGeom prst="ellipse">
            <a:avLst/>
          </a:prstGeom>
          <a:solidFill>
            <a:srgbClr val="00D4FF">
              <a:alpha val="42000"/>
            </a:srgbClr>
          </a:solidFill>
          <a:ln w="12700">
            <a:solidFill>
              <a:srgbClr val="060D18">
                <a:alpha val="1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48272" y="1691640"/>
            <a:ext cx="73152" cy="73152"/>
          </a:xfrm>
          <a:prstGeom prst="ellipse">
            <a:avLst/>
          </a:prstGeom>
          <a:solidFill>
            <a:srgbClr val="00D4FF">
              <a:alpha val="37000"/>
            </a:srgbClr>
          </a:solidFill>
          <a:ln w="12700">
            <a:solidFill>
              <a:srgbClr val="060D18">
                <a:alpha val="1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78624" y="1691640"/>
            <a:ext cx="73152" cy="73152"/>
          </a:xfrm>
          <a:prstGeom prst="ellipse">
            <a:avLst/>
          </a:prstGeom>
          <a:solidFill>
            <a:srgbClr val="00D4FF">
              <a:alpha val="32000"/>
            </a:srgbClr>
          </a:solidFill>
          <a:ln w="12700">
            <a:solidFill>
              <a:srgbClr val="060D18">
                <a:alpha val="1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08976" y="1691640"/>
            <a:ext cx="73152" cy="73152"/>
          </a:xfrm>
          <a:prstGeom prst="ellipse">
            <a:avLst/>
          </a:prstGeom>
          <a:solidFill>
            <a:srgbClr val="00D4FF">
              <a:alpha val="27000"/>
            </a:srgbClr>
          </a:solidFill>
          <a:ln w="12700">
            <a:solidFill>
              <a:srgbClr val="060D18">
                <a:alpha val="1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39328" y="1691640"/>
            <a:ext cx="73152" cy="73152"/>
          </a:xfrm>
          <a:prstGeom prst="ellipse">
            <a:avLst/>
          </a:prstGeom>
          <a:solidFill>
            <a:srgbClr val="00D4FF">
              <a:alpha val="22000"/>
            </a:srgbClr>
          </a:solidFill>
          <a:ln w="12700">
            <a:solidFill>
              <a:srgbClr val="060D18">
                <a:alpha val="1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2286000"/>
            <a:ext cx="73152" cy="73152"/>
          </a:xfrm>
          <a:prstGeom prst="ellipse">
            <a:avLst/>
          </a:prstGeom>
          <a:solidFill>
            <a:srgbClr val="00D4FF">
              <a:alpha val="34000"/>
            </a:srgbClr>
          </a:solidFill>
          <a:ln w="12700">
            <a:solidFill>
              <a:srgbClr val="060D18">
                <a:alpha val="1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48272" y="2286000"/>
            <a:ext cx="73152" cy="73152"/>
          </a:xfrm>
          <a:prstGeom prst="ellipse">
            <a:avLst/>
          </a:prstGeom>
          <a:solidFill>
            <a:srgbClr val="00D4FF">
              <a:alpha val="29000"/>
            </a:srgbClr>
          </a:solidFill>
          <a:ln w="12700">
            <a:solidFill>
              <a:srgbClr val="060D18">
                <a:alpha val="1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78624" y="2286000"/>
            <a:ext cx="73152" cy="73152"/>
          </a:xfrm>
          <a:prstGeom prst="ellipse">
            <a:avLst/>
          </a:prstGeom>
          <a:solidFill>
            <a:srgbClr val="00D4FF">
              <a:alpha val="24000"/>
            </a:srgbClr>
          </a:solidFill>
          <a:ln w="12700">
            <a:solidFill>
              <a:srgbClr val="060D18">
                <a:alpha val="1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08976" y="2286000"/>
            <a:ext cx="73152" cy="73152"/>
          </a:xfrm>
          <a:prstGeom prst="ellipse">
            <a:avLst/>
          </a:prstGeom>
          <a:solidFill>
            <a:srgbClr val="00D4FF">
              <a:alpha val="19000"/>
            </a:srgbClr>
          </a:solidFill>
          <a:ln w="12700">
            <a:solidFill>
              <a:srgbClr val="060D18">
                <a:alpha val="1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39328" y="2286000"/>
            <a:ext cx="73152" cy="73152"/>
          </a:xfrm>
          <a:prstGeom prst="ellipse">
            <a:avLst/>
          </a:prstGeom>
          <a:solidFill>
            <a:srgbClr val="00D4FF">
              <a:alpha val="14000"/>
            </a:srgbClr>
          </a:solidFill>
          <a:ln w="12700">
            <a:solidFill>
              <a:srgbClr val="060D18">
                <a:alpha val="1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2880360"/>
            <a:ext cx="73152" cy="73152"/>
          </a:xfrm>
          <a:prstGeom prst="ellipse">
            <a:avLst/>
          </a:prstGeom>
          <a:solidFill>
            <a:srgbClr val="00D4FF">
              <a:alpha val="26000"/>
            </a:srgbClr>
          </a:solidFill>
          <a:ln w="12700">
            <a:solidFill>
              <a:srgbClr val="060D18">
                <a:alpha val="1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48272" y="2880360"/>
            <a:ext cx="73152" cy="73152"/>
          </a:xfrm>
          <a:prstGeom prst="ellipse">
            <a:avLst/>
          </a:prstGeom>
          <a:solidFill>
            <a:srgbClr val="00D4FF">
              <a:alpha val="21000"/>
            </a:srgbClr>
          </a:solidFill>
          <a:ln w="12700">
            <a:solidFill>
              <a:srgbClr val="060D18">
                <a:alpha val="1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78624" y="2880360"/>
            <a:ext cx="73152" cy="73152"/>
          </a:xfrm>
          <a:prstGeom prst="ellipse">
            <a:avLst/>
          </a:prstGeom>
          <a:solidFill>
            <a:srgbClr val="00D4FF">
              <a:alpha val="16000"/>
            </a:srgbClr>
          </a:solidFill>
          <a:ln w="12700">
            <a:solidFill>
              <a:srgbClr val="060D18">
                <a:alpha val="1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08976" y="2880360"/>
            <a:ext cx="73152" cy="73152"/>
          </a:xfrm>
          <a:prstGeom prst="ellipse">
            <a:avLst/>
          </a:prstGeom>
          <a:solidFill>
            <a:srgbClr val="00D4FF">
              <a:alpha val="11000"/>
            </a:srgbClr>
          </a:solidFill>
          <a:ln w="12700">
            <a:solidFill>
              <a:srgbClr val="060D18">
                <a:alpha val="1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39328" y="2880360"/>
            <a:ext cx="73152" cy="73152"/>
          </a:xfrm>
          <a:prstGeom prst="ellipse">
            <a:avLst/>
          </a:prstGeom>
          <a:solidFill>
            <a:srgbClr val="00D4FF">
              <a:alpha val="6000"/>
            </a:srgbClr>
          </a:solidFill>
          <a:ln w="12700">
            <a:solidFill>
              <a:srgbClr val="060D18">
                <a:alpha val="1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3474720"/>
            <a:ext cx="73152" cy="73152"/>
          </a:xfrm>
          <a:prstGeom prst="ellipse">
            <a:avLst/>
          </a:prstGeom>
          <a:solidFill>
            <a:srgbClr val="00D4FF">
              <a:alpha val="18000"/>
            </a:srgbClr>
          </a:solidFill>
          <a:ln w="12700">
            <a:solidFill>
              <a:srgbClr val="060D18">
                <a:alpha val="1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48272" y="3474720"/>
            <a:ext cx="73152" cy="73152"/>
          </a:xfrm>
          <a:prstGeom prst="ellipse">
            <a:avLst/>
          </a:prstGeom>
          <a:solidFill>
            <a:srgbClr val="00D4FF">
              <a:alpha val="13000"/>
            </a:srgbClr>
          </a:solidFill>
          <a:ln w="12700">
            <a:solidFill>
              <a:srgbClr val="060D18">
                <a:alpha val="1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78624" y="3474720"/>
            <a:ext cx="73152" cy="73152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60D18">
                <a:alpha val="1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08976" y="3474720"/>
            <a:ext cx="73152" cy="73152"/>
          </a:xfrm>
          <a:prstGeom prst="ellipse">
            <a:avLst/>
          </a:prstGeom>
          <a:solidFill>
            <a:srgbClr val="00D4FF">
              <a:alpha val="3000"/>
            </a:srgbClr>
          </a:solidFill>
          <a:ln w="12700">
            <a:solidFill>
              <a:srgbClr val="060D18">
                <a:alpha val="1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39328" y="3474720"/>
            <a:ext cx="73152" cy="73152"/>
          </a:xfrm>
          <a:prstGeom prst="ellipse">
            <a:avLst/>
          </a:prstGeom>
          <a:solidFill>
            <a:srgbClr val="00D4FF">
              <a:alpha val="-2000"/>
            </a:srgbClr>
          </a:solidFill>
          <a:ln w="12700">
            <a:solidFill>
              <a:srgbClr val="060D18">
                <a:alpha val="1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4069080"/>
            <a:ext cx="73152" cy="73152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60D18">
                <a:alpha val="1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48272" y="4069080"/>
            <a:ext cx="73152" cy="73152"/>
          </a:xfrm>
          <a:prstGeom prst="ellipse">
            <a:avLst/>
          </a:prstGeom>
          <a:solidFill>
            <a:srgbClr val="00D4FF">
              <a:alpha val="5000"/>
            </a:srgbClr>
          </a:solidFill>
          <a:ln w="12700">
            <a:solidFill>
              <a:srgbClr val="060D18">
                <a:alpha val="1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78624" y="4069080"/>
            <a:ext cx="73152" cy="73152"/>
          </a:xfrm>
          <a:prstGeom prst="ellipse">
            <a:avLst/>
          </a:prstGeom>
          <a:solidFill>
            <a:srgbClr val="00D4FF">
              <a:alpha val="0"/>
            </a:srgbClr>
          </a:solidFill>
          <a:ln w="12700">
            <a:solidFill>
              <a:srgbClr val="060D18">
                <a:alpha val="1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08976" y="4069080"/>
            <a:ext cx="73152" cy="73152"/>
          </a:xfrm>
          <a:prstGeom prst="ellipse">
            <a:avLst/>
          </a:prstGeom>
          <a:solidFill>
            <a:srgbClr val="00D4FF">
              <a:alpha val="-5000"/>
            </a:srgbClr>
          </a:solidFill>
          <a:ln w="12700">
            <a:solidFill>
              <a:srgbClr val="060D18">
                <a:alpha val="1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39328" y="4069080"/>
            <a:ext cx="73152" cy="73152"/>
          </a:xfrm>
          <a:prstGeom prst="ellipse">
            <a:avLst/>
          </a:prstGeom>
          <a:solidFill>
            <a:srgbClr val="00D4FF">
              <a:alpha val="-10000"/>
            </a:srgbClr>
          </a:solidFill>
          <a:ln w="12700">
            <a:solidFill>
              <a:srgbClr val="060D18">
                <a:alpha val="1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11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57200" y="86868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a cloud</a:t>
            </a:r>
            <a:endParaRPr lang="en-US" sz="4400" dirty="0"/>
          </a:p>
        </p:txBody>
      </p:sp>
      <p:sp>
        <p:nvSpPr>
          <p:cNvPr id="36" name="Text 34"/>
          <p:cNvSpPr/>
          <p:nvPr/>
        </p:nvSpPr>
        <p:spPr>
          <a:xfrm>
            <a:off x="457200" y="1572768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from scratch</a:t>
            </a:r>
            <a:endParaRPr lang="en-US" sz="4400" dirty="0"/>
          </a:p>
        </p:txBody>
      </p:sp>
      <p:sp>
        <p:nvSpPr>
          <p:cNvPr id="37" name="Text 35"/>
          <p:cNvSpPr/>
          <p:nvPr/>
        </p:nvSpPr>
        <p:spPr>
          <a:xfrm>
            <a:off x="457200" y="246888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VPC in AWS Cape Town is real infrastructure.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7200" y="2907792"/>
            <a:ext cx="5669280" cy="292608"/>
          </a:xfrm>
          <a:prstGeom prst="rect">
            <a:avLst/>
          </a:prstGeom>
          <a:solidFill>
            <a:srgbClr val="0A1525"/>
          </a:solidFill>
          <a:ln w="12700">
            <a:solidFill>
              <a:srgbClr val="0A152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29169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41248" y="291693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645920" y="291693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 / traceroute from EC2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3236976"/>
            <a:ext cx="5669280" cy="292608"/>
          </a:xfrm>
          <a:prstGeom prst="rect">
            <a:avLst/>
          </a:prstGeom>
          <a:solidFill>
            <a:srgbClr val="0A1525"/>
          </a:solidFill>
          <a:ln w="12700">
            <a:solidFill>
              <a:srgbClr val="0A152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3246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41248" y="32461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3b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645920" y="3246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addressing and DNS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3566160"/>
            <a:ext cx="5669280" cy="292608"/>
          </a:xfrm>
          <a:prstGeom prst="rect">
            <a:avLst/>
          </a:prstGeom>
          <a:solidFill>
            <a:srgbClr val="091A0E"/>
          </a:solidFill>
          <a:ln w="12700">
            <a:solidFill>
              <a:srgbClr val="00FF88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35753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41248" y="357530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3c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645920" y="35753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firewall hardening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3895344"/>
            <a:ext cx="5669280" cy="292608"/>
          </a:xfrm>
          <a:prstGeom prst="rect">
            <a:avLst/>
          </a:prstGeom>
          <a:solidFill>
            <a:srgbClr val="091A0E"/>
          </a:solidFill>
          <a:ln w="12700">
            <a:solidFill>
              <a:srgbClr val="00FF88">
                <a:alpha val="4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39044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41248" y="390448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645920" y="39044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build — paper design → console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" y="4279392"/>
            <a:ext cx="2560320" cy="329184"/>
          </a:xfrm>
          <a:prstGeom prst="rect">
            <a:avLst/>
          </a:prstGeom>
          <a:solidFill>
            <a:srgbClr val="B388FF">
              <a:alpha val="75000"/>
            </a:srgbClr>
          </a:solidFill>
          <a:ln w="12700">
            <a:solidFill>
              <a:srgbClr val="B388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27939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Quiz: 20 questions · 70% pass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57200" y="44805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Next: Module 4 — Cloud Infrastructure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C7B93"/>
          </a:solidFill>
          <a:ln w="12700">
            <a:solidFill>
              <a:srgbClr val="0C7B9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48188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 ·  Cloud Launchpad  ·  Module 3  ·  Networking Fundamentals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68680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 — Networking Fundamentals</dc:title>
  <dc:subject>PptxGenJS Presentation</dc:subject>
  <dc:creator>Ginashe Digital Academy</dc:creator>
  <cp:lastModifiedBy>Ginashe Digital Academy</cp:lastModifiedBy>
  <cp:revision>1</cp:revision>
  <dcterms:created xsi:type="dcterms:W3CDTF">2026-04-20T12:46:53Z</dcterms:created>
  <dcterms:modified xsi:type="dcterms:W3CDTF">2026-04-20T12:46:53Z</dcterms:modified>
</cp:coreProperties>
</file>