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810"/>
        </a:solidFill>
      </p:bgPr>
    </p:bg>
    <p:spTree>
      <p:nvGrpSpPr>
        <p:cNvPr id="1" name=""/>
        <p:cNvGrpSpPr/>
        <p:nvPr/>
      </p:nvGrpSpPr>
      <p:grpSpPr>
        <a:xfrm>
          <a:off x="0" y="0"/>
          <a:ext cx="0" cy="0"/>
          <a:chOff x="0" y="0"/>
          <a:chExt cx="0" cy="0"/>
        </a:xfrm>
      </p:grpSpPr>
      <p:sp>
        <p:nvSpPr>
          <p:cNvPr id="2" name="Shape 0"/>
          <p:cNvSpPr/>
          <p:nvPr/>
        </p:nvSpPr>
        <p:spPr>
          <a:xfrm>
            <a:off x="0" y="0"/>
            <a:ext cx="1524305" cy="54864"/>
          </a:xfrm>
          <a:prstGeom prst="rect">
            <a:avLst/>
          </a:prstGeom>
          <a:solidFill>
            <a:srgbClr val="1B4F8A"/>
          </a:solidFill>
          <a:ln w="12700">
            <a:solidFill>
              <a:srgbClr val="1B4F8A"/>
            </a:solidFill>
            <a:prstDash val="solid"/>
          </a:ln>
        </p:spPr>
      </p:sp>
      <p:sp>
        <p:nvSpPr>
          <p:cNvPr id="3" name="Shape 1"/>
          <p:cNvSpPr/>
          <p:nvPr/>
        </p:nvSpPr>
        <p:spPr>
          <a:xfrm>
            <a:off x="1524305" y="0"/>
            <a:ext cx="1524305" cy="54864"/>
          </a:xfrm>
          <a:prstGeom prst="rect">
            <a:avLst/>
          </a:prstGeom>
          <a:solidFill>
            <a:srgbClr val="0F6E56"/>
          </a:solidFill>
          <a:ln w="12700">
            <a:solidFill>
              <a:srgbClr val="0F6E56"/>
            </a:solidFill>
            <a:prstDash val="solid"/>
          </a:ln>
        </p:spPr>
      </p:sp>
      <p:sp>
        <p:nvSpPr>
          <p:cNvPr id="4" name="Shape 2"/>
          <p:cNvSpPr/>
          <p:nvPr/>
        </p:nvSpPr>
        <p:spPr>
          <a:xfrm>
            <a:off x="3048610" y="0"/>
            <a:ext cx="1524305" cy="54864"/>
          </a:xfrm>
          <a:prstGeom prst="rect">
            <a:avLst/>
          </a:prstGeom>
          <a:solidFill>
            <a:srgbClr val="0C7B93"/>
          </a:solidFill>
          <a:ln w="12700">
            <a:solidFill>
              <a:srgbClr val="0C7B93"/>
            </a:solidFill>
            <a:prstDash val="solid"/>
          </a:ln>
        </p:spPr>
      </p:sp>
      <p:sp>
        <p:nvSpPr>
          <p:cNvPr id="5" name="Shape 3"/>
          <p:cNvSpPr/>
          <p:nvPr/>
        </p:nvSpPr>
        <p:spPr>
          <a:xfrm>
            <a:off x="4572914" y="0"/>
            <a:ext cx="1524305" cy="54864"/>
          </a:xfrm>
          <a:prstGeom prst="rect">
            <a:avLst/>
          </a:prstGeom>
          <a:solidFill>
            <a:srgbClr val="B85C00"/>
          </a:solidFill>
          <a:ln w="12700">
            <a:solidFill>
              <a:srgbClr val="B85C00"/>
            </a:solidFill>
            <a:prstDash val="solid"/>
          </a:ln>
        </p:spPr>
      </p:sp>
      <p:sp>
        <p:nvSpPr>
          <p:cNvPr id="6" name="Shape 4"/>
          <p:cNvSpPr/>
          <p:nvPr/>
        </p:nvSpPr>
        <p:spPr>
          <a:xfrm>
            <a:off x="6097219" y="0"/>
            <a:ext cx="1524305" cy="54864"/>
          </a:xfrm>
          <a:prstGeom prst="rect">
            <a:avLst/>
          </a:prstGeom>
          <a:solidFill>
            <a:srgbClr val="3C3489"/>
          </a:solidFill>
          <a:ln w="12700">
            <a:solidFill>
              <a:srgbClr val="3C3489"/>
            </a:solidFill>
            <a:prstDash val="solid"/>
          </a:ln>
        </p:spPr>
      </p:sp>
      <p:sp>
        <p:nvSpPr>
          <p:cNvPr id="7" name="Shape 5"/>
          <p:cNvSpPr/>
          <p:nvPr/>
        </p:nvSpPr>
        <p:spPr>
          <a:xfrm>
            <a:off x="7621524" y="0"/>
            <a:ext cx="1524305" cy="54864"/>
          </a:xfrm>
          <a:prstGeom prst="rect">
            <a:avLst/>
          </a:prstGeom>
          <a:solidFill>
            <a:srgbClr val="0F6E56"/>
          </a:solidFill>
          <a:ln w="12700">
            <a:solidFill>
              <a:srgbClr val="0F6E56"/>
            </a:solidFill>
            <a:prstDash val="solid"/>
          </a:ln>
        </p:spPr>
      </p:sp>
      <p:sp>
        <p:nvSpPr>
          <p:cNvPr id="8" name="Shape 6"/>
          <p:cNvSpPr/>
          <p:nvPr/>
        </p:nvSpPr>
        <p:spPr>
          <a:xfrm>
            <a:off x="0" y="5106924"/>
            <a:ext cx="9144000" cy="36576"/>
          </a:xfrm>
          <a:prstGeom prst="rect">
            <a:avLst/>
          </a:prstGeom>
          <a:solidFill>
            <a:srgbClr val="D4AF37"/>
          </a:solidFill>
          <a:ln w="12700">
            <a:solidFill>
              <a:srgbClr val="D4AF37"/>
            </a:solidFill>
            <a:prstDash val="solid"/>
          </a:ln>
        </p:spPr>
      </p:sp>
      <p:sp>
        <p:nvSpPr>
          <p:cNvPr id="9" name="Text 7"/>
          <p:cNvSpPr/>
          <p:nvPr/>
        </p:nvSpPr>
        <p:spPr>
          <a:xfrm>
            <a:off x="457200" y="320040"/>
            <a:ext cx="8229600" cy="292608"/>
          </a:xfrm>
          <a:prstGeom prst="rect">
            <a:avLst/>
          </a:prstGeom>
          <a:noFill/>
          <a:ln/>
        </p:spPr>
        <p:txBody>
          <a:bodyPr wrap="square" rtlCol="0" anchor="ctr"/>
          <a:lstStyle/>
          <a:p>
            <a:pPr indent="0" marL="0">
              <a:buNone/>
            </a:pPr>
            <a:r>
              <a:rPr lang="en-US" sz="1000" b="1" spc="300" kern="0" dirty="0">
                <a:solidFill>
                  <a:srgbClr val="6A7A8A"/>
                </a:solidFill>
                <a:latin typeface="Calibri" pitchFamily="34" charset="0"/>
                <a:ea typeface="Calibri" pitchFamily="34" charset="-122"/>
                <a:cs typeface="Calibri" pitchFamily="34" charset="-120"/>
              </a:rPr>
              <a:t>GINASHE DIGITAL ACADEMY</a:t>
            </a:r>
            <a:endParaRPr lang="en-US" sz="1000" dirty="0"/>
          </a:p>
        </p:txBody>
      </p:sp>
      <p:sp>
        <p:nvSpPr>
          <p:cNvPr id="10" name="Text 8"/>
          <p:cNvSpPr/>
          <p:nvPr/>
        </p:nvSpPr>
        <p:spPr>
          <a:xfrm>
            <a:off x="457200" y="640080"/>
            <a:ext cx="8229600" cy="411480"/>
          </a:xfrm>
          <a:prstGeom prst="rect">
            <a:avLst/>
          </a:prstGeom>
          <a:noFill/>
          <a:ln/>
        </p:spPr>
        <p:txBody>
          <a:bodyPr wrap="square" rtlCol="0" anchor="ctr"/>
          <a:lstStyle/>
          <a:p>
            <a:pPr indent="0" marL="0">
              <a:buNone/>
            </a:pPr>
            <a:r>
              <a:rPr lang="en-US" sz="1600" i="1" dirty="0">
                <a:solidFill>
                  <a:srgbClr val="D4AF37"/>
                </a:solidFill>
                <a:latin typeface="Georgia" pitchFamily="34" charset="0"/>
                <a:ea typeface="Georgia" pitchFamily="34" charset="-122"/>
                <a:cs typeface="Georgia" pitchFamily="34" charset="-120"/>
              </a:rPr>
              <a:t>Cloud Launchpad</a:t>
            </a:r>
            <a:endParaRPr lang="en-US" sz="1600" dirty="0"/>
          </a:p>
        </p:txBody>
      </p:sp>
      <p:sp>
        <p:nvSpPr>
          <p:cNvPr id="11" name="Text 9"/>
          <p:cNvSpPr/>
          <p:nvPr/>
        </p:nvSpPr>
        <p:spPr>
          <a:xfrm>
            <a:off x="457200" y="1115568"/>
            <a:ext cx="8229600" cy="914400"/>
          </a:xfrm>
          <a:prstGeom prst="rect">
            <a:avLst/>
          </a:prstGeom>
          <a:noFill/>
          <a:ln/>
        </p:spPr>
        <p:txBody>
          <a:bodyPr wrap="square" rtlCol="0" anchor="ctr"/>
          <a:lstStyle/>
          <a:p>
            <a:pPr indent="0" marL="0">
              <a:buNone/>
            </a:pPr>
            <a:r>
              <a:rPr lang="en-US" sz="6400" b="1" dirty="0">
                <a:solidFill>
                  <a:srgbClr val="F0F4FF"/>
                </a:solidFill>
                <a:latin typeface="Calibri" pitchFamily="34" charset="0"/>
                <a:ea typeface="Calibri" pitchFamily="34" charset="-122"/>
                <a:cs typeface="Calibri" pitchFamily="34" charset="-120"/>
              </a:rPr>
              <a:t>Revision Deck</a:t>
            </a:r>
            <a:endParaRPr lang="en-US" sz="6400" dirty="0"/>
          </a:p>
        </p:txBody>
      </p:sp>
      <p:sp>
        <p:nvSpPr>
          <p:cNvPr id="12" name="Text 10"/>
          <p:cNvSpPr/>
          <p:nvPr/>
        </p:nvSpPr>
        <p:spPr>
          <a:xfrm>
            <a:off x="457200" y="2103120"/>
            <a:ext cx="8229600" cy="320040"/>
          </a:xfrm>
          <a:prstGeom prst="rect">
            <a:avLst/>
          </a:prstGeom>
          <a:noFill/>
          <a:ln/>
        </p:spPr>
        <p:txBody>
          <a:bodyPr wrap="square" rtlCol="0" anchor="ctr"/>
          <a:lstStyle/>
          <a:p>
            <a:pPr indent="0" marL="0">
              <a:buNone/>
            </a:pPr>
            <a:r>
              <a:rPr lang="en-US" sz="1300" dirty="0">
                <a:solidFill>
                  <a:srgbClr val="6A7A8A"/>
                </a:solidFill>
                <a:latin typeface="Calibri" pitchFamily="34" charset="0"/>
                <a:ea typeface="Calibri" pitchFamily="34" charset="-122"/>
                <a:cs typeface="Calibri" pitchFamily="34" charset="-120"/>
              </a:rPr>
              <a:t>All 6 Modules  ·  Key Concepts  ·  Exam Traps  ·  Quiz Cards</a:t>
            </a:r>
            <a:endParaRPr lang="en-US" sz="1300" dirty="0"/>
          </a:p>
        </p:txBody>
      </p:sp>
      <p:sp>
        <p:nvSpPr>
          <p:cNvPr id="13" name="Shape 11"/>
          <p:cNvSpPr/>
          <p:nvPr/>
        </p:nvSpPr>
        <p:spPr>
          <a:xfrm>
            <a:off x="457200" y="2606040"/>
            <a:ext cx="1325880" cy="438912"/>
          </a:xfrm>
          <a:prstGeom prst="rect">
            <a:avLst/>
          </a:prstGeom>
          <a:solidFill>
            <a:srgbClr val="1B4F8A">
              <a:alpha val="70000"/>
            </a:srgbClr>
          </a:solidFill>
          <a:ln w="12700">
            <a:solidFill>
              <a:srgbClr val="1B4F8A">
                <a:alpha val="80000"/>
              </a:srgbClr>
            </a:solidFill>
            <a:prstDash val="solid"/>
          </a:ln>
        </p:spPr>
      </p:sp>
      <p:sp>
        <p:nvSpPr>
          <p:cNvPr id="14" name="Text 12"/>
          <p:cNvSpPr/>
          <p:nvPr/>
        </p:nvSpPr>
        <p:spPr>
          <a:xfrm>
            <a:off x="457200" y="2606040"/>
            <a:ext cx="1325880" cy="43891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M1</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Digital &amp;</a:t>
            </a:r>
            <a:endParaRPr lang="en-US" sz="800" dirty="0"/>
          </a:p>
        </p:txBody>
      </p:sp>
      <p:sp>
        <p:nvSpPr>
          <p:cNvPr id="15" name="Shape 13"/>
          <p:cNvSpPr/>
          <p:nvPr/>
        </p:nvSpPr>
        <p:spPr>
          <a:xfrm>
            <a:off x="1901952" y="2606040"/>
            <a:ext cx="1325880" cy="438912"/>
          </a:xfrm>
          <a:prstGeom prst="rect">
            <a:avLst/>
          </a:prstGeom>
          <a:solidFill>
            <a:srgbClr val="0F6E56">
              <a:alpha val="70000"/>
            </a:srgbClr>
          </a:solidFill>
          <a:ln w="12700">
            <a:solidFill>
              <a:srgbClr val="0F6E56">
                <a:alpha val="80000"/>
              </a:srgbClr>
            </a:solidFill>
            <a:prstDash val="solid"/>
          </a:ln>
        </p:spPr>
      </p:sp>
      <p:sp>
        <p:nvSpPr>
          <p:cNvPr id="16" name="Text 14"/>
          <p:cNvSpPr/>
          <p:nvPr/>
        </p:nvSpPr>
        <p:spPr>
          <a:xfrm>
            <a:off x="1901952" y="2606040"/>
            <a:ext cx="1325880" cy="43891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M2</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Linux Essentials</a:t>
            </a:r>
            <a:endParaRPr lang="en-US" sz="800" dirty="0"/>
          </a:p>
        </p:txBody>
      </p:sp>
      <p:sp>
        <p:nvSpPr>
          <p:cNvPr id="17" name="Shape 15"/>
          <p:cNvSpPr/>
          <p:nvPr/>
        </p:nvSpPr>
        <p:spPr>
          <a:xfrm>
            <a:off x="3346704" y="2606040"/>
            <a:ext cx="1325880" cy="438912"/>
          </a:xfrm>
          <a:prstGeom prst="rect">
            <a:avLst/>
          </a:prstGeom>
          <a:solidFill>
            <a:srgbClr val="0C7B93">
              <a:alpha val="70000"/>
            </a:srgbClr>
          </a:solidFill>
          <a:ln w="12700">
            <a:solidFill>
              <a:srgbClr val="0C7B93">
                <a:alpha val="80000"/>
              </a:srgbClr>
            </a:solidFill>
            <a:prstDash val="solid"/>
          </a:ln>
        </p:spPr>
      </p:sp>
      <p:sp>
        <p:nvSpPr>
          <p:cNvPr id="18" name="Text 16"/>
          <p:cNvSpPr/>
          <p:nvPr/>
        </p:nvSpPr>
        <p:spPr>
          <a:xfrm>
            <a:off x="3346704" y="2606040"/>
            <a:ext cx="1325880" cy="43891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M3</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Networking Fundamentals</a:t>
            </a:r>
            <a:endParaRPr lang="en-US" sz="800" dirty="0"/>
          </a:p>
        </p:txBody>
      </p:sp>
      <p:sp>
        <p:nvSpPr>
          <p:cNvPr id="19" name="Shape 17"/>
          <p:cNvSpPr/>
          <p:nvPr/>
        </p:nvSpPr>
        <p:spPr>
          <a:xfrm>
            <a:off x="4791456" y="2606040"/>
            <a:ext cx="1325880" cy="438912"/>
          </a:xfrm>
          <a:prstGeom prst="rect">
            <a:avLst/>
          </a:prstGeom>
          <a:solidFill>
            <a:srgbClr val="B85C00">
              <a:alpha val="70000"/>
            </a:srgbClr>
          </a:solidFill>
          <a:ln w="12700">
            <a:solidFill>
              <a:srgbClr val="B85C00">
                <a:alpha val="80000"/>
              </a:srgbClr>
            </a:solidFill>
            <a:prstDash val="solid"/>
          </a:ln>
        </p:spPr>
      </p:sp>
      <p:sp>
        <p:nvSpPr>
          <p:cNvPr id="20" name="Text 18"/>
          <p:cNvSpPr/>
          <p:nvPr/>
        </p:nvSpPr>
        <p:spPr>
          <a:xfrm>
            <a:off x="4791456" y="2606040"/>
            <a:ext cx="1325880" cy="43891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M4</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Cloud Infrastructure</a:t>
            </a:r>
            <a:endParaRPr lang="en-US" sz="800" dirty="0"/>
          </a:p>
        </p:txBody>
      </p:sp>
      <p:sp>
        <p:nvSpPr>
          <p:cNvPr id="21" name="Shape 19"/>
          <p:cNvSpPr/>
          <p:nvPr/>
        </p:nvSpPr>
        <p:spPr>
          <a:xfrm>
            <a:off x="6236208" y="2606040"/>
            <a:ext cx="1325880" cy="438912"/>
          </a:xfrm>
          <a:prstGeom prst="rect">
            <a:avLst/>
          </a:prstGeom>
          <a:solidFill>
            <a:srgbClr val="3C3489">
              <a:alpha val="70000"/>
            </a:srgbClr>
          </a:solidFill>
          <a:ln w="12700">
            <a:solidFill>
              <a:srgbClr val="3C3489">
                <a:alpha val="80000"/>
              </a:srgbClr>
            </a:solidFill>
            <a:prstDash val="solid"/>
          </a:ln>
        </p:spPr>
      </p:sp>
      <p:sp>
        <p:nvSpPr>
          <p:cNvPr id="22" name="Text 20"/>
          <p:cNvSpPr/>
          <p:nvPr/>
        </p:nvSpPr>
        <p:spPr>
          <a:xfrm>
            <a:off x="6236208" y="2606040"/>
            <a:ext cx="1325880" cy="43891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M5</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Cloud Security</a:t>
            </a:r>
            <a:endParaRPr lang="en-US" sz="800" dirty="0"/>
          </a:p>
        </p:txBody>
      </p:sp>
      <p:sp>
        <p:nvSpPr>
          <p:cNvPr id="23" name="Shape 21"/>
          <p:cNvSpPr/>
          <p:nvPr/>
        </p:nvSpPr>
        <p:spPr>
          <a:xfrm>
            <a:off x="7680960" y="2606040"/>
            <a:ext cx="1325880" cy="438912"/>
          </a:xfrm>
          <a:prstGeom prst="rect">
            <a:avLst/>
          </a:prstGeom>
          <a:solidFill>
            <a:srgbClr val="0F6E56">
              <a:alpha val="70000"/>
            </a:srgbClr>
          </a:solidFill>
          <a:ln w="12700">
            <a:solidFill>
              <a:srgbClr val="0F6E56">
                <a:alpha val="80000"/>
              </a:srgbClr>
            </a:solidFill>
            <a:prstDash val="solid"/>
          </a:ln>
        </p:spPr>
      </p:sp>
      <p:sp>
        <p:nvSpPr>
          <p:cNvPr id="24" name="Text 22"/>
          <p:cNvSpPr/>
          <p:nvPr/>
        </p:nvSpPr>
        <p:spPr>
          <a:xfrm>
            <a:off x="7680960" y="2606040"/>
            <a:ext cx="1325880" cy="43891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M6</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Capstone Project</a:t>
            </a:r>
            <a:endParaRPr lang="en-US" sz="800" dirty="0"/>
          </a:p>
        </p:txBody>
      </p:sp>
      <p:sp>
        <p:nvSpPr>
          <p:cNvPr id="25" name="Shape 23"/>
          <p:cNvSpPr/>
          <p:nvPr/>
        </p:nvSpPr>
        <p:spPr>
          <a:xfrm>
            <a:off x="457200" y="3200400"/>
            <a:ext cx="8229600" cy="274320"/>
          </a:xfrm>
          <a:prstGeom prst="rect">
            <a:avLst/>
          </a:prstGeom>
          <a:solidFill>
            <a:srgbClr val="1B4F8A">
              <a:alpha val="12000"/>
            </a:srgbClr>
          </a:solidFill>
          <a:ln w="12700">
            <a:solidFill>
              <a:srgbClr val="1B4F8A">
                <a:alpha val="30000"/>
              </a:srgbClr>
            </a:solidFill>
            <a:prstDash val="solid"/>
          </a:ln>
        </p:spPr>
      </p:sp>
      <p:sp>
        <p:nvSpPr>
          <p:cNvPr id="26" name="Shape 24"/>
          <p:cNvSpPr/>
          <p:nvPr/>
        </p:nvSpPr>
        <p:spPr>
          <a:xfrm>
            <a:off x="457200" y="3200400"/>
            <a:ext cx="54864" cy="274320"/>
          </a:xfrm>
          <a:prstGeom prst="rect">
            <a:avLst/>
          </a:prstGeom>
          <a:solidFill>
            <a:srgbClr val="1B4F8A"/>
          </a:solidFill>
          <a:ln w="12700">
            <a:solidFill>
              <a:srgbClr val="1B4F8A"/>
            </a:solidFill>
            <a:prstDash val="solid"/>
          </a:ln>
        </p:spPr>
      </p:sp>
      <p:sp>
        <p:nvSpPr>
          <p:cNvPr id="27" name="Text 25"/>
          <p:cNvSpPr/>
          <p:nvPr/>
        </p:nvSpPr>
        <p:spPr>
          <a:xfrm>
            <a:off x="640080" y="3200400"/>
            <a:ext cx="7955280" cy="274320"/>
          </a:xfrm>
          <a:prstGeom prst="rect">
            <a:avLst/>
          </a:prstGeom>
          <a:noFill/>
          <a:ln/>
        </p:spPr>
        <p:txBody>
          <a:bodyPr wrap="square" rtlCol="0" anchor="ctr"/>
          <a:lstStyle/>
          <a:p>
            <a:pPr indent="0" marL="0">
              <a:buNone/>
            </a:pPr>
            <a:r>
              <a:rPr lang="en-US" sz="1000" dirty="0">
                <a:solidFill>
                  <a:srgbClr val="F0F4FF"/>
                </a:solidFill>
                <a:latin typeface="Calibri" pitchFamily="34" charset="0"/>
                <a:ea typeface="Calibri" pitchFamily="34" charset="-122"/>
                <a:cs typeface="Calibri" pitchFamily="34" charset="-120"/>
              </a:rPr>
              <a:t>Cloud Basics &amp; NIST · Service Models · Career Paths</a:t>
            </a:r>
            <a:endParaRPr lang="en-US" sz="1000" dirty="0"/>
          </a:p>
        </p:txBody>
      </p:sp>
      <p:sp>
        <p:nvSpPr>
          <p:cNvPr id="28" name="Shape 26"/>
          <p:cNvSpPr/>
          <p:nvPr/>
        </p:nvSpPr>
        <p:spPr>
          <a:xfrm>
            <a:off x="457200" y="3502152"/>
            <a:ext cx="8229600" cy="274320"/>
          </a:xfrm>
          <a:prstGeom prst="rect">
            <a:avLst/>
          </a:prstGeom>
          <a:solidFill>
            <a:srgbClr val="0F6E56">
              <a:alpha val="12000"/>
            </a:srgbClr>
          </a:solidFill>
          <a:ln w="12700">
            <a:solidFill>
              <a:srgbClr val="0F6E56">
                <a:alpha val="30000"/>
              </a:srgbClr>
            </a:solidFill>
            <a:prstDash val="solid"/>
          </a:ln>
        </p:spPr>
      </p:sp>
      <p:sp>
        <p:nvSpPr>
          <p:cNvPr id="29" name="Shape 27"/>
          <p:cNvSpPr/>
          <p:nvPr/>
        </p:nvSpPr>
        <p:spPr>
          <a:xfrm>
            <a:off x="457200" y="3502152"/>
            <a:ext cx="54864" cy="274320"/>
          </a:xfrm>
          <a:prstGeom prst="rect">
            <a:avLst/>
          </a:prstGeom>
          <a:solidFill>
            <a:srgbClr val="0F6E56"/>
          </a:solidFill>
          <a:ln w="12700">
            <a:solidFill>
              <a:srgbClr val="0F6E56"/>
            </a:solidFill>
            <a:prstDash val="solid"/>
          </a:ln>
        </p:spPr>
      </p:sp>
      <p:sp>
        <p:nvSpPr>
          <p:cNvPr id="30" name="Text 28"/>
          <p:cNvSpPr/>
          <p:nvPr/>
        </p:nvSpPr>
        <p:spPr>
          <a:xfrm>
            <a:off x="640080" y="3502152"/>
            <a:ext cx="7955280" cy="274320"/>
          </a:xfrm>
          <a:prstGeom prst="rect">
            <a:avLst/>
          </a:prstGeom>
          <a:noFill/>
          <a:ln/>
        </p:spPr>
        <p:txBody>
          <a:bodyPr wrap="square" rtlCol="0" anchor="ctr"/>
          <a:lstStyle/>
          <a:p>
            <a:pPr indent="0" marL="0">
              <a:buNone/>
            </a:pPr>
            <a:r>
              <a:rPr lang="en-US" sz="1000" dirty="0">
                <a:solidFill>
                  <a:srgbClr val="F0F4FF"/>
                </a:solidFill>
                <a:latin typeface="Calibri" pitchFamily="34" charset="0"/>
                <a:ea typeface="Calibri" pitchFamily="34" charset="-122"/>
                <a:cs typeface="Calibri" pitchFamily="34" charset="-120"/>
              </a:rPr>
              <a:t>Linux Navigation · Permissions · Bash Scripting</a:t>
            </a:r>
            <a:endParaRPr lang="en-US" sz="1000" dirty="0"/>
          </a:p>
        </p:txBody>
      </p:sp>
      <p:sp>
        <p:nvSpPr>
          <p:cNvPr id="31" name="Shape 29"/>
          <p:cNvSpPr/>
          <p:nvPr/>
        </p:nvSpPr>
        <p:spPr>
          <a:xfrm>
            <a:off x="457200" y="3803904"/>
            <a:ext cx="8229600" cy="274320"/>
          </a:xfrm>
          <a:prstGeom prst="rect">
            <a:avLst/>
          </a:prstGeom>
          <a:solidFill>
            <a:srgbClr val="0C7B93">
              <a:alpha val="12000"/>
            </a:srgbClr>
          </a:solidFill>
          <a:ln w="12700">
            <a:solidFill>
              <a:srgbClr val="0C7B93">
                <a:alpha val="30000"/>
              </a:srgbClr>
            </a:solidFill>
            <a:prstDash val="solid"/>
          </a:ln>
        </p:spPr>
      </p:sp>
      <p:sp>
        <p:nvSpPr>
          <p:cNvPr id="32" name="Shape 30"/>
          <p:cNvSpPr/>
          <p:nvPr/>
        </p:nvSpPr>
        <p:spPr>
          <a:xfrm>
            <a:off x="457200" y="3803904"/>
            <a:ext cx="54864" cy="274320"/>
          </a:xfrm>
          <a:prstGeom prst="rect">
            <a:avLst/>
          </a:prstGeom>
          <a:solidFill>
            <a:srgbClr val="0C7B93"/>
          </a:solidFill>
          <a:ln w="12700">
            <a:solidFill>
              <a:srgbClr val="0C7B93"/>
            </a:solidFill>
            <a:prstDash val="solid"/>
          </a:ln>
        </p:spPr>
      </p:sp>
      <p:sp>
        <p:nvSpPr>
          <p:cNvPr id="33" name="Text 31"/>
          <p:cNvSpPr/>
          <p:nvPr/>
        </p:nvSpPr>
        <p:spPr>
          <a:xfrm>
            <a:off x="640080" y="3803904"/>
            <a:ext cx="7955280" cy="274320"/>
          </a:xfrm>
          <a:prstGeom prst="rect">
            <a:avLst/>
          </a:prstGeom>
          <a:noFill/>
          <a:ln/>
        </p:spPr>
        <p:txBody>
          <a:bodyPr wrap="square" rtlCol="0" anchor="ctr"/>
          <a:lstStyle/>
          <a:p>
            <a:pPr indent="0" marL="0">
              <a:buNone/>
            </a:pPr>
            <a:r>
              <a:rPr lang="en-US" sz="1000" dirty="0">
                <a:solidFill>
                  <a:srgbClr val="F0F4FF"/>
                </a:solidFill>
                <a:latin typeface="Calibri" pitchFamily="34" charset="0"/>
                <a:ea typeface="Calibri" pitchFamily="34" charset="-122"/>
                <a:cs typeface="Calibri" pitchFamily="34" charset="-120"/>
              </a:rPr>
              <a:t>OSI Model · TCP/UDP · CIDR · VPC Architecture</a:t>
            </a:r>
            <a:endParaRPr lang="en-US" sz="1000" dirty="0"/>
          </a:p>
        </p:txBody>
      </p:sp>
      <p:sp>
        <p:nvSpPr>
          <p:cNvPr id="34" name="Shape 32"/>
          <p:cNvSpPr/>
          <p:nvPr/>
        </p:nvSpPr>
        <p:spPr>
          <a:xfrm>
            <a:off x="457200" y="4105656"/>
            <a:ext cx="8229600" cy="274320"/>
          </a:xfrm>
          <a:prstGeom prst="rect">
            <a:avLst/>
          </a:prstGeom>
          <a:solidFill>
            <a:srgbClr val="B85C00">
              <a:alpha val="12000"/>
            </a:srgbClr>
          </a:solidFill>
          <a:ln w="12700">
            <a:solidFill>
              <a:srgbClr val="B85C00">
                <a:alpha val="30000"/>
              </a:srgbClr>
            </a:solidFill>
            <a:prstDash val="solid"/>
          </a:ln>
        </p:spPr>
      </p:sp>
      <p:sp>
        <p:nvSpPr>
          <p:cNvPr id="35" name="Shape 33"/>
          <p:cNvSpPr/>
          <p:nvPr/>
        </p:nvSpPr>
        <p:spPr>
          <a:xfrm>
            <a:off x="457200" y="4105656"/>
            <a:ext cx="54864" cy="274320"/>
          </a:xfrm>
          <a:prstGeom prst="rect">
            <a:avLst/>
          </a:prstGeom>
          <a:solidFill>
            <a:srgbClr val="B85C00"/>
          </a:solidFill>
          <a:ln w="12700">
            <a:solidFill>
              <a:srgbClr val="B85C00"/>
            </a:solidFill>
            <a:prstDash val="solid"/>
          </a:ln>
        </p:spPr>
      </p:sp>
      <p:sp>
        <p:nvSpPr>
          <p:cNvPr id="36" name="Text 34"/>
          <p:cNvSpPr/>
          <p:nvPr/>
        </p:nvSpPr>
        <p:spPr>
          <a:xfrm>
            <a:off x="640080" y="4105656"/>
            <a:ext cx="7955280" cy="274320"/>
          </a:xfrm>
          <a:prstGeom prst="rect">
            <a:avLst/>
          </a:prstGeom>
          <a:noFill/>
          <a:ln/>
        </p:spPr>
        <p:txBody>
          <a:bodyPr wrap="square" rtlCol="0" anchor="ctr"/>
          <a:lstStyle/>
          <a:p>
            <a:pPr indent="0" marL="0">
              <a:buNone/>
            </a:pPr>
            <a:r>
              <a:rPr lang="en-US" sz="1000" dirty="0">
                <a:solidFill>
                  <a:srgbClr val="F0F4FF"/>
                </a:solidFill>
                <a:latin typeface="Calibri" pitchFamily="34" charset="0"/>
                <a:ea typeface="Calibri" pitchFamily="34" charset="-122"/>
                <a:cs typeface="Calibri" pitchFamily="34" charset="-120"/>
              </a:rPr>
              <a:t>EC2 · S3 · RDS · IAM · Cost Estimation</a:t>
            </a:r>
            <a:endParaRPr lang="en-US" sz="1000" dirty="0"/>
          </a:p>
        </p:txBody>
      </p:sp>
      <p:sp>
        <p:nvSpPr>
          <p:cNvPr id="37" name="Shape 35"/>
          <p:cNvSpPr/>
          <p:nvPr/>
        </p:nvSpPr>
        <p:spPr>
          <a:xfrm>
            <a:off x="457200" y="4407408"/>
            <a:ext cx="8229600" cy="274320"/>
          </a:xfrm>
          <a:prstGeom prst="rect">
            <a:avLst/>
          </a:prstGeom>
          <a:solidFill>
            <a:srgbClr val="3C3489">
              <a:alpha val="12000"/>
            </a:srgbClr>
          </a:solidFill>
          <a:ln w="12700">
            <a:solidFill>
              <a:srgbClr val="3C3489">
                <a:alpha val="30000"/>
              </a:srgbClr>
            </a:solidFill>
            <a:prstDash val="solid"/>
          </a:ln>
        </p:spPr>
      </p:sp>
      <p:sp>
        <p:nvSpPr>
          <p:cNvPr id="38" name="Shape 36"/>
          <p:cNvSpPr/>
          <p:nvPr/>
        </p:nvSpPr>
        <p:spPr>
          <a:xfrm>
            <a:off x="457200" y="4407408"/>
            <a:ext cx="54864" cy="274320"/>
          </a:xfrm>
          <a:prstGeom prst="rect">
            <a:avLst/>
          </a:prstGeom>
          <a:solidFill>
            <a:srgbClr val="3C3489"/>
          </a:solidFill>
          <a:ln w="12700">
            <a:solidFill>
              <a:srgbClr val="3C3489"/>
            </a:solidFill>
            <a:prstDash val="solid"/>
          </a:ln>
        </p:spPr>
      </p:sp>
      <p:sp>
        <p:nvSpPr>
          <p:cNvPr id="39" name="Text 37"/>
          <p:cNvSpPr/>
          <p:nvPr/>
        </p:nvSpPr>
        <p:spPr>
          <a:xfrm>
            <a:off x="640080" y="4407408"/>
            <a:ext cx="7955280" cy="274320"/>
          </a:xfrm>
          <a:prstGeom prst="rect">
            <a:avLst/>
          </a:prstGeom>
          <a:noFill/>
          <a:ln/>
        </p:spPr>
        <p:txBody>
          <a:bodyPr wrap="square" rtlCol="0" anchor="ctr"/>
          <a:lstStyle/>
          <a:p>
            <a:pPr indent="0" marL="0">
              <a:buNone/>
            </a:pPr>
            <a:r>
              <a:rPr lang="en-US" sz="1000" dirty="0">
                <a:solidFill>
                  <a:srgbClr val="F0F4FF"/>
                </a:solidFill>
                <a:latin typeface="Calibri" pitchFamily="34" charset="0"/>
                <a:ea typeface="Calibri" pitchFamily="34" charset="-122"/>
                <a:cs typeface="Calibri" pitchFamily="34" charset="-120"/>
              </a:rPr>
              <a:t>Shared Responsibility · KMS · POPIA · CloudTrail · IR</a:t>
            </a:r>
            <a:endParaRPr lang="en-US" sz="1000" dirty="0"/>
          </a:p>
        </p:txBody>
      </p:sp>
      <p:sp>
        <p:nvSpPr>
          <p:cNvPr id="40" name="Shape 38"/>
          <p:cNvSpPr/>
          <p:nvPr/>
        </p:nvSpPr>
        <p:spPr>
          <a:xfrm>
            <a:off x="457200" y="4709160"/>
            <a:ext cx="8229600" cy="274320"/>
          </a:xfrm>
          <a:prstGeom prst="rect">
            <a:avLst/>
          </a:prstGeom>
          <a:solidFill>
            <a:srgbClr val="0F6E56">
              <a:alpha val="12000"/>
            </a:srgbClr>
          </a:solidFill>
          <a:ln w="12700">
            <a:solidFill>
              <a:srgbClr val="0F6E56">
                <a:alpha val="30000"/>
              </a:srgbClr>
            </a:solidFill>
            <a:prstDash val="solid"/>
          </a:ln>
        </p:spPr>
      </p:sp>
      <p:sp>
        <p:nvSpPr>
          <p:cNvPr id="41" name="Shape 39"/>
          <p:cNvSpPr/>
          <p:nvPr/>
        </p:nvSpPr>
        <p:spPr>
          <a:xfrm>
            <a:off x="457200" y="4709160"/>
            <a:ext cx="54864" cy="274320"/>
          </a:xfrm>
          <a:prstGeom prst="rect">
            <a:avLst/>
          </a:prstGeom>
          <a:solidFill>
            <a:srgbClr val="0F6E56"/>
          </a:solidFill>
          <a:ln w="12700">
            <a:solidFill>
              <a:srgbClr val="0F6E56"/>
            </a:solidFill>
            <a:prstDash val="solid"/>
          </a:ln>
        </p:spPr>
      </p:sp>
      <p:sp>
        <p:nvSpPr>
          <p:cNvPr id="42" name="Text 40"/>
          <p:cNvSpPr/>
          <p:nvPr/>
        </p:nvSpPr>
        <p:spPr>
          <a:xfrm>
            <a:off x="640080" y="4709160"/>
            <a:ext cx="7955280" cy="274320"/>
          </a:xfrm>
          <a:prstGeom prst="rect">
            <a:avLst/>
          </a:prstGeom>
          <a:noFill/>
          <a:ln/>
        </p:spPr>
        <p:txBody>
          <a:bodyPr wrap="square" rtlCol="0" anchor="ctr"/>
          <a:lstStyle/>
          <a:p>
            <a:pPr indent="0" marL="0">
              <a:buNone/>
            </a:pPr>
            <a:r>
              <a:rPr lang="en-US" sz="1000" dirty="0">
                <a:solidFill>
                  <a:srgbClr val="F0F4FF"/>
                </a:solidFill>
                <a:latin typeface="Calibri" pitchFamily="34" charset="0"/>
                <a:ea typeface="Calibri" pitchFamily="34" charset="-122"/>
                <a:cs typeface="Calibri" pitchFamily="34" charset="-120"/>
              </a:rPr>
              <a:t>Capstone Phases · Rubric · SA Scenarios · Panel Q&amp;A</a:t>
            </a:r>
            <a:endParaRPr lang="en-US" sz="1000" dirty="0"/>
          </a:p>
        </p:txBody>
      </p:sp>
      <p:sp>
        <p:nvSpPr>
          <p:cNvPr id="43" name="Text 41"/>
          <p:cNvSpPr/>
          <p:nvPr/>
        </p:nvSpPr>
        <p:spPr>
          <a:xfrm>
            <a:off x="45720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Deck  ·  All Modules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B4F8A"/>
          </a:solidFill>
          <a:ln w="12700">
            <a:solidFill>
              <a:srgbClr val="1B4F8A"/>
            </a:solidFill>
            <a:prstDash val="solid"/>
          </a:ln>
        </p:spPr>
      </p:sp>
      <p:sp>
        <p:nvSpPr>
          <p:cNvPr id="3" name="Shape 1"/>
          <p:cNvSpPr/>
          <p:nvPr/>
        </p:nvSpPr>
        <p:spPr>
          <a:xfrm>
            <a:off x="73152" y="0"/>
            <a:ext cx="9070848" cy="36576"/>
          </a:xfrm>
          <a:prstGeom prst="rect">
            <a:avLst/>
          </a:prstGeom>
          <a:solidFill>
            <a:srgbClr val="1B4F8A"/>
          </a:solidFill>
          <a:ln w="12700">
            <a:solidFill>
              <a:srgbClr val="1B4F8A"/>
            </a:solidFill>
            <a:prstDash val="solid"/>
          </a:ln>
        </p:spPr>
      </p:sp>
      <p:sp>
        <p:nvSpPr>
          <p:cNvPr id="4" name="Shape 2"/>
          <p:cNvSpPr/>
          <p:nvPr/>
        </p:nvSpPr>
        <p:spPr>
          <a:xfrm>
            <a:off x="0" y="5106924"/>
            <a:ext cx="9144000" cy="36576"/>
          </a:xfrm>
          <a:prstGeom prst="rect">
            <a:avLst/>
          </a:prstGeom>
          <a:solidFill>
            <a:srgbClr val="D4AF37"/>
          </a:solidFill>
          <a:ln w="12700">
            <a:solidFill>
              <a:srgbClr val="D4AF37"/>
            </a:solidFill>
            <a:prstDash val="solid"/>
          </a:ln>
        </p:spPr>
      </p:sp>
      <p:sp>
        <p:nvSpPr>
          <p:cNvPr id="5" name="Text 3"/>
          <p:cNvSpPr/>
          <p:nvPr/>
        </p:nvSpPr>
        <p:spPr>
          <a:xfrm>
            <a:off x="274320" y="274320"/>
            <a:ext cx="2560320" cy="2011680"/>
          </a:xfrm>
          <a:prstGeom prst="rect">
            <a:avLst/>
          </a:prstGeom>
          <a:noFill/>
          <a:ln/>
        </p:spPr>
        <p:txBody>
          <a:bodyPr wrap="square" rtlCol="0" anchor="ctr"/>
          <a:lstStyle/>
          <a:p>
            <a:pPr indent="0" marL="0">
              <a:buNone/>
            </a:pPr>
            <a:r>
              <a:rPr lang="en-US" sz="14000" b="1" dirty="0">
                <a:solidFill>
                  <a:srgbClr val="1B4F8A">
                    <a:alpha val="25000"/>
                  </a:srgbClr>
                </a:solidFill>
                <a:latin typeface="Arial Black" pitchFamily="34" charset="0"/>
                <a:ea typeface="Arial Black" pitchFamily="34" charset="-122"/>
                <a:cs typeface="Arial Black" pitchFamily="34" charset="-120"/>
              </a:rPr>
              <a:t>01</a:t>
            </a:r>
            <a:endParaRPr lang="en-US" sz="14000" dirty="0"/>
          </a:p>
        </p:txBody>
      </p:sp>
      <p:sp>
        <p:nvSpPr>
          <p:cNvPr id="6" name="Text 4"/>
          <p:cNvSpPr/>
          <p:nvPr/>
        </p:nvSpPr>
        <p:spPr>
          <a:xfrm>
            <a:off x="2926080" y="822960"/>
            <a:ext cx="5943600" cy="347472"/>
          </a:xfrm>
          <a:prstGeom prst="rect">
            <a:avLst/>
          </a:prstGeom>
          <a:noFill/>
          <a:ln/>
        </p:spPr>
        <p:txBody>
          <a:bodyPr wrap="square" rtlCol="0" anchor="ctr"/>
          <a:lstStyle/>
          <a:p>
            <a:pPr indent="0" marL="0">
              <a:buNone/>
            </a:pPr>
            <a:r>
              <a:rPr lang="en-US" sz="1200" b="1" spc="300" kern="0" dirty="0">
                <a:solidFill>
                  <a:srgbClr val="1B4F8A"/>
                </a:solidFill>
                <a:latin typeface="Calibri" pitchFamily="34" charset="0"/>
                <a:ea typeface="Calibri" pitchFamily="34" charset="-122"/>
                <a:cs typeface="Calibri" pitchFamily="34" charset="-120"/>
              </a:rPr>
              <a:t>MODULE 1</a:t>
            </a:r>
            <a:endParaRPr lang="en-US" sz="1200" dirty="0"/>
          </a:p>
        </p:txBody>
      </p:sp>
      <p:sp>
        <p:nvSpPr>
          <p:cNvPr id="7" name="Text 5"/>
          <p:cNvSpPr/>
          <p:nvPr/>
        </p:nvSpPr>
        <p:spPr>
          <a:xfrm>
            <a:off x="2926080" y="1234440"/>
            <a:ext cx="5943600" cy="640080"/>
          </a:xfrm>
          <a:prstGeom prst="rect">
            <a:avLst/>
          </a:prstGeom>
          <a:noFill/>
          <a:ln/>
        </p:spPr>
        <p:txBody>
          <a:bodyPr wrap="square" rtlCol="0" anchor="ctr"/>
          <a:lstStyle/>
          <a:p>
            <a:pPr indent="0" marL="0">
              <a:buNone/>
            </a:pPr>
            <a:r>
              <a:rPr lang="en-US" sz="3400" b="1" dirty="0">
                <a:solidFill>
                  <a:srgbClr val="F0F4FF"/>
                </a:solidFill>
                <a:latin typeface="Calibri" pitchFamily="34" charset="0"/>
                <a:ea typeface="Calibri" pitchFamily="34" charset="-122"/>
                <a:cs typeface="Calibri" pitchFamily="34" charset="-120"/>
              </a:rPr>
              <a:t>Digital &amp; Cloud Foundations</a:t>
            </a:r>
            <a:endParaRPr lang="en-US" sz="3400" dirty="0"/>
          </a:p>
        </p:txBody>
      </p:sp>
      <p:sp>
        <p:nvSpPr>
          <p:cNvPr id="8" name="Text 6"/>
          <p:cNvSpPr/>
          <p:nvPr/>
        </p:nvSpPr>
        <p:spPr>
          <a:xfrm>
            <a:off x="2926080" y="1901952"/>
            <a:ext cx="5943600" cy="438912"/>
          </a:xfrm>
          <a:prstGeom prst="rect">
            <a:avLst/>
          </a:prstGeom>
          <a:noFill/>
          <a:ln/>
        </p:spPr>
        <p:txBody>
          <a:bodyPr wrap="square" rtlCol="0" anchor="ctr"/>
          <a:lstStyle/>
          <a:p>
            <a:pPr indent="0" marL="0">
              <a:buNone/>
            </a:pPr>
            <a:r>
              <a:rPr lang="en-US" sz="1800" i="1" dirty="0">
                <a:solidFill>
                  <a:srgbClr val="1B4F8A"/>
                </a:solidFill>
                <a:latin typeface="Calibri" pitchFamily="34" charset="0"/>
                <a:ea typeface="Calibri" pitchFamily="34" charset="-122"/>
                <a:cs typeface="Calibri" pitchFamily="34" charset="-120"/>
              </a:rPr>
              <a:t>Key concepts · NIST · Service models · Career paths</a:t>
            </a:r>
            <a:endParaRPr lang="en-US" sz="1800" dirty="0"/>
          </a:p>
        </p:txBody>
      </p:sp>
      <p:sp>
        <p:nvSpPr>
          <p:cNvPr id="9" name="Text 7"/>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Deck</a:t>
            </a:r>
            <a:endParaRPr lang="en-US" sz="900" dirty="0"/>
          </a:p>
        </p:txBody>
      </p:sp>
      <p:sp>
        <p:nvSpPr>
          <p:cNvPr id="10" name="Shape 8"/>
          <p:cNvSpPr/>
          <p:nvPr/>
        </p:nvSpPr>
        <p:spPr>
          <a:xfrm>
            <a:off x="2926080" y="2468880"/>
            <a:ext cx="54864" cy="274320"/>
          </a:xfrm>
          <a:prstGeom prst="rect">
            <a:avLst/>
          </a:prstGeom>
          <a:solidFill>
            <a:srgbClr val="1B4F8A"/>
          </a:solidFill>
          <a:ln w="12700">
            <a:solidFill>
              <a:srgbClr val="1B4F8A"/>
            </a:solidFill>
            <a:prstDash val="solid"/>
          </a:ln>
        </p:spPr>
      </p:sp>
      <p:sp>
        <p:nvSpPr>
          <p:cNvPr id="11" name="Text 9"/>
          <p:cNvSpPr/>
          <p:nvPr/>
        </p:nvSpPr>
        <p:spPr>
          <a:xfrm>
            <a:off x="3090672" y="246888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5 NIST cloud characteristics — know them cold</a:t>
            </a:r>
            <a:endParaRPr lang="en-US" sz="1000" dirty="0"/>
          </a:p>
        </p:txBody>
      </p:sp>
      <p:sp>
        <p:nvSpPr>
          <p:cNvPr id="12" name="Shape 10"/>
          <p:cNvSpPr/>
          <p:nvPr/>
        </p:nvSpPr>
        <p:spPr>
          <a:xfrm>
            <a:off x="2926080" y="2816352"/>
            <a:ext cx="54864" cy="274320"/>
          </a:xfrm>
          <a:prstGeom prst="rect">
            <a:avLst/>
          </a:prstGeom>
          <a:solidFill>
            <a:srgbClr val="1B4F8A"/>
          </a:solidFill>
          <a:ln w="12700">
            <a:solidFill>
              <a:srgbClr val="1B4F8A"/>
            </a:solidFill>
            <a:prstDash val="solid"/>
          </a:ln>
        </p:spPr>
      </p:sp>
      <p:sp>
        <p:nvSpPr>
          <p:cNvPr id="13" name="Text 11"/>
          <p:cNvSpPr/>
          <p:nvPr/>
        </p:nvSpPr>
        <p:spPr>
          <a:xfrm>
            <a:off x="3090672" y="2816352"/>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IaaS / PaaS / SaaS — responsibility boundary per model</a:t>
            </a:r>
            <a:endParaRPr lang="en-US" sz="1000" dirty="0"/>
          </a:p>
        </p:txBody>
      </p:sp>
      <p:sp>
        <p:nvSpPr>
          <p:cNvPr id="14" name="Shape 12"/>
          <p:cNvSpPr/>
          <p:nvPr/>
        </p:nvSpPr>
        <p:spPr>
          <a:xfrm>
            <a:off x="2926080" y="3163824"/>
            <a:ext cx="54864" cy="274320"/>
          </a:xfrm>
          <a:prstGeom prst="rect">
            <a:avLst/>
          </a:prstGeom>
          <a:solidFill>
            <a:srgbClr val="1B4F8A"/>
          </a:solidFill>
          <a:ln w="12700">
            <a:solidFill>
              <a:srgbClr val="1B4F8A"/>
            </a:solidFill>
            <a:prstDash val="solid"/>
          </a:ln>
        </p:spPr>
      </p:sp>
      <p:sp>
        <p:nvSpPr>
          <p:cNvPr id="15" name="Text 13"/>
          <p:cNvSpPr/>
          <p:nvPr/>
        </p:nvSpPr>
        <p:spPr>
          <a:xfrm>
            <a:off x="3090672" y="3163824"/>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Public · Private · Hybrid · Multi-cloud — when to use each</a:t>
            </a:r>
            <a:endParaRPr lang="en-US" sz="1000" dirty="0"/>
          </a:p>
        </p:txBody>
      </p:sp>
      <p:sp>
        <p:nvSpPr>
          <p:cNvPr id="16" name="Shape 14"/>
          <p:cNvSpPr/>
          <p:nvPr/>
        </p:nvSpPr>
        <p:spPr>
          <a:xfrm>
            <a:off x="2926080" y="3511296"/>
            <a:ext cx="54864" cy="274320"/>
          </a:xfrm>
          <a:prstGeom prst="rect">
            <a:avLst/>
          </a:prstGeom>
          <a:solidFill>
            <a:srgbClr val="1B4F8A"/>
          </a:solidFill>
          <a:ln w="12700">
            <a:solidFill>
              <a:srgbClr val="1B4F8A"/>
            </a:solidFill>
            <a:prstDash val="solid"/>
          </a:ln>
        </p:spPr>
      </p:sp>
      <p:sp>
        <p:nvSpPr>
          <p:cNvPr id="17" name="Text 15"/>
          <p:cNvSpPr/>
          <p:nvPr/>
        </p:nvSpPr>
        <p:spPr>
          <a:xfrm>
            <a:off x="3090672" y="3511296"/>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AWS af-south-1 · Azure SA North · GCP Johannesburg</a:t>
            </a:r>
            <a:endParaRPr lang="en-US" sz="1000" dirty="0"/>
          </a:p>
        </p:txBody>
      </p:sp>
      <p:sp>
        <p:nvSpPr>
          <p:cNvPr id="18" name="Shape 16"/>
          <p:cNvSpPr/>
          <p:nvPr/>
        </p:nvSpPr>
        <p:spPr>
          <a:xfrm>
            <a:off x="2926080" y="3858768"/>
            <a:ext cx="54864" cy="274320"/>
          </a:xfrm>
          <a:prstGeom prst="rect">
            <a:avLst/>
          </a:prstGeom>
          <a:solidFill>
            <a:srgbClr val="1B4F8A"/>
          </a:solidFill>
          <a:ln w="12700">
            <a:solidFill>
              <a:srgbClr val="1B4F8A"/>
            </a:solidFill>
            <a:prstDash val="solid"/>
          </a:ln>
        </p:spPr>
      </p:sp>
      <p:sp>
        <p:nvSpPr>
          <p:cNvPr id="19" name="Text 17"/>
          <p:cNvSpPr/>
          <p:nvPr/>
        </p:nvSpPr>
        <p:spPr>
          <a:xfrm>
            <a:off x="3090672" y="3858768"/>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CapEx = upfront spend · OpEx = pay-as-you-go</a:t>
            </a:r>
            <a:endParaRPr lang="en-US" sz="1000" dirty="0"/>
          </a:p>
        </p:txBody>
      </p:sp>
      <p:sp>
        <p:nvSpPr>
          <p:cNvPr id="20" name="Shape 18"/>
          <p:cNvSpPr/>
          <p:nvPr/>
        </p:nvSpPr>
        <p:spPr>
          <a:xfrm>
            <a:off x="2926080" y="4206240"/>
            <a:ext cx="54864" cy="274320"/>
          </a:xfrm>
          <a:prstGeom prst="rect">
            <a:avLst/>
          </a:prstGeom>
          <a:solidFill>
            <a:srgbClr val="1B4F8A"/>
          </a:solidFill>
          <a:ln w="12700">
            <a:solidFill>
              <a:srgbClr val="1B4F8A"/>
            </a:solidFill>
            <a:prstDash val="solid"/>
          </a:ln>
        </p:spPr>
      </p:sp>
      <p:sp>
        <p:nvSpPr>
          <p:cNvPr id="21" name="Text 19"/>
          <p:cNvSpPr/>
          <p:nvPr/>
        </p:nvSpPr>
        <p:spPr>
          <a:xfrm>
            <a:off x="3090672" y="420624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5 SA cloud career roles and ZAR salary ranges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B4F8A"/>
          </a:solidFill>
          <a:ln w="12700">
            <a:solidFill>
              <a:srgbClr val="1B4F8A"/>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1B4F8A">
              <a:alpha val="80000"/>
            </a:srgbClr>
          </a:solidFill>
          <a:ln w="12700">
            <a:solidFill>
              <a:srgbClr val="1B4F8A"/>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1</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The 5 NIST Characteristics &amp; Service Models</a:t>
            </a:r>
            <a:endParaRPr lang="en-US" sz="1600" dirty="0"/>
          </a:p>
        </p:txBody>
      </p:sp>
      <p:sp>
        <p:nvSpPr>
          <p:cNvPr id="7" name="Shape 5"/>
          <p:cNvSpPr/>
          <p:nvPr/>
        </p:nvSpPr>
        <p:spPr>
          <a:xfrm>
            <a:off x="256032" y="566928"/>
            <a:ext cx="1600200" cy="1737360"/>
          </a:xfrm>
          <a:prstGeom prst="rect">
            <a:avLst/>
          </a:prstGeom>
          <a:solidFill>
            <a:srgbClr val="0D1E35"/>
          </a:solidFill>
          <a:ln w="12700">
            <a:solidFill>
              <a:srgbClr val="1B4F8A">
                <a:alpha val="70000"/>
              </a:srgbClr>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56032" y="566928"/>
            <a:ext cx="1600200" cy="420624"/>
          </a:xfrm>
          <a:prstGeom prst="rect">
            <a:avLst/>
          </a:prstGeom>
          <a:solidFill>
            <a:srgbClr val="1B4F8A">
              <a:alpha val="90000"/>
            </a:srgbClr>
          </a:solidFill>
          <a:ln w="12700">
            <a:solidFill>
              <a:srgbClr val="1B4F8A"/>
            </a:solidFill>
            <a:prstDash val="solid"/>
          </a:ln>
        </p:spPr>
      </p:sp>
      <p:sp>
        <p:nvSpPr>
          <p:cNvPr id="9" name="Text 7"/>
          <p:cNvSpPr/>
          <p:nvPr/>
        </p:nvSpPr>
        <p:spPr>
          <a:xfrm>
            <a:off x="256032" y="594360"/>
            <a:ext cx="457200" cy="36576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10" name="Text 8"/>
          <p:cNvSpPr/>
          <p:nvPr/>
        </p:nvSpPr>
        <p:spPr>
          <a:xfrm>
            <a:off x="731520" y="594360"/>
            <a:ext cx="1051560"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On-Demand</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Self-Service</a:t>
            </a:r>
            <a:endParaRPr lang="en-US" sz="950" dirty="0"/>
          </a:p>
        </p:txBody>
      </p:sp>
      <p:sp>
        <p:nvSpPr>
          <p:cNvPr id="11" name="Text 9"/>
          <p:cNvSpPr/>
          <p:nvPr/>
        </p:nvSpPr>
        <p:spPr>
          <a:xfrm>
            <a:off x="347472" y="1042416"/>
            <a:ext cx="1417320" cy="1143000"/>
          </a:xfrm>
          <a:prstGeom prst="rect">
            <a:avLst/>
          </a:prstGeom>
          <a:noFill/>
          <a:ln/>
        </p:spPr>
        <p:txBody>
          <a:bodyPr wrap="square" rtlCol="0" anchor="ctr"/>
          <a:lstStyle/>
          <a:p>
            <a:pPr algn="ctr" indent="0" marL="0">
              <a:buNone/>
            </a:pPr>
            <a:r>
              <a:rPr lang="en-US" sz="900" dirty="0">
                <a:solidFill>
                  <a:srgbClr val="6A7A8A"/>
                </a:solidFill>
                <a:latin typeface="Calibri" pitchFamily="34" charset="0"/>
                <a:ea typeface="Calibri" pitchFamily="34" charset="-122"/>
                <a:cs typeface="Calibri" pitchFamily="34" charset="-120"/>
              </a:rPr>
              <a:t>Provision instantly</a:t>
            </a:r>
            <a:endParaRPr lang="en-US" sz="900" dirty="0"/>
          </a:p>
          <a:p>
            <a:pPr algn="ctr" indent="0" marL="0">
              <a:buNone/>
            </a:pPr>
            <a:r>
              <a:rPr lang="en-US" sz="900" dirty="0">
                <a:solidFill>
                  <a:srgbClr val="6A7A8A"/>
                </a:solidFill>
                <a:latin typeface="Calibri" pitchFamily="34" charset="0"/>
                <a:ea typeface="Calibri" pitchFamily="34" charset="-122"/>
                <a:cs typeface="Calibri" pitchFamily="34" charset="-120"/>
              </a:rPr>
              <a:t>No human interaction</a:t>
            </a:r>
            <a:endParaRPr lang="en-US" sz="900" dirty="0"/>
          </a:p>
          <a:p>
            <a:pPr algn="ctr" indent="0" marL="0">
              <a:buNone/>
            </a:pPr>
            <a:r>
              <a:rPr lang="en-US" sz="900" dirty="0">
                <a:solidFill>
                  <a:srgbClr val="6A7A8A"/>
                </a:solidFill>
                <a:latin typeface="Calibri" pitchFamily="34" charset="0"/>
                <a:ea typeface="Calibri" pitchFamily="34" charset="-122"/>
                <a:cs typeface="Calibri" pitchFamily="34" charset="-120"/>
              </a:rPr>
              <a:t>from provider</a:t>
            </a:r>
            <a:endParaRPr lang="en-US" sz="900" dirty="0"/>
          </a:p>
        </p:txBody>
      </p:sp>
      <p:sp>
        <p:nvSpPr>
          <p:cNvPr id="12" name="Shape 10"/>
          <p:cNvSpPr/>
          <p:nvPr/>
        </p:nvSpPr>
        <p:spPr>
          <a:xfrm>
            <a:off x="1993392" y="566928"/>
            <a:ext cx="1600200" cy="1737360"/>
          </a:xfrm>
          <a:prstGeom prst="rect">
            <a:avLst/>
          </a:prstGeom>
          <a:solidFill>
            <a:srgbClr val="0D1E35"/>
          </a:solidFill>
          <a:ln w="12700">
            <a:solidFill>
              <a:srgbClr val="1B4F8A">
                <a:alpha val="70000"/>
              </a:srgbClr>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1993392" y="566928"/>
            <a:ext cx="1600200" cy="420624"/>
          </a:xfrm>
          <a:prstGeom prst="rect">
            <a:avLst/>
          </a:prstGeom>
          <a:solidFill>
            <a:srgbClr val="1B4F8A">
              <a:alpha val="90000"/>
            </a:srgbClr>
          </a:solidFill>
          <a:ln w="12700">
            <a:solidFill>
              <a:srgbClr val="1B4F8A"/>
            </a:solidFill>
            <a:prstDash val="solid"/>
          </a:ln>
        </p:spPr>
      </p:sp>
      <p:sp>
        <p:nvSpPr>
          <p:cNvPr id="14" name="Text 12"/>
          <p:cNvSpPr/>
          <p:nvPr/>
        </p:nvSpPr>
        <p:spPr>
          <a:xfrm>
            <a:off x="1993392" y="594360"/>
            <a:ext cx="457200" cy="36576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15" name="Text 13"/>
          <p:cNvSpPr/>
          <p:nvPr/>
        </p:nvSpPr>
        <p:spPr>
          <a:xfrm>
            <a:off x="2468880" y="594360"/>
            <a:ext cx="1051560"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Broad Network</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Access</a:t>
            </a:r>
            <a:endParaRPr lang="en-US" sz="950" dirty="0"/>
          </a:p>
        </p:txBody>
      </p:sp>
      <p:sp>
        <p:nvSpPr>
          <p:cNvPr id="16" name="Text 14"/>
          <p:cNvSpPr/>
          <p:nvPr/>
        </p:nvSpPr>
        <p:spPr>
          <a:xfrm>
            <a:off x="2084832" y="1042416"/>
            <a:ext cx="1417320" cy="1143000"/>
          </a:xfrm>
          <a:prstGeom prst="rect">
            <a:avLst/>
          </a:prstGeom>
          <a:noFill/>
          <a:ln/>
        </p:spPr>
        <p:txBody>
          <a:bodyPr wrap="square" rtlCol="0" anchor="ctr"/>
          <a:lstStyle/>
          <a:p>
            <a:pPr algn="ctr" indent="0" marL="0">
              <a:buNone/>
            </a:pPr>
            <a:r>
              <a:rPr lang="en-US" sz="900" dirty="0">
                <a:solidFill>
                  <a:srgbClr val="6A7A8A"/>
                </a:solidFill>
                <a:latin typeface="Calibri" pitchFamily="34" charset="0"/>
                <a:ea typeface="Calibri" pitchFamily="34" charset="-122"/>
                <a:cs typeface="Calibri" pitchFamily="34" charset="-120"/>
              </a:rPr>
              <a:t>Any device</a:t>
            </a:r>
            <a:endParaRPr lang="en-US" sz="900" dirty="0"/>
          </a:p>
          <a:p>
            <a:pPr algn="ctr" indent="0" marL="0">
              <a:buNone/>
            </a:pPr>
            <a:r>
              <a:rPr lang="en-US" sz="900" dirty="0">
                <a:solidFill>
                  <a:srgbClr val="6A7A8A"/>
                </a:solidFill>
                <a:latin typeface="Calibri" pitchFamily="34" charset="0"/>
                <a:ea typeface="Calibri" pitchFamily="34" charset="-122"/>
                <a:cs typeface="Calibri" pitchFamily="34" charset="-120"/>
              </a:rPr>
              <a:t>Any network</a:t>
            </a:r>
            <a:endParaRPr lang="en-US" sz="900" dirty="0"/>
          </a:p>
          <a:p>
            <a:pPr algn="ctr" indent="0" marL="0">
              <a:buNone/>
            </a:pPr>
            <a:r>
              <a:rPr lang="en-US" sz="900" dirty="0">
                <a:solidFill>
                  <a:srgbClr val="6A7A8A"/>
                </a:solidFill>
                <a:latin typeface="Calibri" pitchFamily="34" charset="0"/>
                <a:ea typeface="Calibri" pitchFamily="34" charset="-122"/>
                <a:cs typeface="Calibri" pitchFamily="34" charset="-120"/>
              </a:rPr>
              <a:t>Anywhere in SA</a:t>
            </a:r>
            <a:endParaRPr lang="en-US" sz="900" dirty="0"/>
          </a:p>
        </p:txBody>
      </p:sp>
      <p:sp>
        <p:nvSpPr>
          <p:cNvPr id="17" name="Shape 15"/>
          <p:cNvSpPr/>
          <p:nvPr/>
        </p:nvSpPr>
        <p:spPr>
          <a:xfrm>
            <a:off x="3730752" y="566928"/>
            <a:ext cx="1600200" cy="1737360"/>
          </a:xfrm>
          <a:prstGeom prst="rect">
            <a:avLst/>
          </a:prstGeom>
          <a:solidFill>
            <a:srgbClr val="0D1E35"/>
          </a:solidFill>
          <a:ln w="12700">
            <a:solidFill>
              <a:srgbClr val="1B4F8A">
                <a:alpha val="70000"/>
              </a:srgbClr>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3730752" y="566928"/>
            <a:ext cx="1600200" cy="420624"/>
          </a:xfrm>
          <a:prstGeom prst="rect">
            <a:avLst/>
          </a:prstGeom>
          <a:solidFill>
            <a:srgbClr val="1B4F8A">
              <a:alpha val="90000"/>
            </a:srgbClr>
          </a:solidFill>
          <a:ln w="12700">
            <a:solidFill>
              <a:srgbClr val="1B4F8A"/>
            </a:solidFill>
            <a:prstDash val="solid"/>
          </a:ln>
        </p:spPr>
      </p:sp>
      <p:sp>
        <p:nvSpPr>
          <p:cNvPr id="19" name="Text 17"/>
          <p:cNvSpPr/>
          <p:nvPr/>
        </p:nvSpPr>
        <p:spPr>
          <a:xfrm>
            <a:off x="3730752" y="594360"/>
            <a:ext cx="457200" cy="36576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20" name="Text 18"/>
          <p:cNvSpPr/>
          <p:nvPr/>
        </p:nvSpPr>
        <p:spPr>
          <a:xfrm>
            <a:off x="4206240" y="594360"/>
            <a:ext cx="1051560"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Resource</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Pooling</a:t>
            </a:r>
            <a:endParaRPr lang="en-US" sz="950" dirty="0"/>
          </a:p>
        </p:txBody>
      </p:sp>
      <p:sp>
        <p:nvSpPr>
          <p:cNvPr id="21" name="Text 19"/>
          <p:cNvSpPr/>
          <p:nvPr/>
        </p:nvSpPr>
        <p:spPr>
          <a:xfrm>
            <a:off x="3822192" y="1042416"/>
            <a:ext cx="1417320" cy="1143000"/>
          </a:xfrm>
          <a:prstGeom prst="rect">
            <a:avLst/>
          </a:prstGeom>
          <a:noFill/>
          <a:ln/>
        </p:spPr>
        <p:txBody>
          <a:bodyPr wrap="square" rtlCol="0" anchor="ctr"/>
          <a:lstStyle/>
          <a:p>
            <a:pPr algn="ctr" indent="0" marL="0">
              <a:buNone/>
            </a:pPr>
            <a:r>
              <a:rPr lang="en-US" sz="900" dirty="0">
                <a:solidFill>
                  <a:srgbClr val="6A7A8A"/>
                </a:solidFill>
                <a:latin typeface="Calibri" pitchFamily="34" charset="0"/>
                <a:ea typeface="Calibri" pitchFamily="34" charset="-122"/>
                <a:cs typeface="Calibri" pitchFamily="34" charset="-120"/>
              </a:rPr>
              <a:t>Shared physical</a:t>
            </a:r>
            <a:endParaRPr lang="en-US" sz="900" dirty="0"/>
          </a:p>
          <a:p>
            <a:pPr algn="ctr" indent="0" marL="0">
              <a:buNone/>
            </a:pPr>
            <a:r>
              <a:rPr lang="en-US" sz="900" dirty="0">
                <a:solidFill>
                  <a:srgbClr val="6A7A8A"/>
                </a:solidFill>
                <a:latin typeface="Calibri" pitchFamily="34" charset="0"/>
                <a:ea typeface="Calibri" pitchFamily="34" charset="-122"/>
                <a:cs typeface="Calibri" pitchFamily="34" charset="-120"/>
              </a:rPr>
              <a:t>infrastructure</a:t>
            </a:r>
            <a:endParaRPr lang="en-US" sz="900" dirty="0"/>
          </a:p>
          <a:p>
            <a:pPr algn="ctr" indent="0" marL="0">
              <a:buNone/>
            </a:pPr>
            <a:r>
              <a:rPr lang="en-US" sz="900" dirty="0">
                <a:solidFill>
                  <a:srgbClr val="6A7A8A"/>
                </a:solidFill>
                <a:latin typeface="Calibri" pitchFamily="34" charset="0"/>
                <a:ea typeface="Calibri" pitchFamily="34" charset="-122"/>
                <a:cs typeface="Calibri" pitchFamily="34" charset="-120"/>
              </a:rPr>
              <a:t>Multi-tenant</a:t>
            </a:r>
            <a:endParaRPr lang="en-US" sz="900" dirty="0"/>
          </a:p>
        </p:txBody>
      </p:sp>
      <p:sp>
        <p:nvSpPr>
          <p:cNvPr id="22" name="Shape 20"/>
          <p:cNvSpPr/>
          <p:nvPr/>
        </p:nvSpPr>
        <p:spPr>
          <a:xfrm>
            <a:off x="5468112" y="566928"/>
            <a:ext cx="1600200" cy="1737360"/>
          </a:xfrm>
          <a:prstGeom prst="rect">
            <a:avLst/>
          </a:prstGeom>
          <a:solidFill>
            <a:srgbClr val="0D1E35"/>
          </a:solidFill>
          <a:ln w="12700">
            <a:solidFill>
              <a:srgbClr val="1B4F8A">
                <a:alpha val="70000"/>
              </a:srgbClr>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5468112" y="566928"/>
            <a:ext cx="1600200" cy="420624"/>
          </a:xfrm>
          <a:prstGeom prst="rect">
            <a:avLst/>
          </a:prstGeom>
          <a:solidFill>
            <a:srgbClr val="1B4F8A">
              <a:alpha val="90000"/>
            </a:srgbClr>
          </a:solidFill>
          <a:ln w="12700">
            <a:solidFill>
              <a:srgbClr val="1B4F8A"/>
            </a:solidFill>
            <a:prstDash val="solid"/>
          </a:ln>
        </p:spPr>
      </p:sp>
      <p:sp>
        <p:nvSpPr>
          <p:cNvPr id="24" name="Text 22"/>
          <p:cNvSpPr/>
          <p:nvPr/>
        </p:nvSpPr>
        <p:spPr>
          <a:xfrm>
            <a:off x="5468112" y="594360"/>
            <a:ext cx="457200" cy="36576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04</a:t>
            </a:r>
            <a:endParaRPr lang="en-US" sz="1800" dirty="0"/>
          </a:p>
        </p:txBody>
      </p:sp>
      <p:sp>
        <p:nvSpPr>
          <p:cNvPr id="25" name="Text 23"/>
          <p:cNvSpPr/>
          <p:nvPr/>
        </p:nvSpPr>
        <p:spPr>
          <a:xfrm>
            <a:off x="5943600" y="594360"/>
            <a:ext cx="1051560"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Rapid</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Elasticity</a:t>
            </a:r>
            <a:endParaRPr lang="en-US" sz="950" dirty="0"/>
          </a:p>
        </p:txBody>
      </p:sp>
      <p:sp>
        <p:nvSpPr>
          <p:cNvPr id="26" name="Text 24"/>
          <p:cNvSpPr/>
          <p:nvPr/>
        </p:nvSpPr>
        <p:spPr>
          <a:xfrm>
            <a:off x="5559552" y="1042416"/>
            <a:ext cx="1417320" cy="1143000"/>
          </a:xfrm>
          <a:prstGeom prst="rect">
            <a:avLst/>
          </a:prstGeom>
          <a:noFill/>
          <a:ln/>
        </p:spPr>
        <p:txBody>
          <a:bodyPr wrap="square" rtlCol="0" anchor="ctr"/>
          <a:lstStyle/>
          <a:p>
            <a:pPr algn="ctr" indent="0" marL="0">
              <a:buNone/>
            </a:pPr>
            <a:r>
              <a:rPr lang="en-US" sz="900" dirty="0">
                <a:solidFill>
                  <a:srgbClr val="6A7A8A"/>
                </a:solidFill>
                <a:latin typeface="Calibri" pitchFamily="34" charset="0"/>
                <a:ea typeface="Calibri" pitchFamily="34" charset="-122"/>
                <a:cs typeface="Calibri" pitchFamily="34" charset="-120"/>
              </a:rPr>
              <a:t>Scale up for peak</a:t>
            </a:r>
            <a:endParaRPr lang="en-US" sz="900" dirty="0"/>
          </a:p>
          <a:p>
            <a:pPr algn="ctr" indent="0" marL="0">
              <a:buNone/>
            </a:pPr>
            <a:r>
              <a:rPr lang="en-US" sz="900" dirty="0">
                <a:solidFill>
                  <a:srgbClr val="6A7A8A"/>
                </a:solidFill>
                <a:latin typeface="Calibri" pitchFamily="34" charset="0"/>
                <a:ea typeface="Calibri" pitchFamily="34" charset="-122"/>
                <a:cs typeface="Calibri" pitchFamily="34" charset="-120"/>
              </a:rPr>
              <a:t>Scale down at night</a:t>
            </a:r>
            <a:endParaRPr lang="en-US" sz="900" dirty="0"/>
          </a:p>
          <a:p>
            <a:pPr algn="ctr" indent="0" marL="0">
              <a:buNone/>
            </a:pPr>
            <a:r>
              <a:rPr lang="en-US" sz="900" dirty="0">
                <a:solidFill>
                  <a:srgbClr val="6A7A8A"/>
                </a:solidFill>
                <a:latin typeface="Calibri" pitchFamily="34" charset="0"/>
                <a:ea typeface="Calibri" pitchFamily="34" charset="-122"/>
                <a:cs typeface="Calibri" pitchFamily="34" charset="-120"/>
              </a:rPr>
              <a:t>Pay per second</a:t>
            </a:r>
            <a:endParaRPr lang="en-US" sz="900" dirty="0"/>
          </a:p>
        </p:txBody>
      </p:sp>
      <p:sp>
        <p:nvSpPr>
          <p:cNvPr id="27" name="Shape 25"/>
          <p:cNvSpPr/>
          <p:nvPr/>
        </p:nvSpPr>
        <p:spPr>
          <a:xfrm>
            <a:off x="7205472" y="566928"/>
            <a:ext cx="1600200" cy="1737360"/>
          </a:xfrm>
          <a:prstGeom prst="rect">
            <a:avLst/>
          </a:prstGeom>
          <a:solidFill>
            <a:srgbClr val="0D1E35"/>
          </a:solidFill>
          <a:ln w="12700">
            <a:solidFill>
              <a:srgbClr val="1B4F8A">
                <a:alpha val="70000"/>
              </a:srgbClr>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7205472" y="566928"/>
            <a:ext cx="1600200" cy="420624"/>
          </a:xfrm>
          <a:prstGeom prst="rect">
            <a:avLst/>
          </a:prstGeom>
          <a:solidFill>
            <a:srgbClr val="1B4F8A">
              <a:alpha val="90000"/>
            </a:srgbClr>
          </a:solidFill>
          <a:ln w="12700">
            <a:solidFill>
              <a:srgbClr val="1B4F8A"/>
            </a:solidFill>
            <a:prstDash val="solid"/>
          </a:ln>
        </p:spPr>
      </p:sp>
      <p:sp>
        <p:nvSpPr>
          <p:cNvPr id="29" name="Text 27"/>
          <p:cNvSpPr/>
          <p:nvPr/>
        </p:nvSpPr>
        <p:spPr>
          <a:xfrm>
            <a:off x="7205472" y="594360"/>
            <a:ext cx="457200" cy="36576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05</a:t>
            </a:r>
            <a:endParaRPr lang="en-US" sz="1800" dirty="0"/>
          </a:p>
        </p:txBody>
      </p:sp>
      <p:sp>
        <p:nvSpPr>
          <p:cNvPr id="30" name="Text 28"/>
          <p:cNvSpPr/>
          <p:nvPr/>
        </p:nvSpPr>
        <p:spPr>
          <a:xfrm>
            <a:off x="7680960" y="594360"/>
            <a:ext cx="1051560"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Service</a:t>
            </a:r>
            <a:endParaRPr lang="en-US" sz="950" dirty="0"/>
          </a:p>
        </p:txBody>
      </p:sp>
      <p:sp>
        <p:nvSpPr>
          <p:cNvPr id="31" name="Text 29"/>
          <p:cNvSpPr/>
          <p:nvPr/>
        </p:nvSpPr>
        <p:spPr>
          <a:xfrm>
            <a:off x="7296912" y="1042416"/>
            <a:ext cx="1417320" cy="1143000"/>
          </a:xfrm>
          <a:prstGeom prst="rect">
            <a:avLst/>
          </a:prstGeom>
          <a:noFill/>
          <a:ln/>
        </p:spPr>
        <p:txBody>
          <a:bodyPr wrap="square" rtlCol="0" anchor="ctr"/>
          <a:lstStyle/>
          <a:p>
            <a:pPr algn="ctr" indent="0" marL="0">
              <a:buNone/>
            </a:pPr>
            <a:r>
              <a:rPr lang="en-US" sz="900" dirty="0">
                <a:solidFill>
                  <a:srgbClr val="6A7A8A"/>
                </a:solidFill>
                <a:latin typeface="Calibri" pitchFamily="34" charset="0"/>
                <a:ea typeface="Calibri" pitchFamily="34" charset="-122"/>
                <a:cs typeface="Calibri" pitchFamily="34" charset="-120"/>
              </a:rPr>
              <a:t>Billed like electricity</a:t>
            </a:r>
            <a:endParaRPr lang="en-US" sz="900" dirty="0"/>
          </a:p>
          <a:p>
            <a:pPr algn="ctr" indent="0" marL="0">
              <a:buNone/>
            </a:pPr>
            <a:r>
              <a:rPr lang="en-US" sz="900" dirty="0">
                <a:solidFill>
                  <a:srgbClr val="6A7A8A"/>
                </a:solidFill>
                <a:latin typeface="Calibri" pitchFamily="34" charset="0"/>
                <a:ea typeface="Calibri" pitchFamily="34" charset="-122"/>
                <a:cs typeface="Calibri" pitchFamily="34" charset="-120"/>
              </a:rPr>
              <a:t>No idle capacity</a:t>
            </a:r>
            <a:endParaRPr lang="en-US" sz="900" dirty="0"/>
          </a:p>
          <a:p>
            <a:pPr algn="ctr" indent="0" marL="0">
              <a:buNone/>
            </a:pPr>
            <a:r>
              <a:rPr lang="en-US" sz="900" dirty="0">
                <a:solidFill>
                  <a:srgbClr val="6A7A8A"/>
                </a:solidFill>
                <a:latin typeface="Calibri" pitchFamily="34" charset="0"/>
                <a:ea typeface="Calibri" pitchFamily="34" charset="-122"/>
                <a:cs typeface="Calibri" pitchFamily="34" charset="-120"/>
              </a:rPr>
              <a:t>No over-provisioning</a:t>
            </a:r>
            <a:endParaRPr lang="en-US" sz="900" dirty="0"/>
          </a:p>
        </p:txBody>
      </p:sp>
      <p:sp>
        <p:nvSpPr>
          <p:cNvPr id="32" name="Shape 30"/>
          <p:cNvSpPr/>
          <p:nvPr/>
        </p:nvSpPr>
        <p:spPr>
          <a:xfrm>
            <a:off x="256032" y="2450592"/>
            <a:ext cx="2743200" cy="1536192"/>
          </a:xfrm>
          <a:prstGeom prst="rect">
            <a:avLst/>
          </a:prstGeom>
          <a:solidFill>
            <a:srgbClr val="0A1420"/>
          </a:solidFill>
          <a:ln w="12700">
            <a:solidFill>
              <a:srgbClr val="1B4F8A">
                <a:alpha val="60000"/>
              </a:srgbClr>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256032" y="2450592"/>
            <a:ext cx="2743200" cy="365760"/>
          </a:xfrm>
          <a:prstGeom prst="rect">
            <a:avLst/>
          </a:prstGeom>
          <a:solidFill>
            <a:srgbClr val="1B4F8A">
              <a:alpha val="85000"/>
            </a:srgbClr>
          </a:solidFill>
          <a:ln w="12700">
            <a:solidFill>
              <a:srgbClr val="1B4F8A"/>
            </a:solidFill>
            <a:prstDash val="solid"/>
          </a:ln>
        </p:spPr>
      </p:sp>
      <p:sp>
        <p:nvSpPr>
          <p:cNvPr id="34" name="Text 32"/>
          <p:cNvSpPr/>
          <p:nvPr/>
        </p:nvSpPr>
        <p:spPr>
          <a:xfrm>
            <a:off x="347472" y="2468880"/>
            <a:ext cx="2560320" cy="329184"/>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IaaS</a:t>
            </a:r>
            <a:endParaRPr lang="en-US" sz="1400" dirty="0"/>
          </a:p>
        </p:txBody>
      </p:sp>
      <p:sp>
        <p:nvSpPr>
          <p:cNvPr id="35" name="Text 33"/>
          <p:cNvSpPr/>
          <p:nvPr/>
        </p:nvSpPr>
        <p:spPr>
          <a:xfrm>
            <a:off x="347472" y="2880360"/>
            <a:ext cx="2560320" cy="1024128"/>
          </a:xfrm>
          <a:prstGeom prst="rect">
            <a:avLst/>
          </a:prstGeom>
          <a:noFill/>
          <a:ln/>
        </p:spPr>
        <p:txBody>
          <a:bodyPr wrap="square" rtlCol="0" anchor="ctr"/>
          <a:lstStyle/>
          <a:p>
            <a:pPr indent="0" marL="0">
              <a:buNone/>
            </a:pPr>
            <a:r>
              <a:rPr lang="en-US" sz="950" dirty="0">
                <a:solidFill>
                  <a:srgbClr val="6A7A8A"/>
                </a:solidFill>
                <a:latin typeface="Calibri" pitchFamily="34" charset="0"/>
                <a:ea typeface="Calibri" pitchFamily="34" charset="-122"/>
                <a:cs typeface="Calibri" pitchFamily="34" charset="-120"/>
              </a:rPr>
              <a:t>YOU: OS · middleware · apps · data</a:t>
            </a:r>
            <a:endParaRPr lang="en-US" sz="950" dirty="0"/>
          </a:p>
          <a:p>
            <a:pPr indent="0" marL="0">
              <a:buNone/>
            </a:pPr>
            <a:r>
              <a:rPr lang="en-US" sz="950" dirty="0">
                <a:solidFill>
                  <a:srgbClr val="6A7A8A"/>
                </a:solidFill>
                <a:latin typeface="Calibri" pitchFamily="34" charset="0"/>
                <a:ea typeface="Calibri" pitchFamily="34" charset="-122"/>
                <a:cs typeface="Calibri" pitchFamily="34" charset="-120"/>
              </a:rPr>
              <a:t>AWS: Hardware · virtualisation</a:t>
            </a:r>
            <a:endParaRPr lang="en-US" sz="950" dirty="0"/>
          </a:p>
          <a:p>
            <a:pPr indent="0" marL="0">
              <a:buNone/>
            </a:pPr>
            <a:r>
              <a:rPr lang="en-US" sz="950" dirty="0">
                <a:solidFill>
                  <a:srgbClr val="6A7A8A"/>
                </a:solidFill>
                <a:latin typeface="Calibri" pitchFamily="34" charset="0"/>
                <a:ea typeface="Calibri" pitchFamily="34" charset="-122"/>
                <a:cs typeface="Calibri" pitchFamily="34" charset="-120"/>
              </a:rPr>
              <a:t>Example: EC2</a:t>
            </a:r>
            <a:endParaRPr lang="en-US" sz="950" dirty="0"/>
          </a:p>
        </p:txBody>
      </p:sp>
      <p:sp>
        <p:nvSpPr>
          <p:cNvPr id="36" name="Shape 34"/>
          <p:cNvSpPr/>
          <p:nvPr/>
        </p:nvSpPr>
        <p:spPr>
          <a:xfrm>
            <a:off x="3227832" y="2450592"/>
            <a:ext cx="2743200" cy="1536192"/>
          </a:xfrm>
          <a:prstGeom prst="rect">
            <a:avLst/>
          </a:prstGeom>
          <a:solidFill>
            <a:srgbClr val="0A1420"/>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37" name="Shape 35"/>
          <p:cNvSpPr/>
          <p:nvPr/>
        </p:nvSpPr>
        <p:spPr>
          <a:xfrm>
            <a:off x="3227832" y="2450592"/>
            <a:ext cx="2743200" cy="365760"/>
          </a:xfrm>
          <a:prstGeom prst="rect">
            <a:avLst/>
          </a:prstGeom>
          <a:solidFill>
            <a:srgbClr val="0F6E56">
              <a:alpha val="85000"/>
            </a:srgbClr>
          </a:solidFill>
          <a:ln w="12700">
            <a:solidFill>
              <a:srgbClr val="0F6E56"/>
            </a:solidFill>
            <a:prstDash val="solid"/>
          </a:ln>
        </p:spPr>
      </p:sp>
      <p:sp>
        <p:nvSpPr>
          <p:cNvPr id="38" name="Text 36"/>
          <p:cNvSpPr/>
          <p:nvPr/>
        </p:nvSpPr>
        <p:spPr>
          <a:xfrm>
            <a:off x="3319272" y="2468880"/>
            <a:ext cx="2560320" cy="329184"/>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PaaS</a:t>
            </a:r>
            <a:endParaRPr lang="en-US" sz="1400" dirty="0"/>
          </a:p>
        </p:txBody>
      </p:sp>
      <p:sp>
        <p:nvSpPr>
          <p:cNvPr id="39" name="Text 37"/>
          <p:cNvSpPr/>
          <p:nvPr/>
        </p:nvSpPr>
        <p:spPr>
          <a:xfrm>
            <a:off x="3319272" y="2880360"/>
            <a:ext cx="2560320" cy="1024128"/>
          </a:xfrm>
          <a:prstGeom prst="rect">
            <a:avLst/>
          </a:prstGeom>
          <a:noFill/>
          <a:ln/>
        </p:spPr>
        <p:txBody>
          <a:bodyPr wrap="square" rtlCol="0" anchor="ctr"/>
          <a:lstStyle/>
          <a:p>
            <a:pPr indent="0" marL="0">
              <a:buNone/>
            </a:pPr>
            <a:r>
              <a:rPr lang="en-US" sz="950" dirty="0">
                <a:solidFill>
                  <a:srgbClr val="6A7A8A"/>
                </a:solidFill>
                <a:latin typeface="Calibri" pitchFamily="34" charset="0"/>
                <a:ea typeface="Calibri" pitchFamily="34" charset="-122"/>
                <a:cs typeface="Calibri" pitchFamily="34" charset="-120"/>
              </a:rPr>
              <a:t>YOU: App code + data</a:t>
            </a:r>
            <a:endParaRPr lang="en-US" sz="950" dirty="0"/>
          </a:p>
          <a:p>
            <a:pPr indent="0" marL="0">
              <a:buNone/>
            </a:pPr>
            <a:r>
              <a:rPr lang="en-US" sz="950" dirty="0">
                <a:solidFill>
                  <a:srgbClr val="6A7A8A"/>
                </a:solidFill>
                <a:latin typeface="Calibri" pitchFamily="34" charset="0"/>
                <a:ea typeface="Calibri" pitchFamily="34" charset="-122"/>
                <a:cs typeface="Calibri" pitchFamily="34" charset="-120"/>
              </a:rPr>
              <a:t>AWS: Runtime · OS · hardware</a:t>
            </a:r>
            <a:endParaRPr lang="en-US" sz="950" dirty="0"/>
          </a:p>
          <a:p>
            <a:pPr indent="0" marL="0">
              <a:buNone/>
            </a:pPr>
            <a:r>
              <a:rPr lang="en-US" sz="950" dirty="0">
                <a:solidFill>
                  <a:srgbClr val="6A7A8A"/>
                </a:solidFill>
                <a:latin typeface="Calibri" pitchFamily="34" charset="0"/>
                <a:ea typeface="Calibri" pitchFamily="34" charset="-122"/>
                <a:cs typeface="Calibri" pitchFamily="34" charset="-120"/>
              </a:rPr>
              <a:t>Example: Elastic Beanstalk</a:t>
            </a:r>
            <a:endParaRPr lang="en-US" sz="950" dirty="0"/>
          </a:p>
        </p:txBody>
      </p:sp>
      <p:sp>
        <p:nvSpPr>
          <p:cNvPr id="40" name="Shape 38"/>
          <p:cNvSpPr/>
          <p:nvPr/>
        </p:nvSpPr>
        <p:spPr>
          <a:xfrm>
            <a:off x="6199632" y="2450592"/>
            <a:ext cx="2743200" cy="1536192"/>
          </a:xfrm>
          <a:prstGeom prst="rect">
            <a:avLst/>
          </a:prstGeom>
          <a:solidFill>
            <a:srgbClr val="0A1420"/>
          </a:solidFill>
          <a:ln w="12700">
            <a:solidFill>
              <a:srgbClr val="C8A850">
                <a:alpha val="60000"/>
              </a:srgbClr>
            </a:solidFill>
            <a:prstDash val="solid"/>
          </a:ln>
          <a:effectLst>
            <a:outerShdw sx="100000" sy="100000" kx="0" ky="0" algn="bl" rotWithShape="0" blurRad="101600" dist="38100" dir="8100000">
              <a:srgbClr val="000000">
                <a:alpha val="18000"/>
              </a:srgbClr>
            </a:outerShdw>
          </a:effectLst>
        </p:spPr>
      </p:sp>
      <p:sp>
        <p:nvSpPr>
          <p:cNvPr id="41" name="Shape 39"/>
          <p:cNvSpPr/>
          <p:nvPr/>
        </p:nvSpPr>
        <p:spPr>
          <a:xfrm>
            <a:off x="6199632" y="2450592"/>
            <a:ext cx="2743200" cy="365760"/>
          </a:xfrm>
          <a:prstGeom prst="rect">
            <a:avLst/>
          </a:prstGeom>
          <a:solidFill>
            <a:srgbClr val="C8A850">
              <a:alpha val="85000"/>
            </a:srgbClr>
          </a:solidFill>
          <a:ln w="12700">
            <a:solidFill>
              <a:srgbClr val="C8A850"/>
            </a:solidFill>
            <a:prstDash val="solid"/>
          </a:ln>
        </p:spPr>
      </p:sp>
      <p:sp>
        <p:nvSpPr>
          <p:cNvPr id="42" name="Text 40"/>
          <p:cNvSpPr/>
          <p:nvPr/>
        </p:nvSpPr>
        <p:spPr>
          <a:xfrm>
            <a:off x="6291072" y="2468880"/>
            <a:ext cx="2560320" cy="329184"/>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SaaS</a:t>
            </a:r>
            <a:endParaRPr lang="en-US" sz="1400" dirty="0"/>
          </a:p>
        </p:txBody>
      </p:sp>
      <p:sp>
        <p:nvSpPr>
          <p:cNvPr id="43" name="Text 41"/>
          <p:cNvSpPr/>
          <p:nvPr/>
        </p:nvSpPr>
        <p:spPr>
          <a:xfrm>
            <a:off x="6291072" y="2880360"/>
            <a:ext cx="2560320" cy="1024128"/>
          </a:xfrm>
          <a:prstGeom prst="rect">
            <a:avLst/>
          </a:prstGeom>
          <a:noFill/>
          <a:ln/>
        </p:spPr>
        <p:txBody>
          <a:bodyPr wrap="square" rtlCol="0" anchor="ctr"/>
          <a:lstStyle/>
          <a:p>
            <a:pPr indent="0" marL="0">
              <a:buNone/>
            </a:pPr>
            <a:r>
              <a:rPr lang="en-US" sz="950" dirty="0">
                <a:solidFill>
                  <a:srgbClr val="6A7A8A"/>
                </a:solidFill>
                <a:latin typeface="Calibri" pitchFamily="34" charset="0"/>
                <a:ea typeface="Calibri" pitchFamily="34" charset="-122"/>
                <a:cs typeface="Calibri" pitchFamily="34" charset="-120"/>
              </a:rPr>
              <a:t>YOU: Data + user access</a:t>
            </a:r>
            <a:endParaRPr lang="en-US" sz="950" dirty="0"/>
          </a:p>
          <a:p>
            <a:pPr indent="0" marL="0">
              <a:buNone/>
            </a:pPr>
            <a:r>
              <a:rPr lang="en-US" sz="950" dirty="0">
                <a:solidFill>
                  <a:srgbClr val="6A7A8A"/>
                </a:solidFill>
                <a:latin typeface="Calibri" pitchFamily="34" charset="0"/>
                <a:ea typeface="Calibri" pitchFamily="34" charset="-122"/>
                <a:cs typeface="Calibri" pitchFamily="34" charset="-120"/>
              </a:rPr>
              <a:t>AWS: Everything else</a:t>
            </a:r>
            <a:endParaRPr lang="en-US" sz="950" dirty="0"/>
          </a:p>
          <a:p>
            <a:pPr indent="0" marL="0">
              <a:buNone/>
            </a:pPr>
            <a:r>
              <a:rPr lang="en-US" sz="950" dirty="0">
                <a:solidFill>
                  <a:srgbClr val="6A7A8A"/>
                </a:solidFill>
                <a:latin typeface="Calibri" pitchFamily="34" charset="0"/>
                <a:ea typeface="Calibri" pitchFamily="34" charset="-122"/>
                <a:cs typeface="Calibri" pitchFamily="34" charset="-120"/>
              </a:rPr>
              <a:t>Example: Gmail, Sage SA</a:t>
            </a:r>
            <a:endParaRPr lang="en-US" sz="950" dirty="0"/>
          </a:p>
        </p:txBody>
      </p:sp>
      <p:sp>
        <p:nvSpPr>
          <p:cNvPr id="44" name="Shape 42"/>
          <p:cNvSpPr/>
          <p:nvPr/>
        </p:nvSpPr>
        <p:spPr>
          <a:xfrm>
            <a:off x="256032" y="4069080"/>
            <a:ext cx="8650224" cy="530352"/>
          </a:xfrm>
          <a:prstGeom prst="rect">
            <a:avLst/>
          </a:prstGeom>
          <a:solidFill>
            <a:srgbClr val="180808"/>
          </a:solidFill>
          <a:ln w="12700">
            <a:solidFill>
              <a:srgbClr val="FF6B6B"/>
            </a:solidFill>
            <a:prstDash val="solid"/>
          </a:ln>
        </p:spPr>
      </p:sp>
      <p:sp>
        <p:nvSpPr>
          <p:cNvPr id="45" name="Shape 43"/>
          <p:cNvSpPr/>
          <p:nvPr/>
        </p:nvSpPr>
        <p:spPr>
          <a:xfrm>
            <a:off x="256032" y="4069080"/>
            <a:ext cx="54864" cy="530352"/>
          </a:xfrm>
          <a:prstGeom prst="rect">
            <a:avLst/>
          </a:prstGeom>
          <a:solidFill>
            <a:srgbClr val="FF6B6B"/>
          </a:solidFill>
          <a:ln w="12700">
            <a:solidFill>
              <a:srgbClr val="FF6B6B"/>
            </a:solidFill>
            <a:prstDash val="solid"/>
          </a:ln>
        </p:spPr>
      </p:sp>
      <p:sp>
        <p:nvSpPr>
          <p:cNvPr id="46" name="Text 44"/>
          <p:cNvSpPr/>
          <p:nvPr/>
        </p:nvSpPr>
        <p:spPr>
          <a:xfrm>
            <a:off x="384048" y="4105656"/>
            <a:ext cx="1280160" cy="201168"/>
          </a:xfrm>
          <a:prstGeom prst="rect">
            <a:avLst/>
          </a:prstGeom>
          <a:noFill/>
          <a:ln/>
        </p:spPr>
        <p:txBody>
          <a:bodyPr wrap="square" rtlCol="0" anchor="ctr"/>
          <a:lstStyle/>
          <a:p>
            <a:pPr indent="0" marL="0">
              <a:buNone/>
            </a:pPr>
            <a:r>
              <a:rPr lang="en-US" sz="800" b="1" dirty="0">
                <a:solidFill>
                  <a:srgbClr val="FF6B6B"/>
                </a:solidFill>
                <a:latin typeface="Calibri" pitchFamily="34" charset="0"/>
                <a:ea typeface="Calibri" pitchFamily="34" charset="-122"/>
                <a:cs typeface="Calibri" pitchFamily="34" charset="-120"/>
              </a:rPr>
              <a:t>⚠ EXAM TRAP</a:t>
            </a:r>
            <a:endParaRPr lang="en-US" sz="800" dirty="0"/>
          </a:p>
        </p:txBody>
      </p:sp>
      <p:sp>
        <p:nvSpPr>
          <p:cNvPr id="47" name="Text 45"/>
          <p:cNvSpPr/>
          <p:nvPr/>
        </p:nvSpPr>
        <p:spPr>
          <a:xfrm>
            <a:off x="384048" y="4297680"/>
            <a:ext cx="8430768"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SaaS = Customer manages EVERYTHING (wrong!)</a:t>
            </a:r>
            <a:endParaRPr lang="en-US" sz="900" dirty="0"/>
          </a:p>
        </p:txBody>
      </p:sp>
      <p:sp>
        <p:nvSpPr>
          <p:cNvPr id="48" name="Text 46"/>
          <p:cNvSpPr/>
          <p:nvPr/>
        </p:nvSpPr>
        <p:spPr>
          <a:xfrm>
            <a:off x="1719072" y="4105656"/>
            <a:ext cx="7095744" cy="201168"/>
          </a:xfrm>
          <a:prstGeom prst="rect">
            <a:avLst/>
          </a:prstGeom>
          <a:noFill/>
          <a:ln/>
        </p:spPr>
        <p:txBody>
          <a:bodyPr wrap="square" rtlCol="0" anchor="ctr"/>
          <a:lstStyle/>
          <a:p>
            <a:pPr indent="0" marL="0">
              <a:buNone/>
            </a:pPr>
            <a:r>
              <a:rPr lang="en-US" sz="850" b="1" dirty="0">
                <a:solidFill>
                  <a:srgbClr val="00FF88"/>
                </a:solidFill>
                <a:latin typeface="Calibri" pitchFamily="34" charset="0"/>
                <a:ea typeface="Calibri" pitchFamily="34" charset="-122"/>
                <a:cs typeface="Calibri" pitchFamily="34" charset="-120"/>
              </a:rPr>
              <a:t>✓ SaaS customer manages only their data and user access — provider manages the application, runtime, OS, and hardware</a:t>
            </a:r>
            <a:endParaRPr lang="en-US" sz="850" dirty="0"/>
          </a:p>
        </p:txBody>
      </p:sp>
      <p:sp>
        <p:nvSpPr>
          <p:cNvPr id="49" name="Text 47"/>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B4F8A"/>
          </a:solidFill>
          <a:ln w="12700">
            <a:solidFill>
              <a:srgbClr val="1B4F8A"/>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1B4F8A">
              <a:alpha val="80000"/>
            </a:srgbClr>
          </a:solidFill>
          <a:ln w="12700">
            <a:solidFill>
              <a:srgbClr val="1B4F8A"/>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1</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Module 1 — Quick Quiz</a:t>
            </a:r>
            <a:endParaRPr lang="en-US" sz="1600" dirty="0"/>
          </a:p>
        </p:txBody>
      </p:sp>
      <p:sp>
        <p:nvSpPr>
          <p:cNvPr id="7" name="Shape 5"/>
          <p:cNvSpPr/>
          <p:nvPr/>
        </p:nvSpPr>
        <p:spPr>
          <a:xfrm>
            <a:off x="256032" y="530352"/>
            <a:ext cx="4160520" cy="1024128"/>
          </a:xfrm>
          <a:prstGeom prst="rect">
            <a:avLst/>
          </a:prstGeom>
          <a:solidFill>
            <a:srgbClr val="0A0A16"/>
          </a:solidFill>
          <a:ln w="12700">
            <a:solidFill>
              <a:srgbClr val="1B4F8A">
                <a:alpha val="60000"/>
              </a:srgbClr>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56032" y="530352"/>
            <a:ext cx="4160520" cy="36576"/>
          </a:xfrm>
          <a:prstGeom prst="rect">
            <a:avLst/>
          </a:prstGeom>
          <a:solidFill>
            <a:srgbClr val="1B4F8A"/>
          </a:solidFill>
          <a:ln w="12700">
            <a:solidFill>
              <a:srgbClr val="1B4F8A"/>
            </a:solidFill>
            <a:prstDash val="solid"/>
          </a:ln>
        </p:spPr>
      </p:sp>
      <p:sp>
        <p:nvSpPr>
          <p:cNvPr id="9" name="Text 7"/>
          <p:cNvSpPr/>
          <p:nvPr/>
        </p:nvSpPr>
        <p:spPr>
          <a:xfrm>
            <a:off x="329184" y="603504"/>
            <a:ext cx="256032" cy="274320"/>
          </a:xfrm>
          <a:prstGeom prst="rect">
            <a:avLst/>
          </a:prstGeom>
          <a:noFill/>
          <a:ln/>
        </p:spPr>
        <p:txBody>
          <a:bodyPr wrap="square" rtlCol="0" anchor="ctr"/>
          <a:lstStyle/>
          <a:p>
            <a:pPr indent="0" marL="0">
              <a:buNone/>
            </a:pPr>
            <a:r>
              <a:rPr lang="en-US" sz="1100" b="1" dirty="0">
                <a:solidFill>
                  <a:srgbClr val="1B4F8A"/>
                </a:solidFill>
                <a:latin typeface="Arial Black" pitchFamily="34" charset="0"/>
                <a:ea typeface="Arial Black" pitchFamily="34" charset="-122"/>
                <a:cs typeface="Arial Black" pitchFamily="34" charset="-120"/>
              </a:rPr>
              <a:t>Q</a:t>
            </a:r>
            <a:endParaRPr lang="en-US" sz="1100" dirty="0"/>
          </a:p>
        </p:txBody>
      </p:sp>
      <p:sp>
        <p:nvSpPr>
          <p:cNvPr id="10" name="Text 8"/>
          <p:cNvSpPr/>
          <p:nvPr/>
        </p:nvSpPr>
        <p:spPr>
          <a:xfrm>
            <a:off x="621792"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Which NIST characteristic allows you to stop an EC2 instance at midnight and stop paying?</a:t>
            </a:r>
            <a:endParaRPr lang="en-US" sz="1000" dirty="0"/>
          </a:p>
        </p:txBody>
      </p:sp>
      <p:sp>
        <p:nvSpPr>
          <p:cNvPr id="11" name="Shape 9"/>
          <p:cNvSpPr/>
          <p:nvPr/>
        </p:nvSpPr>
        <p:spPr>
          <a:xfrm>
            <a:off x="347472" y="987552"/>
            <a:ext cx="3977640" cy="36576"/>
          </a:xfrm>
          <a:prstGeom prst="rect">
            <a:avLst/>
          </a:prstGeom>
          <a:solidFill>
            <a:srgbClr val="1B4F8A">
              <a:alpha val="30000"/>
            </a:srgbClr>
          </a:solidFill>
          <a:ln w="12700">
            <a:solidFill>
              <a:srgbClr val="1B4F8A">
                <a:alpha val="30000"/>
              </a:srgbClr>
            </a:solidFill>
            <a:prstDash val="solid"/>
          </a:ln>
        </p:spPr>
      </p:sp>
      <p:sp>
        <p:nvSpPr>
          <p:cNvPr id="12" name="Text 10"/>
          <p:cNvSpPr/>
          <p:nvPr/>
        </p:nvSpPr>
        <p:spPr>
          <a:xfrm>
            <a:off x="347472" y="1060704"/>
            <a:ext cx="3977640" cy="402336"/>
          </a:xfrm>
          <a:prstGeom prst="rect">
            <a:avLst/>
          </a:prstGeom>
          <a:noFill/>
          <a:ln/>
        </p:spPr>
        <p:txBody>
          <a:bodyPr wrap="square" rtlCol="0" anchor="ctr"/>
          <a:lstStyle/>
          <a:p>
            <a:pPr indent="0" marL="0">
              <a:buNone/>
            </a:pPr>
            <a:r>
              <a:rPr lang="en-US" sz="950" dirty="0">
                <a:solidFill>
                  <a:srgbClr val="1B4F8A"/>
                </a:solidFill>
                <a:latin typeface="Calibri" pitchFamily="34" charset="0"/>
                <a:ea typeface="Calibri" pitchFamily="34" charset="-122"/>
                <a:cs typeface="Calibri" pitchFamily="34" charset="-120"/>
              </a:rPr>
              <a:t>A  Rapid Elasticity — scale resources up or down on demand, paying only for actual usage by the second</a:t>
            </a:r>
            <a:endParaRPr lang="en-US" sz="950" dirty="0"/>
          </a:p>
        </p:txBody>
      </p:sp>
      <p:sp>
        <p:nvSpPr>
          <p:cNvPr id="13" name="Shape 11"/>
          <p:cNvSpPr/>
          <p:nvPr/>
        </p:nvSpPr>
        <p:spPr>
          <a:xfrm>
            <a:off x="4727448" y="530352"/>
            <a:ext cx="4160520" cy="1024128"/>
          </a:xfrm>
          <a:prstGeom prst="rect">
            <a:avLst/>
          </a:prstGeom>
          <a:solidFill>
            <a:srgbClr val="0A0A16"/>
          </a:solidFill>
          <a:ln w="12700">
            <a:solidFill>
              <a:srgbClr val="1B4F8A">
                <a:alpha val="60000"/>
              </a:srgbClr>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727448" y="530352"/>
            <a:ext cx="4160520" cy="36576"/>
          </a:xfrm>
          <a:prstGeom prst="rect">
            <a:avLst/>
          </a:prstGeom>
          <a:solidFill>
            <a:srgbClr val="1B4F8A"/>
          </a:solidFill>
          <a:ln w="12700">
            <a:solidFill>
              <a:srgbClr val="1B4F8A"/>
            </a:solidFill>
            <a:prstDash val="solid"/>
          </a:ln>
        </p:spPr>
      </p:sp>
      <p:sp>
        <p:nvSpPr>
          <p:cNvPr id="15" name="Text 13"/>
          <p:cNvSpPr/>
          <p:nvPr/>
        </p:nvSpPr>
        <p:spPr>
          <a:xfrm>
            <a:off x="4800600" y="603504"/>
            <a:ext cx="256032" cy="274320"/>
          </a:xfrm>
          <a:prstGeom prst="rect">
            <a:avLst/>
          </a:prstGeom>
          <a:noFill/>
          <a:ln/>
        </p:spPr>
        <p:txBody>
          <a:bodyPr wrap="square" rtlCol="0" anchor="ctr"/>
          <a:lstStyle/>
          <a:p>
            <a:pPr indent="0" marL="0">
              <a:buNone/>
            </a:pPr>
            <a:r>
              <a:rPr lang="en-US" sz="1100" b="1" dirty="0">
                <a:solidFill>
                  <a:srgbClr val="1B4F8A"/>
                </a:solidFill>
                <a:latin typeface="Arial Black" pitchFamily="34" charset="0"/>
                <a:ea typeface="Arial Black" pitchFamily="34" charset="-122"/>
                <a:cs typeface="Arial Black" pitchFamily="34" charset="-120"/>
              </a:rPr>
              <a:t>Q</a:t>
            </a:r>
            <a:endParaRPr lang="en-US" sz="1100" dirty="0"/>
          </a:p>
        </p:txBody>
      </p:sp>
      <p:sp>
        <p:nvSpPr>
          <p:cNvPr id="16" name="Text 14"/>
          <p:cNvSpPr/>
          <p:nvPr/>
        </p:nvSpPr>
        <p:spPr>
          <a:xfrm>
            <a:off x="5093208"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A South African bank keeps its core banking on-premises but uses AWS for its customer app. Which deployment model is this?</a:t>
            </a:r>
            <a:endParaRPr lang="en-US" sz="1000" dirty="0"/>
          </a:p>
        </p:txBody>
      </p:sp>
      <p:sp>
        <p:nvSpPr>
          <p:cNvPr id="17" name="Shape 15"/>
          <p:cNvSpPr/>
          <p:nvPr/>
        </p:nvSpPr>
        <p:spPr>
          <a:xfrm>
            <a:off x="4818888" y="987552"/>
            <a:ext cx="3977640" cy="36576"/>
          </a:xfrm>
          <a:prstGeom prst="rect">
            <a:avLst/>
          </a:prstGeom>
          <a:solidFill>
            <a:srgbClr val="1B4F8A">
              <a:alpha val="30000"/>
            </a:srgbClr>
          </a:solidFill>
          <a:ln w="12700">
            <a:solidFill>
              <a:srgbClr val="1B4F8A">
                <a:alpha val="30000"/>
              </a:srgbClr>
            </a:solidFill>
            <a:prstDash val="solid"/>
          </a:ln>
        </p:spPr>
      </p:sp>
      <p:sp>
        <p:nvSpPr>
          <p:cNvPr id="18" name="Text 16"/>
          <p:cNvSpPr/>
          <p:nvPr/>
        </p:nvSpPr>
        <p:spPr>
          <a:xfrm>
            <a:off x="4818888" y="1060704"/>
            <a:ext cx="3977640" cy="402336"/>
          </a:xfrm>
          <a:prstGeom prst="rect">
            <a:avLst/>
          </a:prstGeom>
          <a:noFill/>
          <a:ln/>
        </p:spPr>
        <p:txBody>
          <a:bodyPr wrap="square" rtlCol="0" anchor="ctr"/>
          <a:lstStyle/>
          <a:p>
            <a:pPr indent="0" marL="0">
              <a:buNone/>
            </a:pPr>
            <a:r>
              <a:rPr lang="en-US" sz="950" dirty="0">
                <a:solidFill>
                  <a:srgbClr val="1B4F8A"/>
                </a:solidFill>
                <a:latin typeface="Calibri" pitchFamily="34" charset="0"/>
                <a:ea typeface="Calibri" pitchFamily="34" charset="-122"/>
                <a:cs typeface="Calibri" pitchFamily="34" charset="-120"/>
              </a:rPr>
              <a:t>A  Hybrid Cloud — combines private (on-premises) and public cloud, connected together</a:t>
            </a:r>
            <a:endParaRPr lang="en-US" sz="950" dirty="0"/>
          </a:p>
        </p:txBody>
      </p:sp>
      <p:sp>
        <p:nvSpPr>
          <p:cNvPr id="19" name="Shape 17"/>
          <p:cNvSpPr/>
          <p:nvPr/>
        </p:nvSpPr>
        <p:spPr>
          <a:xfrm>
            <a:off x="256032" y="1664208"/>
            <a:ext cx="4160520" cy="1024128"/>
          </a:xfrm>
          <a:prstGeom prst="rect">
            <a:avLst/>
          </a:prstGeom>
          <a:solidFill>
            <a:srgbClr val="0A0A16"/>
          </a:solidFill>
          <a:ln w="12700">
            <a:solidFill>
              <a:srgbClr val="1B4F8A">
                <a:alpha val="60000"/>
              </a:srgbClr>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56032" y="1664208"/>
            <a:ext cx="4160520" cy="36576"/>
          </a:xfrm>
          <a:prstGeom prst="rect">
            <a:avLst/>
          </a:prstGeom>
          <a:solidFill>
            <a:srgbClr val="1B4F8A"/>
          </a:solidFill>
          <a:ln w="12700">
            <a:solidFill>
              <a:srgbClr val="1B4F8A"/>
            </a:solidFill>
            <a:prstDash val="solid"/>
          </a:ln>
        </p:spPr>
      </p:sp>
      <p:sp>
        <p:nvSpPr>
          <p:cNvPr id="21" name="Text 19"/>
          <p:cNvSpPr/>
          <p:nvPr/>
        </p:nvSpPr>
        <p:spPr>
          <a:xfrm>
            <a:off x="329184" y="1737360"/>
            <a:ext cx="256032" cy="274320"/>
          </a:xfrm>
          <a:prstGeom prst="rect">
            <a:avLst/>
          </a:prstGeom>
          <a:noFill/>
          <a:ln/>
        </p:spPr>
        <p:txBody>
          <a:bodyPr wrap="square" rtlCol="0" anchor="ctr"/>
          <a:lstStyle/>
          <a:p>
            <a:pPr indent="0" marL="0">
              <a:buNone/>
            </a:pPr>
            <a:r>
              <a:rPr lang="en-US" sz="1100" b="1" dirty="0">
                <a:solidFill>
                  <a:srgbClr val="1B4F8A"/>
                </a:solidFill>
                <a:latin typeface="Arial Black" pitchFamily="34" charset="0"/>
                <a:ea typeface="Arial Black" pitchFamily="34" charset="-122"/>
                <a:cs typeface="Arial Black" pitchFamily="34" charset="-120"/>
              </a:rPr>
              <a:t>Q</a:t>
            </a:r>
            <a:endParaRPr lang="en-US" sz="1100" dirty="0"/>
          </a:p>
        </p:txBody>
      </p:sp>
      <p:sp>
        <p:nvSpPr>
          <p:cNvPr id="22" name="Text 20"/>
          <p:cNvSpPr/>
          <p:nvPr/>
        </p:nvSpPr>
        <p:spPr>
          <a:xfrm>
            <a:off x="621792"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does CapEx mean in traditional IT vs OpEx in cloud?</a:t>
            </a:r>
            <a:endParaRPr lang="en-US" sz="1000" dirty="0"/>
          </a:p>
        </p:txBody>
      </p:sp>
      <p:sp>
        <p:nvSpPr>
          <p:cNvPr id="23" name="Shape 21"/>
          <p:cNvSpPr/>
          <p:nvPr/>
        </p:nvSpPr>
        <p:spPr>
          <a:xfrm>
            <a:off x="347472" y="2121408"/>
            <a:ext cx="3977640" cy="36576"/>
          </a:xfrm>
          <a:prstGeom prst="rect">
            <a:avLst/>
          </a:prstGeom>
          <a:solidFill>
            <a:srgbClr val="1B4F8A">
              <a:alpha val="30000"/>
            </a:srgbClr>
          </a:solidFill>
          <a:ln w="12700">
            <a:solidFill>
              <a:srgbClr val="1B4F8A">
                <a:alpha val="30000"/>
              </a:srgbClr>
            </a:solidFill>
            <a:prstDash val="solid"/>
          </a:ln>
        </p:spPr>
      </p:sp>
      <p:sp>
        <p:nvSpPr>
          <p:cNvPr id="24" name="Text 22"/>
          <p:cNvSpPr/>
          <p:nvPr/>
        </p:nvSpPr>
        <p:spPr>
          <a:xfrm>
            <a:off x="347472" y="2194560"/>
            <a:ext cx="3977640" cy="402336"/>
          </a:xfrm>
          <a:prstGeom prst="rect">
            <a:avLst/>
          </a:prstGeom>
          <a:noFill/>
          <a:ln/>
        </p:spPr>
        <p:txBody>
          <a:bodyPr wrap="square" rtlCol="0" anchor="ctr"/>
          <a:lstStyle/>
          <a:p>
            <a:pPr indent="0" marL="0">
              <a:buNone/>
            </a:pPr>
            <a:r>
              <a:rPr lang="en-US" sz="950" dirty="0">
                <a:solidFill>
                  <a:srgbClr val="1B4F8A"/>
                </a:solidFill>
                <a:latin typeface="Calibri" pitchFamily="34" charset="0"/>
                <a:ea typeface="Calibri" pitchFamily="34" charset="-122"/>
                <a:cs typeface="Calibri" pitchFamily="34" charset="-120"/>
              </a:rPr>
              <a:t>A  CapEx = large upfront capital expenditure (buy servers). OpEx = ongoing operational expense (pay per use). Cloud eliminates the CapEx barrier for SA startups.</a:t>
            </a:r>
            <a:endParaRPr lang="en-US" sz="950" dirty="0"/>
          </a:p>
        </p:txBody>
      </p:sp>
      <p:sp>
        <p:nvSpPr>
          <p:cNvPr id="25" name="Shape 23"/>
          <p:cNvSpPr/>
          <p:nvPr/>
        </p:nvSpPr>
        <p:spPr>
          <a:xfrm>
            <a:off x="4727448" y="1664208"/>
            <a:ext cx="4160520" cy="1024128"/>
          </a:xfrm>
          <a:prstGeom prst="rect">
            <a:avLst/>
          </a:prstGeom>
          <a:solidFill>
            <a:srgbClr val="0A0A16"/>
          </a:solidFill>
          <a:ln w="12700">
            <a:solidFill>
              <a:srgbClr val="1B4F8A">
                <a:alpha val="60000"/>
              </a:srgbClr>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727448" y="1664208"/>
            <a:ext cx="4160520" cy="36576"/>
          </a:xfrm>
          <a:prstGeom prst="rect">
            <a:avLst/>
          </a:prstGeom>
          <a:solidFill>
            <a:srgbClr val="1B4F8A"/>
          </a:solidFill>
          <a:ln w="12700">
            <a:solidFill>
              <a:srgbClr val="1B4F8A"/>
            </a:solidFill>
            <a:prstDash val="solid"/>
          </a:ln>
        </p:spPr>
      </p:sp>
      <p:sp>
        <p:nvSpPr>
          <p:cNvPr id="27" name="Text 25"/>
          <p:cNvSpPr/>
          <p:nvPr/>
        </p:nvSpPr>
        <p:spPr>
          <a:xfrm>
            <a:off x="4800600" y="1737360"/>
            <a:ext cx="256032" cy="274320"/>
          </a:xfrm>
          <a:prstGeom prst="rect">
            <a:avLst/>
          </a:prstGeom>
          <a:noFill/>
          <a:ln/>
        </p:spPr>
        <p:txBody>
          <a:bodyPr wrap="square" rtlCol="0" anchor="ctr"/>
          <a:lstStyle/>
          <a:p>
            <a:pPr indent="0" marL="0">
              <a:buNone/>
            </a:pPr>
            <a:r>
              <a:rPr lang="en-US" sz="1100" b="1" dirty="0">
                <a:solidFill>
                  <a:srgbClr val="1B4F8A"/>
                </a:solidFill>
                <a:latin typeface="Arial Black" pitchFamily="34" charset="0"/>
                <a:ea typeface="Arial Black" pitchFamily="34" charset="-122"/>
                <a:cs typeface="Arial Black" pitchFamily="34" charset="-120"/>
              </a:rPr>
              <a:t>Q</a:t>
            </a:r>
            <a:endParaRPr lang="en-US" sz="1100" dirty="0"/>
          </a:p>
        </p:txBody>
      </p:sp>
      <p:sp>
        <p:nvSpPr>
          <p:cNvPr id="28" name="Text 26"/>
          <p:cNvSpPr/>
          <p:nvPr/>
        </p:nvSpPr>
        <p:spPr>
          <a:xfrm>
            <a:off x="5093208"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Which AWS region serves South Africa? Why does this matter for POPIA?</a:t>
            </a:r>
            <a:endParaRPr lang="en-US" sz="1000" dirty="0"/>
          </a:p>
        </p:txBody>
      </p:sp>
      <p:sp>
        <p:nvSpPr>
          <p:cNvPr id="29" name="Shape 27"/>
          <p:cNvSpPr/>
          <p:nvPr/>
        </p:nvSpPr>
        <p:spPr>
          <a:xfrm>
            <a:off x="4818888" y="2121408"/>
            <a:ext cx="3977640" cy="36576"/>
          </a:xfrm>
          <a:prstGeom prst="rect">
            <a:avLst/>
          </a:prstGeom>
          <a:solidFill>
            <a:srgbClr val="1B4F8A">
              <a:alpha val="30000"/>
            </a:srgbClr>
          </a:solidFill>
          <a:ln w="12700">
            <a:solidFill>
              <a:srgbClr val="1B4F8A">
                <a:alpha val="30000"/>
              </a:srgbClr>
            </a:solidFill>
            <a:prstDash val="solid"/>
          </a:ln>
        </p:spPr>
      </p:sp>
      <p:sp>
        <p:nvSpPr>
          <p:cNvPr id="30" name="Text 28"/>
          <p:cNvSpPr/>
          <p:nvPr/>
        </p:nvSpPr>
        <p:spPr>
          <a:xfrm>
            <a:off x="4818888" y="2194560"/>
            <a:ext cx="3977640" cy="402336"/>
          </a:xfrm>
          <a:prstGeom prst="rect">
            <a:avLst/>
          </a:prstGeom>
          <a:noFill/>
          <a:ln/>
        </p:spPr>
        <p:txBody>
          <a:bodyPr wrap="square" rtlCol="0" anchor="ctr"/>
          <a:lstStyle/>
          <a:p>
            <a:pPr indent="0" marL="0">
              <a:buNone/>
            </a:pPr>
            <a:r>
              <a:rPr lang="en-US" sz="950" dirty="0">
                <a:solidFill>
                  <a:srgbClr val="1B4F8A"/>
                </a:solidFill>
                <a:latin typeface="Calibri" pitchFamily="34" charset="0"/>
                <a:ea typeface="Calibri" pitchFamily="34" charset="-122"/>
                <a:cs typeface="Calibri" pitchFamily="34" charset="-120"/>
              </a:rPr>
              <a:t>A  AWS af-south-1 in Cape Town. POPIA requires SA customer personal data to stay in South African legal jurisdiction — using af-south-1 satisfies this requirement.</a:t>
            </a:r>
            <a:endParaRPr lang="en-US" sz="950" dirty="0"/>
          </a:p>
        </p:txBody>
      </p:sp>
      <p:sp>
        <p:nvSpPr>
          <p:cNvPr id="31" name="Shape 29"/>
          <p:cNvSpPr/>
          <p:nvPr/>
        </p:nvSpPr>
        <p:spPr>
          <a:xfrm>
            <a:off x="256032" y="2798064"/>
            <a:ext cx="4160520" cy="1024128"/>
          </a:xfrm>
          <a:prstGeom prst="rect">
            <a:avLst/>
          </a:prstGeom>
          <a:solidFill>
            <a:srgbClr val="0A0A16"/>
          </a:solidFill>
          <a:ln w="12700">
            <a:solidFill>
              <a:srgbClr val="1B4F8A">
                <a:alpha val="60000"/>
              </a:srgbClr>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256032" y="2798064"/>
            <a:ext cx="4160520" cy="36576"/>
          </a:xfrm>
          <a:prstGeom prst="rect">
            <a:avLst/>
          </a:prstGeom>
          <a:solidFill>
            <a:srgbClr val="1B4F8A"/>
          </a:solidFill>
          <a:ln w="12700">
            <a:solidFill>
              <a:srgbClr val="1B4F8A"/>
            </a:solidFill>
            <a:prstDash val="solid"/>
          </a:ln>
        </p:spPr>
      </p:sp>
      <p:sp>
        <p:nvSpPr>
          <p:cNvPr id="33" name="Text 31"/>
          <p:cNvSpPr/>
          <p:nvPr/>
        </p:nvSpPr>
        <p:spPr>
          <a:xfrm>
            <a:off x="329184" y="2871216"/>
            <a:ext cx="256032" cy="274320"/>
          </a:xfrm>
          <a:prstGeom prst="rect">
            <a:avLst/>
          </a:prstGeom>
          <a:noFill/>
          <a:ln/>
        </p:spPr>
        <p:txBody>
          <a:bodyPr wrap="square" rtlCol="0" anchor="ctr"/>
          <a:lstStyle/>
          <a:p>
            <a:pPr indent="0" marL="0">
              <a:buNone/>
            </a:pPr>
            <a:r>
              <a:rPr lang="en-US" sz="1100" b="1" dirty="0">
                <a:solidFill>
                  <a:srgbClr val="1B4F8A"/>
                </a:solidFill>
                <a:latin typeface="Arial Black" pitchFamily="34" charset="0"/>
                <a:ea typeface="Arial Black" pitchFamily="34" charset="-122"/>
                <a:cs typeface="Arial Black" pitchFamily="34" charset="-120"/>
              </a:rPr>
              <a:t>Q</a:t>
            </a:r>
            <a:endParaRPr lang="en-US" sz="1100" dirty="0"/>
          </a:p>
        </p:txBody>
      </p:sp>
      <p:sp>
        <p:nvSpPr>
          <p:cNvPr id="34" name="Text 32"/>
          <p:cNvSpPr/>
          <p:nvPr/>
        </p:nvSpPr>
        <p:spPr>
          <a:xfrm>
            <a:off x="621792"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With IaaS, who is responsible for patching the operating system?</a:t>
            </a:r>
            <a:endParaRPr lang="en-US" sz="1000" dirty="0"/>
          </a:p>
        </p:txBody>
      </p:sp>
      <p:sp>
        <p:nvSpPr>
          <p:cNvPr id="35" name="Shape 33"/>
          <p:cNvSpPr/>
          <p:nvPr/>
        </p:nvSpPr>
        <p:spPr>
          <a:xfrm>
            <a:off x="347472" y="3255264"/>
            <a:ext cx="3977640" cy="36576"/>
          </a:xfrm>
          <a:prstGeom prst="rect">
            <a:avLst/>
          </a:prstGeom>
          <a:solidFill>
            <a:srgbClr val="1B4F8A">
              <a:alpha val="30000"/>
            </a:srgbClr>
          </a:solidFill>
          <a:ln w="12700">
            <a:solidFill>
              <a:srgbClr val="1B4F8A">
                <a:alpha val="30000"/>
              </a:srgbClr>
            </a:solidFill>
            <a:prstDash val="solid"/>
          </a:ln>
        </p:spPr>
      </p:sp>
      <p:sp>
        <p:nvSpPr>
          <p:cNvPr id="36" name="Text 34"/>
          <p:cNvSpPr/>
          <p:nvPr/>
        </p:nvSpPr>
        <p:spPr>
          <a:xfrm>
            <a:off x="347472" y="3328416"/>
            <a:ext cx="3977640" cy="402336"/>
          </a:xfrm>
          <a:prstGeom prst="rect">
            <a:avLst/>
          </a:prstGeom>
          <a:noFill/>
          <a:ln/>
        </p:spPr>
        <p:txBody>
          <a:bodyPr wrap="square" rtlCol="0" anchor="ctr"/>
          <a:lstStyle/>
          <a:p>
            <a:pPr indent="0" marL="0">
              <a:buNone/>
            </a:pPr>
            <a:r>
              <a:rPr lang="en-US" sz="950" dirty="0">
                <a:solidFill>
                  <a:srgbClr val="1B4F8A"/>
                </a:solidFill>
                <a:latin typeface="Calibri" pitchFamily="34" charset="0"/>
                <a:ea typeface="Calibri" pitchFamily="34" charset="-122"/>
                <a:cs typeface="Calibri" pitchFamily="34" charset="-120"/>
              </a:rPr>
              <a:t>A  The CUSTOMER. IaaS (like EC2) gives you the virtual machine — you own everything from the OS upward including patching, security, and middleware.</a:t>
            </a:r>
            <a:endParaRPr lang="en-US" sz="950" dirty="0"/>
          </a:p>
        </p:txBody>
      </p:sp>
      <p:sp>
        <p:nvSpPr>
          <p:cNvPr id="37" name="Shape 35"/>
          <p:cNvSpPr/>
          <p:nvPr/>
        </p:nvSpPr>
        <p:spPr>
          <a:xfrm>
            <a:off x="4727448" y="2798064"/>
            <a:ext cx="4160520" cy="1024128"/>
          </a:xfrm>
          <a:prstGeom prst="rect">
            <a:avLst/>
          </a:prstGeom>
          <a:solidFill>
            <a:srgbClr val="0A0A16"/>
          </a:solidFill>
          <a:ln w="12700">
            <a:solidFill>
              <a:srgbClr val="1B4F8A">
                <a:alpha val="60000"/>
              </a:srgbClr>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4727448" y="2798064"/>
            <a:ext cx="4160520" cy="36576"/>
          </a:xfrm>
          <a:prstGeom prst="rect">
            <a:avLst/>
          </a:prstGeom>
          <a:solidFill>
            <a:srgbClr val="1B4F8A"/>
          </a:solidFill>
          <a:ln w="12700">
            <a:solidFill>
              <a:srgbClr val="1B4F8A"/>
            </a:solidFill>
            <a:prstDash val="solid"/>
          </a:ln>
        </p:spPr>
      </p:sp>
      <p:sp>
        <p:nvSpPr>
          <p:cNvPr id="39" name="Text 37"/>
          <p:cNvSpPr/>
          <p:nvPr/>
        </p:nvSpPr>
        <p:spPr>
          <a:xfrm>
            <a:off x="4800600" y="2871216"/>
            <a:ext cx="256032" cy="274320"/>
          </a:xfrm>
          <a:prstGeom prst="rect">
            <a:avLst/>
          </a:prstGeom>
          <a:noFill/>
          <a:ln/>
        </p:spPr>
        <p:txBody>
          <a:bodyPr wrap="square" rtlCol="0" anchor="ctr"/>
          <a:lstStyle/>
          <a:p>
            <a:pPr indent="0" marL="0">
              <a:buNone/>
            </a:pPr>
            <a:r>
              <a:rPr lang="en-US" sz="1100" b="1" dirty="0">
                <a:solidFill>
                  <a:srgbClr val="1B4F8A"/>
                </a:solidFill>
                <a:latin typeface="Arial Black" pitchFamily="34" charset="0"/>
                <a:ea typeface="Arial Black" pitchFamily="34" charset="-122"/>
                <a:cs typeface="Arial Black" pitchFamily="34" charset="-120"/>
              </a:rPr>
              <a:t>Q</a:t>
            </a:r>
            <a:endParaRPr lang="en-US" sz="1100" dirty="0"/>
          </a:p>
        </p:txBody>
      </p:sp>
      <p:sp>
        <p:nvSpPr>
          <p:cNvPr id="40" name="Text 38"/>
          <p:cNvSpPr/>
          <p:nvPr/>
        </p:nvSpPr>
        <p:spPr>
          <a:xfrm>
            <a:off x="5093208"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Name all 5 NIST cloud characteristics in order.</a:t>
            </a:r>
            <a:endParaRPr lang="en-US" sz="1000" dirty="0"/>
          </a:p>
        </p:txBody>
      </p:sp>
      <p:sp>
        <p:nvSpPr>
          <p:cNvPr id="41" name="Shape 39"/>
          <p:cNvSpPr/>
          <p:nvPr/>
        </p:nvSpPr>
        <p:spPr>
          <a:xfrm>
            <a:off x="4818888" y="3255264"/>
            <a:ext cx="3977640" cy="36576"/>
          </a:xfrm>
          <a:prstGeom prst="rect">
            <a:avLst/>
          </a:prstGeom>
          <a:solidFill>
            <a:srgbClr val="1B4F8A">
              <a:alpha val="30000"/>
            </a:srgbClr>
          </a:solidFill>
          <a:ln w="12700">
            <a:solidFill>
              <a:srgbClr val="1B4F8A">
                <a:alpha val="30000"/>
              </a:srgbClr>
            </a:solidFill>
            <a:prstDash val="solid"/>
          </a:ln>
        </p:spPr>
      </p:sp>
      <p:sp>
        <p:nvSpPr>
          <p:cNvPr id="42" name="Text 40"/>
          <p:cNvSpPr/>
          <p:nvPr/>
        </p:nvSpPr>
        <p:spPr>
          <a:xfrm>
            <a:off x="4818888" y="3328416"/>
            <a:ext cx="3977640" cy="402336"/>
          </a:xfrm>
          <a:prstGeom prst="rect">
            <a:avLst/>
          </a:prstGeom>
          <a:noFill/>
          <a:ln/>
        </p:spPr>
        <p:txBody>
          <a:bodyPr wrap="square" rtlCol="0" anchor="ctr"/>
          <a:lstStyle/>
          <a:p>
            <a:pPr indent="0" marL="0">
              <a:buNone/>
            </a:pPr>
            <a:r>
              <a:rPr lang="en-US" sz="950" dirty="0">
                <a:solidFill>
                  <a:srgbClr val="1B4F8A"/>
                </a:solidFill>
                <a:latin typeface="Calibri" pitchFamily="34" charset="0"/>
                <a:ea typeface="Calibri" pitchFamily="34" charset="-122"/>
                <a:cs typeface="Calibri" pitchFamily="34" charset="-120"/>
              </a:rPr>
              <a:t>A  On-Demand Self-Service · Broad Network Access · Resource Pooling · Rapid Elasticity · Measured Service</a:t>
            </a:r>
            <a:endParaRPr lang="en-US" sz="950" dirty="0"/>
          </a:p>
        </p:txBody>
      </p:sp>
      <p:sp>
        <p:nvSpPr>
          <p:cNvPr id="43" name="Text 41"/>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F6E56"/>
          </a:solidFill>
          <a:ln w="12700">
            <a:solidFill>
              <a:srgbClr val="0F6E56"/>
            </a:solidFill>
            <a:prstDash val="solid"/>
          </a:ln>
        </p:spPr>
      </p:sp>
      <p:sp>
        <p:nvSpPr>
          <p:cNvPr id="3" name="Shape 1"/>
          <p:cNvSpPr/>
          <p:nvPr/>
        </p:nvSpPr>
        <p:spPr>
          <a:xfrm>
            <a:off x="73152" y="0"/>
            <a:ext cx="9070848" cy="36576"/>
          </a:xfrm>
          <a:prstGeom prst="rect">
            <a:avLst/>
          </a:prstGeom>
          <a:solidFill>
            <a:srgbClr val="0F6E56"/>
          </a:solidFill>
          <a:ln w="12700">
            <a:solidFill>
              <a:srgbClr val="0F6E56"/>
            </a:solidFill>
            <a:prstDash val="solid"/>
          </a:ln>
        </p:spPr>
      </p:sp>
      <p:sp>
        <p:nvSpPr>
          <p:cNvPr id="4" name="Shape 2"/>
          <p:cNvSpPr/>
          <p:nvPr/>
        </p:nvSpPr>
        <p:spPr>
          <a:xfrm>
            <a:off x="0" y="5106924"/>
            <a:ext cx="9144000" cy="36576"/>
          </a:xfrm>
          <a:prstGeom prst="rect">
            <a:avLst/>
          </a:prstGeom>
          <a:solidFill>
            <a:srgbClr val="D4AF37"/>
          </a:solidFill>
          <a:ln w="12700">
            <a:solidFill>
              <a:srgbClr val="D4AF37"/>
            </a:solidFill>
            <a:prstDash val="solid"/>
          </a:ln>
        </p:spPr>
      </p:sp>
      <p:sp>
        <p:nvSpPr>
          <p:cNvPr id="5" name="Text 3"/>
          <p:cNvSpPr/>
          <p:nvPr/>
        </p:nvSpPr>
        <p:spPr>
          <a:xfrm>
            <a:off x="274320" y="274320"/>
            <a:ext cx="2560320" cy="2011680"/>
          </a:xfrm>
          <a:prstGeom prst="rect">
            <a:avLst/>
          </a:prstGeom>
          <a:noFill/>
          <a:ln/>
        </p:spPr>
        <p:txBody>
          <a:bodyPr wrap="square" rtlCol="0" anchor="ctr"/>
          <a:lstStyle/>
          <a:p>
            <a:pPr indent="0" marL="0">
              <a:buNone/>
            </a:pPr>
            <a:r>
              <a:rPr lang="en-US" sz="14000" b="1" dirty="0">
                <a:solidFill>
                  <a:srgbClr val="0F6E56">
                    <a:alpha val="25000"/>
                  </a:srgbClr>
                </a:solidFill>
                <a:latin typeface="Arial Black" pitchFamily="34" charset="0"/>
                <a:ea typeface="Arial Black" pitchFamily="34" charset="-122"/>
                <a:cs typeface="Arial Black" pitchFamily="34" charset="-120"/>
              </a:rPr>
              <a:t>02</a:t>
            </a:r>
            <a:endParaRPr lang="en-US" sz="14000" dirty="0"/>
          </a:p>
        </p:txBody>
      </p:sp>
      <p:sp>
        <p:nvSpPr>
          <p:cNvPr id="6" name="Text 4"/>
          <p:cNvSpPr/>
          <p:nvPr/>
        </p:nvSpPr>
        <p:spPr>
          <a:xfrm>
            <a:off x="2926080" y="822960"/>
            <a:ext cx="5943600" cy="347472"/>
          </a:xfrm>
          <a:prstGeom prst="rect">
            <a:avLst/>
          </a:prstGeom>
          <a:noFill/>
          <a:ln/>
        </p:spPr>
        <p:txBody>
          <a:bodyPr wrap="square" rtlCol="0" anchor="ctr"/>
          <a:lstStyle/>
          <a:p>
            <a:pPr indent="0" marL="0">
              <a:buNone/>
            </a:pPr>
            <a:r>
              <a:rPr lang="en-US" sz="1200" b="1" spc="300" kern="0" dirty="0">
                <a:solidFill>
                  <a:srgbClr val="0F6E56"/>
                </a:solidFill>
                <a:latin typeface="Calibri" pitchFamily="34" charset="0"/>
                <a:ea typeface="Calibri" pitchFamily="34" charset="-122"/>
                <a:cs typeface="Calibri" pitchFamily="34" charset="-120"/>
              </a:rPr>
              <a:t>MODULE 2</a:t>
            </a:r>
            <a:endParaRPr lang="en-US" sz="1200" dirty="0"/>
          </a:p>
        </p:txBody>
      </p:sp>
      <p:sp>
        <p:nvSpPr>
          <p:cNvPr id="7" name="Text 5"/>
          <p:cNvSpPr/>
          <p:nvPr/>
        </p:nvSpPr>
        <p:spPr>
          <a:xfrm>
            <a:off x="2926080" y="1234440"/>
            <a:ext cx="5943600" cy="640080"/>
          </a:xfrm>
          <a:prstGeom prst="rect">
            <a:avLst/>
          </a:prstGeom>
          <a:noFill/>
          <a:ln/>
        </p:spPr>
        <p:txBody>
          <a:bodyPr wrap="square" rtlCol="0" anchor="ctr"/>
          <a:lstStyle/>
          <a:p>
            <a:pPr indent="0" marL="0">
              <a:buNone/>
            </a:pPr>
            <a:r>
              <a:rPr lang="en-US" sz="3400" b="1" dirty="0">
                <a:solidFill>
                  <a:srgbClr val="F0F4FF"/>
                </a:solidFill>
                <a:latin typeface="Calibri" pitchFamily="34" charset="0"/>
                <a:ea typeface="Calibri" pitchFamily="34" charset="-122"/>
                <a:cs typeface="Calibri" pitchFamily="34" charset="-120"/>
              </a:rPr>
              <a:t>Linux Essentials</a:t>
            </a:r>
            <a:endParaRPr lang="en-US" sz="3400" dirty="0"/>
          </a:p>
        </p:txBody>
      </p:sp>
      <p:sp>
        <p:nvSpPr>
          <p:cNvPr id="8" name="Text 6"/>
          <p:cNvSpPr/>
          <p:nvPr/>
        </p:nvSpPr>
        <p:spPr>
          <a:xfrm>
            <a:off x="2926080" y="1901952"/>
            <a:ext cx="5943600" cy="438912"/>
          </a:xfrm>
          <a:prstGeom prst="rect">
            <a:avLst/>
          </a:prstGeom>
          <a:noFill/>
          <a:ln/>
        </p:spPr>
        <p:txBody>
          <a:bodyPr wrap="square" rtlCol="0" anchor="ctr"/>
          <a:lstStyle/>
          <a:p>
            <a:pPr indent="0" marL="0">
              <a:buNone/>
            </a:pPr>
            <a:r>
              <a:rPr lang="en-US" sz="1800" i="1" dirty="0">
                <a:solidFill>
                  <a:srgbClr val="0F6E56"/>
                </a:solidFill>
                <a:latin typeface="Calibri" pitchFamily="34" charset="0"/>
                <a:ea typeface="Calibri" pitchFamily="34" charset="-122"/>
                <a:cs typeface="Calibri" pitchFamily="34" charset="-120"/>
              </a:rPr>
              <a:t>Navigation · Permissions · Pipes · Bash scripting · nginx</a:t>
            </a:r>
            <a:endParaRPr lang="en-US" sz="1800" dirty="0"/>
          </a:p>
        </p:txBody>
      </p:sp>
      <p:sp>
        <p:nvSpPr>
          <p:cNvPr id="9" name="Text 7"/>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Deck</a:t>
            </a:r>
            <a:endParaRPr lang="en-US" sz="900" dirty="0"/>
          </a:p>
        </p:txBody>
      </p:sp>
      <p:sp>
        <p:nvSpPr>
          <p:cNvPr id="10" name="Shape 8"/>
          <p:cNvSpPr/>
          <p:nvPr/>
        </p:nvSpPr>
        <p:spPr>
          <a:xfrm>
            <a:off x="2926080" y="2468880"/>
            <a:ext cx="54864" cy="274320"/>
          </a:xfrm>
          <a:prstGeom prst="rect">
            <a:avLst/>
          </a:prstGeom>
          <a:solidFill>
            <a:srgbClr val="0F6E56"/>
          </a:solidFill>
          <a:ln w="12700">
            <a:solidFill>
              <a:srgbClr val="0F6E56"/>
            </a:solidFill>
            <a:prstDash val="solid"/>
          </a:ln>
        </p:spPr>
      </p:sp>
      <p:sp>
        <p:nvSpPr>
          <p:cNvPr id="11" name="Text 9"/>
          <p:cNvSpPr/>
          <p:nvPr/>
        </p:nvSpPr>
        <p:spPr>
          <a:xfrm>
            <a:off x="3090672" y="246888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pwd / ls -la / cd / cat / less / tail -f — know every flag</a:t>
            </a:r>
            <a:endParaRPr lang="en-US" sz="1000" dirty="0"/>
          </a:p>
        </p:txBody>
      </p:sp>
      <p:sp>
        <p:nvSpPr>
          <p:cNvPr id="12" name="Shape 10"/>
          <p:cNvSpPr/>
          <p:nvPr/>
        </p:nvSpPr>
        <p:spPr>
          <a:xfrm>
            <a:off x="2926080" y="2816352"/>
            <a:ext cx="54864" cy="274320"/>
          </a:xfrm>
          <a:prstGeom prst="rect">
            <a:avLst/>
          </a:prstGeom>
          <a:solidFill>
            <a:srgbClr val="0F6E56"/>
          </a:solidFill>
          <a:ln w="12700">
            <a:solidFill>
              <a:srgbClr val="0F6E56"/>
            </a:solidFill>
            <a:prstDash val="solid"/>
          </a:ln>
        </p:spPr>
      </p:sp>
      <p:sp>
        <p:nvSpPr>
          <p:cNvPr id="13" name="Text 11"/>
          <p:cNvSpPr/>
          <p:nvPr/>
        </p:nvSpPr>
        <p:spPr>
          <a:xfrm>
            <a:off x="3090672" y="2816352"/>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chmod octal: 7=rwx, 6=rw-, 5=r-x, 4=r--</a:t>
            </a:r>
            <a:endParaRPr lang="en-US" sz="1000" dirty="0"/>
          </a:p>
        </p:txBody>
      </p:sp>
      <p:sp>
        <p:nvSpPr>
          <p:cNvPr id="14" name="Shape 12"/>
          <p:cNvSpPr/>
          <p:nvPr/>
        </p:nvSpPr>
        <p:spPr>
          <a:xfrm>
            <a:off x="2926080" y="3163824"/>
            <a:ext cx="54864" cy="274320"/>
          </a:xfrm>
          <a:prstGeom prst="rect">
            <a:avLst/>
          </a:prstGeom>
          <a:solidFill>
            <a:srgbClr val="0F6E56"/>
          </a:solidFill>
          <a:ln w="12700">
            <a:solidFill>
              <a:srgbClr val="0F6E56"/>
            </a:solidFill>
            <a:prstDash val="solid"/>
          </a:ln>
        </p:spPr>
      </p:sp>
      <p:sp>
        <p:nvSpPr>
          <p:cNvPr id="15" name="Text 13"/>
          <p:cNvSpPr/>
          <p:nvPr/>
        </p:nvSpPr>
        <p:spPr>
          <a:xfrm>
            <a:off x="3090672" y="3163824"/>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chown user:group file — change ownership</a:t>
            </a:r>
            <a:endParaRPr lang="en-US" sz="1000" dirty="0"/>
          </a:p>
        </p:txBody>
      </p:sp>
      <p:sp>
        <p:nvSpPr>
          <p:cNvPr id="16" name="Shape 14"/>
          <p:cNvSpPr/>
          <p:nvPr/>
        </p:nvSpPr>
        <p:spPr>
          <a:xfrm>
            <a:off x="2926080" y="3511296"/>
            <a:ext cx="54864" cy="274320"/>
          </a:xfrm>
          <a:prstGeom prst="rect">
            <a:avLst/>
          </a:prstGeom>
          <a:solidFill>
            <a:srgbClr val="0F6E56"/>
          </a:solidFill>
          <a:ln w="12700">
            <a:solidFill>
              <a:srgbClr val="0F6E56"/>
            </a:solidFill>
            <a:prstDash val="solid"/>
          </a:ln>
        </p:spPr>
      </p:sp>
      <p:sp>
        <p:nvSpPr>
          <p:cNvPr id="17" name="Text 15"/>
          <p:cNvSpPr/>
          <p:nvPr/>
        </p:nvSpPr>
        <p:spPr>
          <a:xfrm>
            <a:off x="3090672" y="3511296"/>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apt update &amp;&amp; apt install — package management</a:t>
            </a:r>
            <a:endParaRPr lang="en-US" sz="1000" dirty="0"/>
          </a:p>
        </p:txBody>
      </p:sp>
      <p:sp>
        <p:nvSpPr>
          <p:cNvPr id="18" name="Shape 16"/>
          <p:cNvSpPr/>
          <p:nvPr/>
        </p:nvSpPr>
        <p:spPr>
          <a:xfrm>
            <a:off x="2926080" y="3858768"/>
            <a:ext cx="54864" cy="274320"/>
          </a:xfrm>
          <a:prstGeom prst="rect">
            <a:avLst/>
          </a:prstGeom>
          <a:solidFill>
            <a:srgbClr val="0F6E56"/>
          </a:solidFill>
          <a:ln w="12700">
            <a:solidFill>
              <a:srgbClr val="0F6E56"/>
            </a:solidFill>
            <a:prstDash val="solid"/>
          </a:ln>
        </p:spPr>
      </p:sp>
      <p:sp>
        <p:nvSpPr>
          <p:cNvPr id="19" name="Text 17"/>
          <p:cNvSpPr/>
          <p:nvPr/>
        </p:nvSpPr>
        <p:spPr>
          <a:xfrm>
            <a:off x="3090672" y="3858768"/>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Pipe | · Redirect &gt; · Append &gt;&gt; · Stderr 2&gt;</a:t>
            </a:r>
            <a:endParaRPr lang="en-US" sz="1000" dirty="0"/>
          </a:p>
        </p:txBody>
      </p:sp>
      <p:sp>
        <p:nvSpPr>
          <p:cNvPr id="20" name="Shape 18"/>
          <p:cNvSpPr/>
          <p:nvPr/>
        </p:nvSpPr>
        <p:spPr>
          <a:xfrm>
            <a:off x="2926080" y="4206240"/>
            <a:ext cx="54864" cy="274320"/>
          </a:xfrm>
          <a:prstGeom prst="rect">
            <a:avLst/>
          </a:prstGeom>
          <a:solidFill>
            <a:srgbClr val="0F6E56"/>
          </a:solidFill>
          <a:ln w="12700">
            <a:solidFill>
              <a:srgbClr val="0F6E56"/>
            </a:solidFill>
            <a:prstDash val="solid"/>
          </a:ln>
        </p:spPr>
      </p:sp>
      <p:sp>
        <p:nvSpPr>
          <p:cNvPr id="21" name="Text 19"/>
          <p:cNvSpPr/>
          <p:nvPr/>
        </p:nvSpPr>
        <p:spPr>
          <a:xfrm>
            <a:off x="3090672" y="420624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#!/bin/bash shebang · $() command substitution · if/fi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F6E56"/>
          </a:solidFill>
          <a:ln w="12700">
            <a:solidFill>
              <a:srgbClr val="0F6E56"/>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0F6E56">
              <a:alpha val="80000"/>
            </a:srgbClr>
          </a:solidFill>
          <a:ln w="12700">
            <a:solidFill>
              <a:srgbClr val="0F6E56"/>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2</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Linux Permissions &amp; Essential Commands</a:t>
            </a:r>
            <a:endParaRPr lang="en-US" sz="1600" dirty="0"/>
          </a:p>
        </p:txBody>
      </p:sp>
      <p:sp>
        <p:nvSpPr>
          <p:cNvPr id="7" name="Shape 5"/>
          <p:cNvSpPr/>
          <p:nvPr/>
        </p:nvSpPr>
        <p:spPr>
          <a:xfrm>
            <a:off x="256032" y="530352"/>
            <a:ext cx="713232" cy="502920"/>
          </a:xfrm>
          <a:prstGeom prst="rect">
            <a:avLst/>
          </a:prstGeom>
          <a:solidFill>
            <a:srgbClr val="111820"/>
          </a:solidFill>
          <a:ln w="12700">
            <a:solidFill>
              <a:srgbClr val="888888">
                <a:alpha val="20000"/>
              </a:srgbClr>
            </a:solidFill>
            <a:prstDash val="solid"/>
          </a:ln>
        </p:spPr>
      </p:sp>
      <p:sp>
        <p:nvSpPr>
          <p:cNvPr id="8" name="Text 6"/>
          <p:cNvSpPr/>
          <p:nvPr/>
        </p:nvSpPr>
        <p:spPr>
          <a:xfrm>
            <a:off x="256032" y="530352"/>
            <a:ext cx="713232" cy="502920"/>
          </a:xfrm>
          <a:prstGeom prst="rect">
            <a:avLst/>
          </a:prstGeom>
          <a:noFill/>
          <a:ln/>
        </p:spPr>
        <p:txBody>
          <a:bodyPr wrap="square" rtlCol="0" anchor="ctr"/>
          <a:lstStyle/>
          <a:p>
            <a:pPr algn="ctr" indent="0" marL="0">
              <a:buNone/>
            </a:pPr>
            <a:r>
              <a:rPr lang="en-US" sz="2200" b="1" dirty="0">
                <a:solidFill>
                  <a:srgbClr val="334466"/>
                </a:solidFill>
                <a:latin typeface="Courier New" pitchFamily="34" charset="0"/>
                <a:ea typeface="Courier New" pitchFamily="34" charset="-122"/>
                <a:cs typeface="Courier New" pitchFamily="34" charset="-120"/>
              </a:rPr>
              <a:t>-</a:t>
            </a:r>
            <a:endParaRPr lang="en-US" sz="2200" dirty="0"/>
          </a:p>
        </p:txBody>
      </p:sp>
      <p:sp>
        <p:nvSpPr>
          <p:cNvPr id="9" name="Shape 7"/>
          <p:cNvSpPr/>
          <p:nvPr/>
        </p:nvSpPr>
        <p:spPr>
          <a:xfrm>
            <a:off x="1078992" y="530352"/>
            <a:ext cx="713232" cy="502920"/>
          </a:xfrm>
          <a:prstGeom prst="rect">
            <a:avLst/>
          </a:prstGeom>
          <a:solidFill>
            <a:srgbClr val="111820"/>
          </a:solidFill>
          <a:ln w="12700">
            <a:solidFill>
              <a:srgbClr val="00FF88">
                <a:alpha val="80000"/>
              </a:srgbClr>
            </a:solidFill>
            <a:prstDash val="solid"/>
          </a:ln>
        </p:spPr>
      </p:sp>
      <p:sp>
        <p:nvSpPr>
          <p:cNvPr id="10" name="Text 8"/>
          <p:cNvSpPr/>
          <p:nvPr/>
        </p:nvSpPr>
        <p:spPr>
          <a:xfrm>
            <a:off x="1078992" y="530352"/>
            <a:ext cx="713232" cy="502920"/>
          </a:xfrm>
          <a:prstGeom prst="rect">
            <a:avLst/>
          </a:prstGeom>
          <a:noFill/>
          <a:ln/>
        </p:spPr>
        <p:txBody>
          <a:bodyPr wrap="square" rtlCol="0" anchor="ctr"/>
          <a:lstStyle/>
          <a:p>
            <a:pPr algn="ctr" indent="0" marL="0">
              <a:buNone/>
            </a:pPr>
            <a:r>
              <a:rPr lang="en-US" sz="2200" b="1" dirty="0">
                <a:solidFill>
                  <a:srgbClr val="00FF88"/>
                </a:solidFill>
                <a:latin typeface="Courier New" pitchFamily="34" charset="0"/>
                <a:ea typeface="Courier New" pitchFamily="34" charset="-122"/>
                <a:cs typeface="Courier New" pitchFamily="34" charset="-120"/>
              </a:rPr>
              <a:t>r</a:t>
            </a:r>
            <a:endParaRPr lang="en-US" sz="2200" dirty="0"/>
          </a:p>
        </p:txBody>
      </p:sp>
      <p:sp>
        <p:nvSpPr>
          <p:cNvPr id="11" name="Shape 9"/>
          <p:cNvSpPr/>
          <p:nvPr/>
        </p:nvSpPr>
        <p:spPr>
          <a:xfrm>
            <a:off x="1901952" y="530352"/>
            <a:ext cx="713232" cy="502920"/>
          </a:xfrm>
          <a:prstGeom prst="rect">
            <a:avLst/>
          </a:prstGeom>
          <a:solidFill>
            <a:srgbClr val="111820"/>
          </a:solidFill>
          <a:ln w="12700">
            <a:solidFill>
              <a:srgbClr val="00FF88">
                <a:alpha val="80000"/>
              </a:srgbClr>
            </a:solidFill>
            <a:prstDash val="solid"/>
          </a:ln>
        </p:spPr>
      </p:sp>
      <p:sp>
        <p:nvSpPr>
          <p:cNvPr id="12" name="Text 10"/>
          <p:cNvSpPr/>
          <p:nvPr/>
        </p:nvSpPr>
        <p:spPr>
          <a:xfrm>
            <a:off x="1901952" y="530352"/>
            <a:ext cx="713232" cy="502920"/>
          </a:xfrm>
          <a:prstGeom prst="rect">
            <a:avLst/>
          </a:prstGeom>
          <a:noFill/>
          <a:ln/>
        </p:spPr>
        <p:txBody>
          <a:bodyPr wrap="square" rtlCol="0" anchor="ctr"/>
          <a:lstStyle/>
          <a:p>
            <a:pPr algn="ctr" indent="0" marL="0">
              <a:buNone/>
            </a:pPr>
            <a:r>
              <a:rPr lang="en-US" sz="2200" b="1" dirty="0">
                <a:solidFill>
                  <a:srgbClr val="00FF88"/>
                </a:solidFill>
                <a:latin typeface="Courier New" pitchFamily="34" charset="0"/>
                <a:ea typeface="Courier New" pitchFamily="34" charset="-122"/>
                <a:cs typeface="Courier New" pitchFamily="34" charset="-120"/>
              </a:rPr>
              <a:t>w</a:t>
            </a:r>
            <a:endParaRPr lang="en-US" sz="2200" dirty="0"/>
          </a:p>
        </p:txBody>
      </p:sp>
      <p:sp>
        <p:nvSpPr>
          <p:cNvPr id="13" name="Shape 11"/>
          <p:cNvSpPr/>
          <p:nvPr/>
        </p:nvSpPr>
        <p:spPr>
          <a:xfrm>
            <a:off x="2724912" y="530352"/>
            <a:ext cx="713232" cy="502920"/>
          </a:xfrm>
          <a:prstGeom prst="rect">
            <a:avLst/>
          </a:prstGeom>
          <a:solidFill>
            <a:srgbClr val="111820"/>
          </a:solidFill>
          <a:ln w="12700">
            <a:solidFill>
              <a:srgbClr val="00FF88">
                <a:alpha val="80000"/>
              </a:srgbClr>
            </a:solidFill>
            <a:prstDash val="solid"/>
          </a:ln>
        </p:spPr>
      </p:sp>
      <p:sp>
        <p:nvSpPr>
          <p:cNvPr id="14" name="Text 12"/>
          <p:cNvSpPr/>
          <p:nvPr/>
        </p:nvSpPr>
        <p:spPr>
          <a:xfrm>
            <a:off x="2724912" y="530352"/>
            <a:ext cx="713232" cy="502920"/>
          </a:xfrm>
          <a:prstGeom prst="rect">
            <a:avLst/>
          </a:prstGeom>
          <a:noFill/>
          <a:ln/>
        </p:spPr>
        <p:txBody>
          <a:bodyPr wrap="square" rtlCol="0" anchor="ctr"/>
          <a:lstStyle/>
          <a:p>
            <a:pPr algn="ctr" indent="0" marL="0">
              <a:buNone/>
            </a:pPr>
            <a:r>
              <a:rPr lang="en-US" sz="2200" b="1" dirty="0">
                <a:solidFill>
                  <a:srgbClr val="00FF88"/>
                </a:solidFill>
                <a:latin typeface="Courier New" pitchFamily="34" charset="0"/>
                <a:ea typeface="Courier New" pitchFamily="34" charset="-122"/>
                <a:cs typeface="Courier New" pitchFamily="34" charset="-120"/>
              </a:rPr>
              <a:t>x</a:t>
            </a:r>
            <a:endParaRPr lang="en-US" sz="2200" dirty="0"/>
          </a:p>
        </p:txBody>
      </p:sp>
      <p:sp>
        <p:nvSpPr>
          <p:cNvPr id="15" name="Shape 13"/>
          <p:cNvSpPr/>
          <p:nvPr/>
        </p:nvSpPr>
        <p:spPr>
          <a:xfrm>
            <a:off x="3547872" y="530352"/>
            <a:ext cx="713232" cy="502920"/>
          </a:xfrm>
          <a:prstGeom prst="rect">
            <a:avLst/>
          </a:prstGeom>
          <a:solidFill>
            <a:srgbClr val="111820"/>
          </a:solidFill>
          <a:ln w="12700">
            <a:solidFill>
              <a:srgbClr val="00D4FF">
                <a:alpha val="80000"/>
              </a:srgbClr>
            </a:solidFill>
            <a:prstDash val="solid"/>
          </a:ln>
        </p:spPr>
      </p:sp>
      <p:sp>
        <p:nvSpPr>
          <p:cNvPr id="16" name="Text 14"/>
          <p:cNvSpPr/>
          <p:nvPr/>
        </p:nvSpPr>
        <p:spPr>
          <a:xfrm>
            <a:off x="3547872" y="530352"/>
            <a:ext cx="713232" cy="502920"/>
          </a:xfrm>
          <a:prstGeom prst="rect">
            <a:avLst/>
          </a:prstGeom>
          <a:noFill/>
          <a:ln/>
        </p:spPr>
        <p:txBody>
          <a:bodyPr wrap="square" rtlCol="0" anchor="ctr"/>
          <a:lstStyle/>
          <a:p>
            <a:pPr algn="ctr" indent="0" marL="0">
              <a:buNone/>
            </a:pPr>
            <a:r>
              <a:rPr lang="en-US" sz="2200" b="1" dirty="0">
                <a:solidFill>
                  <a:srgbClr val="00D4FF"/>
                </a:solidFill>
                <a:latin typeface="Courier New" pitchFamily="34" charset="0"/>
                <a:ea typeface="Courier New" pitchFamily="34" charset="-122"/>
                <a:cs typeface="Courier New" pitchFamily="34" charset="-120"/>
              </a:rPr>
              <a:t>r</a:t>
            </a:r>
            <a:endParaRPr lang="en-US" sz="2200" dirty="0"/>
          </a:p>
        </p:txBody>
      </p:sp>
      <p:sp>
        <p:nvSpPr>
          <p:cNvPr id="17" name="Shape 15"/>
          <p:cNvSpPr/>
          <p:nvPr/>
        </p:nvSpPr>
        <p:spPr>
          <a:xfrm>
            <a:off x="4370832" y="530352"/>
            <a:ext cx="713232" cy="502920"/>
          </a:xfrm>
          <a:prstGeom prst="rect">
            <a:avLst/>
          </a:prstGeom>
          <a:solidFill>
            <a:srgbClr val="111820"/>
          </a:solidFill>
          <a:ln w="12700">
            <a:solidFill>
              <a:srgbClr val="334466">
                <a:alpha val="20000"/>
              </a:srgbClr>
            </a:solidFill>
            <a:prstDash val="solid"/>
          </a:ln>
        </p:spPr>
      </p:sp>
      <p:sp>
        <p:nvSpPr>
          <p:cNvPr id="18" name="Text 16"/>
          <p:cNvSpPr/>
          <p:nvPr/>
        </p:nvSpPr>
        <p:spPr>
          <a:xfrm>
            <a:off x="4370832" y="530352"/>
            <a:ext cx="713232" cy="502920"/>
          </a:xfrm>
          <a:prstGeom prst="rect">
            <a:avLst/>
          </a:prstGeom>
          <a:noFill/>
          <a:ln/>
        </p:spPr>
        <p:txBody>
          <a:bodyPr wrap="square" rtlCol="0" anchor="ctr"/>
          <a:lstStyle/>
          <a:p>
            <a:pPr algn="ctr" indent="0" marL="0">
              <a:buNone/>
            </a:pPr>
            <a:r>
              <a:rPr lang="en-US" sz="2200" b="1" dirty="0">
                <a:solidFill>
                  <a:srgbClr val="334466"/>
                </a:solidFill>
                <a:latin typeface="Courier New" pitchFamily="34" charset="0"/>
                <a:ea typeface="Courier New" pitchFamily="34" charset="-122"/>
                <a:cs typeface="Courier New" pitchFamily="34" charset="-120"/>
              </a:rPr>
              <a:t>-</a:t>
            </a:r>
            <a:endParaRPr lang="en-US" sz="2200" dirty="0"/>
          </a:p>
        </p:txBody>
      </p:sp>
      <p:sp>
        <p:nvSpPr>
          <p:cNvPr id="19" name="Shape 17"/>
          <p:cNvSpPr/>
          <p:nvPr/>
        </p:nvSpPr>
        <p:spPr>
          <a:xfrm>
            <a:off x="5193792" y="530352"/>
            <a:ext cx="713232" cy="502920"/>
          </a:xfrm>
          <a:prstGeom prst="rect">
            <a:avLst/>
          </a:prstGeom>
          <a:solidFill>
            <a:srgbClr val="111820"/>
          </a:solidFill>
          <a:ln w="12700">
            <a:solidFill>
              <a:srgbClr val="00D4FF">
                <a:alpha val="80000"/>
              </a:srgbClr>
            </a:solidFill>
            <a:prstDash val="solid"/>
          </a:ln>
        </p:spPr>
      </p:sp>
      <p:sp>
        <p:nvSpPr>
          <p:cNvPr id="20" name="Text 18"/>
          <p:cNvSpPr/>
          <p:nvPr/>
        </p:nvSpPr>
        <p:spPr>
          <a:xfrm>
            <a:off x="5193792" y="530352"/>
            <a:ext cx="713232" cy="502920"/>
          </a:xfrm>
          <a:prstGeom prst="rect">
            <a:avLst/>
          </a:prstGeom>
          <a:noFill/>
          <a:ln/>
        </p:spPr>
        <p:txBody>
          <a:bodyPr wrap="square" rtlCol="0" anchor="ctr"/>
          <a:lstStyle/>
          <a:p>
            <a:pPr algn="ctr" indent="0" marL="0">
              <a:buNone/>
            </a:pPr>
            <a:r>
              <a:rPr lang="en-US" sz="2200" b="1" dirty="0">
                <a:solidFill>
                  <a:srgbClr val="00D4FF"/>
                </a:solidFill>
                <a:latin typeface="Courier New" pitchFamily="34" charset="0"/>
                <a:ea typeface="Courier New" pitchFamily="34" charset="-122"/>
                <a:cs typeface="Courier New" pitchFamily="34" charset="-120"/>
              </a:rPr>
              <a:t>x</a:t>
            </a:r>
            <a:endParaRPr lang="en-US" sz="2200" dirty="0"/>
          </a:p>
        </p:txBody>
      </p:sp>
      <p:sp>
        <p:nvSpPr>
          <p:cNvPr id="21" name="Shape 19"/>
          <p:cNvSpPr/>
          <p:nvPr/>
        </p:nvSpPr>
        <p:spPr>
          <a:xfrm>
            <a:off x="6016752" y="530352"/>
            <a:ext cx="713232" cy="502920"/>
          </a:xfrm>
          <a:prstGeom prst="rect">
            <a:avLst/>
          </a:prstGeom>
          <a:solidFill>
            <a:srgbClr val="111820"/>
          </a:solidFill>
          <a:ln w="12700">
            <a:solidFill>
              <a:srgbClr val="FFD166">
                <a:alpha val="80000"/>
              </a:srgbClr>
            </a:solidFill>
            <a:prstDash val="solid"/>
          </a:ln>
        </p:spPr>
      </p:sp>
      <p:sp>
        <p:nvSpPr>
          <p:cNvPr id="22" name="Text 20"/>
          <p:cNvSpPr/>
          <p:nvPr/>
        </p:nvSpPr>
        <p:spPr>
          <a:xfrm>
            <a:off x="6016752" y="530352"/>
            <a:ext cx="713232" cy="502920"/>
          </a:xfrm>
          <a:prstGeom prst="rect">
            <a:avLst/>
          </a:prstGeom>
          <a:noFill/>
          <a:ln/>
        </p:spPr>
        <p:txBody>
          <a:bodyPr wrap="square" rtlCol="0" anchor="ctr"/>
          <a:lstStyle/>
          <a:p>
            <a:pPr algn="ctr" indent="0" marL="0">
              <a:buNone/>
            </a:pPr>
            <a:r>
              <a:rPr lang="en-US" sz="2200" b="1" dirty="0">
                <a:solidFill>
                  <a:srgbClr val="FFD166"/>
                </a:solidFill>
                <a:latin typeface="Courier New" pitchFamily="34" charset="0"/>
                <a:ea typeface="Courier New" pitchFamily="34" charset="-122"/>
                <a:cs typeface="Courier New" pitchFamily="34" charset="-120"/>
              </a:rPr>
              <a:t>r</a:t>
            </a:r>
            <a:endParaRPr lang="en-US" sz="2200" dirty="0"/>
          </a:p>
        </p:txBody>
      </p:sp>
      <p:sp>
        <p:nvSpPr>
          <p:cNvPr id="23" name="Shape 21"/>
          <p:cNvSpPr/>
          <p:nvPr/>
        </p:nvSpPr>
        <p:spPr>
          <a:xfrm>
            <a:off x="6839712" y="530352"/>
            <a:ext cx="713232" cy="502920"/>
          </a:xfrm>
          <a:prstGeom prst="rect">
            <a:avLst/>
          </a:prstGeom>
          <a:solidFill>
            <a:srgbClr val="111820"/>
          </a:solidFill>
          <a:ln w="12700">
            <a:solidFill>
              <a:srgbClr val="334466">
                <a:alpha val="20000"/>
              </a:srgbClr>
            </a:solidFill>
            <a:prstDash val="solid"/>
          </a:ln>
        </p:spPr>
      </p:sp>
      <p:sp>
        <p:nvSpPr>
          <p:cNvPr id="24" name="Text 22"/>
          <p:cNvSpPr/>
          <p:nvPr/>
        </p:nvSpPr>
        <p:spPr>
          <a:xfrm>
            <a:off x="6839712" y="530352"/>
            <a:ext cx="713232" cy="502920"/>
          </a:xfrm>
          <a:prstGeom prst="rect">
            <a:avLst/>
          </a:prstGeom>
          <a:noFill/>
          <a:ln/>
        </p:spPr>
        <p:txBody>
          <a:bodyPr wrap="square" rtlCol="0" anchor="ctr"/>
          <a:lstStyle/>
          <a:p>
            <a:pPr algn="ctr" indent="0" marL="0">
              <a:buNone/>
            </a:pPr>
            <a:r>
              <a:rPr lang="en-US" sz="2200" b="1" dirty="0">
                <a:solidFill>
                  <a:srgbClr val="334466"/>
                </a:solidFill>
                <a:latin typeface="Courier New" pitchFamily="34" charset="0"/>
                <a:ea typeface="Courier New" pitchFamily="34" charset="-122"/>
                <a:cs typeface="Courier New" pitchFamily="34" charset="-120"/>
              </a:rPr>
              <a:t>-</a:t>
            </a:r>
            <a:endParaRPr lang="en-US" sz="2200" dirty="0"/>
          </a:p>
        </p:txBody>
      </p:sp>
      <p:sp>
        <p:nvSpPr>
          <p:cNvPr id="25" name="Shape 23"/>
          <p:cNvSpPr/>
          <p:nvPr/>
        </p:nvSpPr>
        <p:spPr>
          <a:xfrm>
            <a:off x="7662672" y="530352"/>
            <a:ext cx="713232" cy="502920"/>
          </a:xfrm>
          <a:prstGeom prst="rect">
            <a:avLst/>
          </a:prstGeom>
          <a:solidFill>
            <a:srgbClr val="111820"/>
          </a:solidFill>
          <a:ln w="12700">
            <a:solidFill>
              <a:srgbClr val="334466">
                <a:alpha val="20000"/>
              </a:srgbClr>
            </a:solidFill>
            <a:prstDash val="solid"/>
          </a:ln>
        </p:spPr>
      </p:sp>
      <p:sp>
        <p:nvSpPr>
          <p:cNvPr id="26" name="Text 24"/>
          <p:cNvSpPr/>
          <p:nvPr/>
        </p:nvSpPr>
        <p:spPr>
          <a:xfrm>
            <a:off x="7662672" y="530352"/>
            <a:ext cx="713232" cy="502920"/>
          </a:xfrm>
          <a:prstGeom prst="rect">
            <a:avLst/>
          </a:prstGeom>
          <a:noFill/>
          <a:ln/>
        </p:spPr>
        <p:txBody>
          <a:bodyPr wrap="square" rtlCol="0" anchor="ctr"/>
          <a:lstStyle/>
          <a:p>
            <a:pPr algn="ctr" indent="0" marL="0">
              <a:buNone/>
            </a:pPr>
            <a:r>
              <a:rPr lang="en-US" sz="2200" b="1" dirty="0">
                <a:solidFill>
                  <a:srgbClr val="334466"/>
                </a:solidFill>
                <a:latin typeface="Courier New" pitchFamily="34" charset="0"/>
                <a:ea typeface="Courier New" pitchFamily="34" charset="-122"/>
                <a:cs typeface="Courier New" pitchFamily="34" charset="-120"/>
              </a:rPr>
              <a:t>-</a:t>
            </a:r>
            <a:endParaRPr lang="en-US" sz="2200" dirty="0"/>
          </a:p>
        </p:txBody>
      </p:sp>
      <p:sp>
        <p:nvSpPr>
          <p:cNvPr id="27" name="Shape 25"/>
          <p:cNvSpPr/>
          <p:nvPr/>
        </p:nvSpPr>
        <p:spPr>
          <a:xfrm>
            <a:off x="1078992" y="1078992"/>
            <a:ext cx="1645920" cy="0"/>
          </a:xfrm>
          <a:prstGeom prst="line">
            <a:avLst/>
          </a:prstGeom>
          <a:noFill/>
          <a:ln w="12700">
            <a:solidFill>
              <a:srgbClr val="00FF88"/>
            </a:solidFill>
            <a:prstDash val="solid"/>
          </a:ln>
        </p:spPr>
      </p:sp>
      <p:sp>
        <p:nvSpPr>
          <p:cNvPr id="28" name="Text 26"/>
          <p:cNvSpPr/>
          <p:nvPr/>
        </p:nvSpPr>
        <p:spPr>
          <a:xfrm>
            <a:off x="1078992" y="1115568"/>
            <a:ext cx="1645920" cy="228600"/>
          </a:xfrm>
          <a:prstGeom prst="rect">
            <a:avLst/>
          </a:prstGeom>
          <a:noFill/>
          <a:ln/>
        </p:spPr>
        <p:txBody>
          <a:bodyPr wrap="square" rtlCol="0" anchor="ctr"/>
          <a:lstStyle/>
          <a:p>
            <a:pPr algn="ctr" indent="0" marL="0">
              <a:buNone/>
            </a:pPr>
            <a:r>
              <a:rPr lang="en-US" sz="900" b="1" dirty="0">
                <a:solidFill>
                  <a:srgbClr val="00FF88"/>
                </a:solidFill>
                <a:latin typeface="Calibri" pitchFamily="34" charset="0"/>
                <a:ea typeface="Calibri" pitchFamily="34" charset="-122"/>
                <a:cs typeface="Calibri" pitchFamily="34" charset="-120"/>
              </a:rPr>
              <a:t>Owner</a:t>
            </a:r>
            <a:endParaRPr lang="en-US" sz="900" dirty="0"/>
          </a:p>
        </p:txBody>
      </p:sp>
      <p:sp>
        <p:nvSpPr>
          <p:cNvPr id="29" name="Shape 27"/>
          <p:cNvSpPr/>
          <p:nvPr/>
        </p:nvSpPr>
        <p:spPr>
          <a:xfrm>
            <a:off x="3547872" y="1078992"/>
            <a:ext cx="1645920" cy="0"/>
          </a:xfrm>
          <a:prstGeom prst="line">
            <a:avLst/>
          </a:prstGeom>
          <a:noFill/>
          <a:ln w="12700">
            <a:solidFill>
              <a:srgbClr val="00D4FF"/>
            </a:solidFill>
            <a:prstDash val="solid"/>
          </a:ln>
        </p:spPr>
      </p:sp>
      <p:sp>
        <p:nvSpPr>
          <p:cNvPr id="30" name="Text 28"/>
          <p:cNvSpPr/>
          <p:nvPr/>
        </p:nvSpPr>
        <p:spPr>
          <a:xfrm>
            <a:off x="3547872" y="1115568"/>
            <a:ext cx="1645920" cy="228600"/>
          </a:xfrm>
          <a:prstGeom prst="rect">
            <a:avLst/>
          </a:prstGeom>
          <a:noFill/>
          <a:ln/>
        </p:spPr>
        <p:txBody>
          <a:bodyPr wrap="square" rtlCol="0" anchor="ctr"/>
          <a:lstStyle/>
          <a:p>
            <a:pPr algn="ctr" indent="0" marL="0">
              <a:buNone/>
            </a:pPr>
            <a:r>
              <a:rPr lang="en-US" sz="900" b="1" dirty="0">
                <a:solidFill>
                  <a:srgbClr val="00D4FF"/>
                </a:solidFill>
                <a:latin typeface="Calibri" pitchFamily="34" charset="0"/>
                <a:ea typeface="Calibri" pitchFamily="34" charset="-122"/>
                <a:cs typeface="Calibri" pitchFamily="34" charset="-120"/>
              </a:rPr>
              <a:t>Group</a:t>
            </a:r>
            <a:endParaRPr lang="en-US" sz="900" dirty="0"/>
          </a:p>
        </p:txBody>
      </p:sp>
      <p:sp>
        <p:nvSpPr>
          <p:cNvPr id="31" name="Shape 29"/>
          <p:cNvSpPr/>
          <p:nvPr/>
        </p:nvSpPr>
        <p:spPr>
          <a:xfrm>
            <a:off x="6016752" y="1078992"/>
            <a:ext cx="1645920" cy="0"/>
          </a:xfrm>
          <a:prstGeom prst="line">
            <a:avLst/>
          </a:prstGeom>
          <a:noFill/>
          <a:ln w="12700">
            <a:solidFill>
              <a:srgbClr val="FFD166"/>
            </a:solidFill>
            <a:prstDash val="solid"/>
          </a:ln>
        </p:spPr>
      </p:sp>
      <p:sp>
        <p:nvSpPr>
          <p:cNvPr id="32" name="Text 30"/>
          <p:cNvSpPr/>
          <p:nvPr/>
        </p:nvSpPr>
        <p:spPr>
          <a:xfrm>
            <a:off x="6016752" y="1115568"/>
            <a:ext cx="1645920" cy="228600"/>
          </a:xfrm>
          <a:prstGeom prst="rect">
            <a:avLst/>
          </a:prstGeom>
          <a:noFill/>
          <a:ln/>
        </p:spPr>
        <p:txBody>
          <a:bodyPr wrap="square" rtlCol="0" anchor="ctr"/>
          <a:lstStyle/>
          <a:p>
            <a:pPr algn="ctr" indent="0" marL="0">
              <a:buNone/>
            </a:pPr>
            <a:r>
              <a:rPr lang="en-US" sz="900" b="1" dirty="0">
                <a:solidFill>
                  <a:srgbClr val="FFD166"/>
                </a:solidFill>
                <a:latin typeface="Calibri" pitchFamily="34" charset="0"/>
                <a:ea typeface="Calibri" pitchFamily="34" charset="-122"/>
                <a:cs typeface="Calibri" pitchFamily="34" charset="-120"/>
              </a:rPr>
              <a:t>Other</a:t>
            </a:r>
            <a:endParaRPr lang="en-US" sz="900" dirty="0"/>
          </a:p>
        </p:txBody>
      </p:sp>
      <p:sp>
        <p:nvSpPr>
          <p:cNvPr id="33" name="Text 31"/>
          <p:cNvSpPr/>
          <p:nvPr/>
        </p:nvSpPr>
        <p:spPr>
          <a:xfrm>
            <a:off x="256032" y="1481328"/>
            <a:ext cx="2743200" cy="256032"/>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chmod Octal Reference</a:t>
            </a:r>
            <a:endParaRPr lang="en-US" sz="1100" dirty="0"/>
          </a:p>
        </p:txBody>
      </p:sp>
      <p:sp>
        <p:nvSpPr>
          <p:cNvPr id="34" name="Shape 32"/>
          <p:cNvSpPr/>
          <p:nvPr/>
        </p:nvSpPr>
        <p:spPr>
          <a:xfrm>
            <a:off x="256032" y="1773936"/>
            <a:ext cx="2743200" cy="320040"/>
          </a:xfrm>
          <a:prstGeom prst="rect">
            <a:avLst/>
          </a:prstGeom>
          <a:solidFill>
            <a:srgbClr val="0D1A12"/>
          </a:solidFill>
          <a:ln w="12700">
            <a:solidFill>
              <a:srgbClr val="1A2A20"/>
            </a:solidFill>
            <a:prstDash val="solid"/>
          </a:ln>
        </p:spPr>
      </p:sp>
      <p:sp>
        <p:nvSpPr>
          <p:cNvPr id="35" name="Text 33"/>
          <p:cNvSpPr/>
          <p:nvPr/>
        </p:nvSpPr>
        <p:spPr>
          <a:xfrm>
            <a:off x="329184" y="1773936"/>
            <a:ext cx="347472" cy="320040"/>
          </a:xfrm>
          <a:prstGeom prst="rect">
            <a:avLst/>
          </a:prstGeom>
          <a:noFill/>
          <a:ln/>
        </p:spPr>
        <p:txBody>
          <a:bodyPr wrap="square" rtlCol="0" anchor="ctr"/>
          <a:lstStyle/>
          <a:p>
            <a:pPr indent="0" marL="0">
              <a:buNone/>
            </a:pPr>
            <a:r>
              <a:rPr lang="en-US" sz="1600" b="1" dirty="0">
                <a:solidFill>
                  <a:srgbClr val="00FF88"/>
                </a:solidFill>
                <a:latin typeface="Courier New" pitchFamily="34" charset="0"/>
                <a:ea typeface="Courier New" pitchFamily="34" charset="-122"/>
                <a:cs typeface="Courier New" pitchFamily="34" charset="-120"/>
              </a:rPr>
              <a:t>7</a:t>
            </a:r>
            <a:endParaRPr lang="en-US" sz="1600" dirty="0"/>
          </a:p>
        </p:txBody>
      </p:sp>
      <p:sp>
        <p:nvSpPr>
          <p:cNvPr id="36" name="Text 34"/>
          <p:cNvSpPr/>
          <p:nvPr/>
        </p:nvSpPr>
        <p:spPr>
          <a:xfrm>
            <a:off x="749808" y="1773936"/>
            <a:ext cx="822960" cy="320040"/>
          </a:xfrm>
          <a:prstGeom prst="rect">
            <a:avLst/>
          </a:prstGeom>
          <a:noFill/>
          <a:ln/>
        </p:spPr>
        <p:txBody>
          <a:bodyPr wrap="square" rtlCol="0" anchor="ctr"/>
          <a:lstStyle/>
          <a:p>
            <a:pPr indent="0" marL="0">
              <a:buNone/>
            </a:pPr>
            <a:r>
              <a:rPr lang="en-US" sz="1100" dirty="0">
                <a:solidFill>
                  <a:srgbClr val="00D4FF"/>
                </a:solidFill>
                <a:latin typeface="Courier New" pitchFamily="34" charset="0"/>
                <a:ea typeface="Courier New" pitchFamily="34" charset="-122"/>
                <a:cs typeface="Courier New" pitchFamily="34" charset="-120"/>
              </a:rPr>
              <a:t>rwx</a:t>
            </a:r>
            <a:endParaRPr lang="en-US" sz="1100" dirty="0"/>
          </a:p>
        </p:txBody>
      </p:sp>
      <p:sp>
        <p:nvSpPr>
          <p:cNvPr id="37" name="Text 35"/>
          <p:cNvSpPr/>
          <p:nvPr/>
        </p:nvSpPr>
        <p:spPr>
          <a:xfrm>
            <a:off x="1627632" y="1773936"/>
            <a:ext cx="1280160" cy="320040"/>
          </a:xfrm>
          <a:prstGeom prst="rect">
            <a:avLst/>
          </a:prstGeom>
          <a:noFill/>
          <a:ln/>
        </p:spPr>
        <p:txBody>
          <a:bodyPr wrap="square" rtlCol="0" anchor="ctr"/>
          <a:lstStyle/>
          <a:p>
            <a:pPr indent="0" marL="0">
              <a:buNone/>
            </a:pPr>
            <a:r>
              <a:rPr lang="en-US" sz="950" dirty="0">
                <a:solidFill>
                  <a:srgbClr val="6A7A8A"/>
                </a:solidFill>
                <a:latin typeface="Calibri" pitchFamily="34" charset="0"/>
                <a:ea typeface="Calibri" pitchFamily="34" charset="-122"/>
                <a:cs typeface="Calibri" pitchFamily="34" charset="-120"/>
              </a:rPr>
              <a:t>Full</a:t>
            </a:r>
            <a:endParaRPr lang="en-US" sz="950" dirty="0"/>
          </a:p>
        </p:txBody>
      </p:sp>
      <p:sp>
        <p:nvSpPr>
          <p:cNvPr id="38" name="Shape 36"/>
          <p:cNvSpPr/>
          <p:nvPr/>
        </p:nvSpPr>
        <p:spPr>
          <a:xfrm>
            <a:off x="256032" y="2121408"/>
            <a:ext cx="2743200" cy="320040"/>
          </a:xfrm>
          <a:prstGeom prst="rect">
            <a:avLst/>
          </a:prstGeom>
          <a:solidFill>
            <a:srgbClr val="0A0E1A"/>
          </a:solidFill>
          <a:ln w="12700">
            <a:solidFill>
              <a:srgbClr val="1A2A20"/>
            </a:solidFill>
            <a:prstDash val="solid"/>
          </a:ln>
        </p:spPr>
      </p:sp>
      <p:sp>
        <p:nvSpPr>
          <p:cNvPr id="39" name="Text 37"/>
          <p:cNvSpPr/>
          <p:nvPr/>
        </p:nvSpPr>
        <p:spPr>
          <a:xfrm>
            <a:off x="329184" y="2121408"/>
            <a:ext cx="347472" cy="320040"/>
          </a:xfrm>
          <a:prstGeom prst="rect">
            <a:avLst/>
          </a:prstGeom>
          <a:noFill/>
          <a:ln/>
        </p:spPr>
        <p:txBody>
          <a:bodyPr wrap="square" rtlCol="0" anchor="ctr"/>
          <a:lstStyle/>
          <a:p>
            <a:pPr indent="0" marL="0">
              <a:buNone/>
            </a:pPr>
            <a:r>
              <a:rPr lang="en-US" sz="1600" b="1" dirty="0">
                <a:solidFill>
                  <a:srgbClr val="00FF88"/>
                </a:solidFill>
                <a:latin typeface="Courier New" pitchFamily="34" charset="0"/>
                <a:ea typeface="Courier New" pitchFamily="34" charset="-122"/>
                <a:cs typeface="Courier New" pitchFamily="34" charset="-120"/>
              </a:rPr>
              <a:t>6</a:t>
            </a:r>
            <a:endParaRPr lang="en-US" sz="1600" dirty="0"/>
          </a:p>
        </p:txBody>
      </p:sp>
      <p:sp>
        <p:nvSpPr>
          <p:cNvPr id="40" name="Text 38"/>
          <p:cNvSpPr/>
          <p:nvPr/>
        </p:nvSpPr>
        <p:spPr>
          <a:xfrm>
            <a:off x="749808" y="2121408"/>
            <a:ext cx="822960" cy="320040"/>
          </a:xfrm>
          <a:prstGeom prst="rect">
            <a:avLst/>
          </a:prstGeom>
          <a:noFill/>
          <a:ln/>
        </p:spPr>
        <p:txBody>
          <a:bodyPr wrap="square" rtlCol="0" anchor="ctr"/>
          <a:lstStyle/>
          <a:p>
            <a:pPr indent="0" marL="0">
              <a:buNone/>
            </a:pPr>
            <a:r>
              <a:rPr lang="en-US" sz="1100" dirty="0">
                <a:solidFill>
                  <a:srgbClr val="00D4FF"/>
                </a:solidFill>
                <a:latin typeface="Courier New" pitchFamily="34" charset="0"/>
                <a:ea typeface="Courier New" pitchFamily="34" charset="-122"/>
                <a:cs typeface="Courier New" pitchFamily="34" charset="-120"/>
              </a:rPr>
              <a:t>rw-</a:t>
            </a:r>
            <a:endParaRPr lang="en-US" sz="1100" dirty="0"/>
          </a:p>
        </p:txBody>
      </p:sp>
      <p:sp>
        <p:nvSpPr>
          <p:cNvPr id="41" name="Text 39"/>
          <p:cNvSpPr/>
          <p:nvPr/>
        </p:nvSpPr>
        <p:spPr>
          <a:xfrm>
            <a:off x="1627632" y="2121408"/>
            <a:ext cx="1280160" cy="320040"/>
          </a:xfrm>
          <a:prstGeom prst="rect">
            <a:avLst/>
          </a:prstGeom>
          <a:noFill/>
          <a:ln/>
        </p:spPr>
        <p:txBody>
          <a:bodyPr wrap="square" rtlCol="0" anchor="ctr"/>
          <a:lstStyle/>
          <a:p>
            <a:pPr indent="0" marL="0">
              <a:buNone/>
            </a:pPr>
            <a:r>
              <a:rPr lang="en-US" sz="950" dirty="0">
                <a:solidFill>
                  <a:srgbClr val="6A7A8A"/>
                </a:solidFill>
                <a:latin typeface="Calibri" pitchFamily="34" charset="0"/>
                <a:ea typeface="Calibri" pitchFamily="34" charset="-122"/>
                <a:cs typeface="Calibri" pitchFamily="34" charset="-120"/>
              </a:rPr>
              <a:t>Read/Write</a:t>
            </a:r>
            <a:endParaRPr lang="en-US" sz="950" dirty="0"/>
          </a:p>
        </p:txBody>
      </p:sp>
      <p:sp>
        <p:nvSpPr>
          <p:cNvPr id="42" name="Shape 40"/>
          <p:cNvSpPr/>
          <p:nvPr/>
        </p:nvSpPr>
        <p:spPr>
          <a:xfrm>
            <a:off x="256032" y="2468880"/>
            <a:ext cx="2743200" cy="320040"/>
          </a:xfrm>
          <a:prstGeom prst="rect">
            <a:avLst/>
          </a:prstGeom>
          <a:solidFill>
            <a:srgbClr val="0D1A12"/>
          </a:solidFill>
          <a:ln w="12700">
            <a:solidFill>
              <a:srgbClr val="1A2A20"/>
            </a:solidFill>
            <a:prstDash val="solid"/>
          </a:ln>
        </p:spPr>
      </p:sp>
      <p:sp>
        <p:nvSpPr>
          <p:cNvPr id="43" name="Text 41"/>
          <p:cNvSpPr/>
          <p:nvPr/>
        </p:nvSpPr>
        <p:spPr>
          <a:xfrm>
            <a:off x="329184" y="2468880"/>
            <a:ext cx="347472" cy="320040"/>
          </a:xfrm>
          <a:prstGeom prst="rect">
            <a:avLst/>
          </a:prstGeom>
          <a:noFill/>
          <a:ln/>
        </p:spPr>
        <p:txBody>
          <a:bodyPr wrap="square" rtlCol="0" anchor="ctr"/>
          <a:lstStyle/>
          <a:p>
            <a:pPr indent="0" marL="0">
              <a:buNone/>
            </a:pPr>
            <a:r>
              <a:rPr lang="en-US" sz="1600" b="1" dirty="0">
                <a:solidFill>
                  <a:srgbClr val="00FF88"/>
                </a:solidFill>
                <a:latin typeface="Courier New" pitchFamily="34" charset="0"/>
                <a:ea typeface="Courier New" pitchFamily="34" charset="-122"/>
                <a:cs typeface="Courier New" pitchFamily="34" charset="-120"/>
              </a:rPr>
              <a:t>5</a:t>
            </a:r>
            <a:endParaRPr lang="en-US" sz="1600" dirty="0"/>
          </a:p>
        </p:txBody>
      </p:sp>
      <p:sp>
        <p:nvSpPr>
          <p:cNvPr id="44" name="Text 42"/>
          <p:cNvSpPr/>
          <p:nvPr/>
        </p:nvSpPr>
        <p:spPr>
          <a:xfrm>
            <a:off x="749808" y="2468880"/>
            <a:ext cx="822960" cy="320040"/>
          </a:xfrm>
          <a:prstGeom prst="rect">
            <a:avLst/>
          </a:prstGeom>
          <a:noFill/>
          <a:ln/>
        </p:spPr>
        <p:txBody>
          <a:bodyPr wrap="square" rtlCol="0" anchor="ctr"/>
          <a:lstStyle/>
          <a:p>
            <a:pPr indent="0" marL="0">
              <a:buNone/>
            </a:pPr>
            <a:r>
              <a:rPr lang="en-US" sz="1100" dirty="0">
                <a:solidFill>
                  <a:srgbClr val="00D4FF"/>
                </a:solidFill>
                <a:latin typeface="Courier New" pitchFamily="34" charset="0"/>
                <a:ea typeface="Courier New" pitchFamily="34" charset="-122"/>
                <a:cs typeface="Courier New" pitchFamily="34" charset="-120"/>
              </a:rPr>
              <a:t>r-x</a:t>
            </a:r>
            <a:endParaRPr lang="en-US" sz="1100" dirty="0"/>
          </a:p>
        </p:txBody>
      </p:sp>
      <p:sp>
        <p:nvSpPr>
          <p:cNvPr id="45" name="Text 43"/>
          <p:cNvSpPr/>
          <p:nvPr/>
        </p:nvSpPr>
        <p:spPr>
          <a:xfrm>
            <a:off x="1627632" y="2468880"/>
            <a:ext cx="1280160" cy="320040"/>
          </a:xfrm>
          <a:prstGeom prst="rect">
            <a:avLst/>
          </a:prstGeom>
          <a:noFill/>
          <a:ln/>
        </p:spPr>
        <p:txBody>
          <a:bodyPr wrap="square" rtlCol="0" anchor="ctr"/>
          <a:lstStyle/>
          <a:p>
            <a:pPr indent="0" marL="0">
              <a:buNone/>
            </a:pPr>
            <a:r>
              <a:rPr lang="en-US" sz="950" dirty="0">
                <a:solidFill>
                  <a:srgbClr val="6A7A8A"/>
                </a:solidFill>
                <a:latin typeface="Calibri" pitchFamily="34" charset="0"/>
                <a:ea typeface="Calibri" pitchFamily="34" charset="-122"/>
                <a:cs typeface="Calibri" pitchFamily="34" charset="-120"/>
              </a:rPr>
              <a:t>Read/Execute</a:t>
            </a:r>
            <a:endParaRPr lang="en-US" sz="950" dirty="0"/>
          </a:p>
        </p:txBody>
      </p:sp>
      <p:sp>
        <p:nvSpPr>
          <p:cNvPr id="46" name="Shape 44"/>
          <p:cNvSpPr/>
          <p:nvPr/>
        </p:nvSpPr>
        <p:spPr>
          <a:xfrm>
            <a:off x="256032" y="2816352"/>
            <a:ext cx="2743200" cy="320040"/>
          </a:xfrm>
          <a:prstGeom prst="rect">
            <a:avLst/>
          </a:prstGeom>
          <a:solidFill>
            <a:srgbClr val="0A0E1A"/>
          </a:solidFill>
          <a:ln w="12700">
            <a:solidFill>
              <a:srgbClr val="1A2A20"/>
            </a:solidFill>
            <a:prstDash val="solid"/>
          </a:ln>
        </p:spPr>
      </p:sp>
      <p:sp>
        <p:nvSpPr>
          <p:cNvPr id="47" name="Text 45"/>
          <p:cNvSpPr/>
          <p:nvPr/>
        </p:nvSpPr>
        <p:spPr>
          <a:xfrm>
            <a:off x="329184" y="2816352"/>
            <a:ext cx="347472" cy="320040"/>
          </a:xfrm>
          <a:prstGeom prst="rect">
            <a:avLst/>
          </a:prstGeom>
          <a:noFill/>
          <a:ln/>
        </p:spPr>
        <p:txBody>
          <a:bodyPr wrap="square" rtlCol="0" anchor="ctr"/>
          <a:lstStyle/>
          <a:p>
            <a:pPr indent="0" marL="0">
              <a:buNone/>
            </a:pPr>
            <a:r>
              <a:rPr lang="en-US" sz="1600" b="1" dirty="0">
                <a:solidFill>
                  <a:srgbClr val="00FF88"/>
                </a:solidFill>
                <a:latin typeface="Courier New" pitchFamily="34" charset="0"/>
                <a:ea typeface="Courier New" pitchFamily="34" charset="-122"/>
                <a:cs typeface="Courier New" pitchFamily="34" charset="-120"/>
              </a:rPr>
              <a:t>4</a:t>
            </a:r>
            <a:endParaRPr lang="en-US" sz="1600" dirty="0"/>
          </a:p>
        </p:txBody>
      </p:sp>
      <p:sp>
        <p:nvSpPr>
          <p:cNvPr id="48" name="Text 46"/>
          <p:cNvSpPr/>
          <p:nvPr/>
        </p:nvSpPr>
        <p:spPr>
          <a:xfrm>
            <a:off x="749808" y="2816352"/>
            <a:ext cx="822960" cy="320040"/>
          </a:xfrm>
          <a:prstGeom prst="rect">
            <a:avLst/>
          </a:prstGeom>
          <a:noFill/>
          <a:ln/>
        </p:spPr>
        <p:txBody>
          <a:bodyPr wrap="square" rtlCol="0" anchor="ctr"/>
          <a:lstStyle/>
          <a:p>
            <a:pPr indent="0" marL="0">
              <a:buNone/>
            </a:pPr>
            <a:r>
              <a:rPr lang="en-US" sz="1100" dirty="0">
                <a:solidFill>
                  <a:srgbClr val="00D4FF"/>
                </a:solidFill>
                <a:latin typeface="Courier New" pitchFamily="34" charset="0"/>
                <a:ea typeface="Courier New" pitchFamily="34" charset="-122"/>
                <a:cs typeface="Courier New" pitchFamily="34" charset="-120"/>
              </a:rPr>
              <a:t>r--</a:t>
            </a:r>
            <a:endParaRPr lang="en-US" sz="1100" dirty="0"/>
          </a:p>
        </p:txBody>
      </p:sp>
      <p:sp>
        <p:nvSpPr>
          <p:cNvPr id="49" name="Text 47"/>
          <p:cNvSpPr/>
          <p:nvPr/>
        </p:nvSpPr>
        <p:spPr>
          <a:xfrm>
            <a:off x="1627632" y="2816352"/>
            <a:ext cx="1280160" cy="320040"/>
          </a:xfrm>
          <a:prstGeom prst="rect">
            <a:avLst/>
          </a:prstGeom>
          <a:noFill/>
          <a:ln/>
        </p:spPr>
        <p:txBody>
          <a:bodyPr wrap="square" rtlCol="0" anchor="ctr"/>
          <a:lstStyle/>
          <a:p>
            <a:pPr indent="0" marL="0">
              <a:buNone/>
            </a:pPr>
            <a:r>
              <a:rPr lang="en-US" sz="950" dirty="0">
                <a:solidFill>
                  <a:srgbClr val="6A7A8A"/>
                </a:solidFill>
                <a:latin typeface="Calibri" pitchFamily="34" charset="0"/>
                <a:ea typeface="Calibri" pitchFamily="34" charset="-122"/>
                <a:cs typeface="Calibri" pitchFamily="34" charset="-120"/>
              </a:rPr>
              <a:t>Read only</a:t>
            </a:r>
            <a:endParaRPr lang="en-US" sz="950" dirty="0"/>
          </a:p>
        </p:txBody>
      </p:sp>
      <p:sp>
        <p:nvSpPr>
          <p:cNvPr id="50" name="Shape 48"/>
          <p:cNvSpPr/>
          <p:nvPr/>
        </p:nvSpPr>
        <p:spPr>
          <a:xfrm>
            <a:off x="256032" y="3163824"/>
            <a:ext cx="2743200" cy="320040"/>
          </a:xfrm>
          <a:prstGeom prst="rect">
            <a:avLst/>
          </a:prstGeom>
          <a:solidFill>
            <a:srgbClr val="0D1A12"/>
          </a:solidFill>
          <a:ln w="12700">
            <a:solidFill>
              <a:srgbClr val="1A2A20"/>
            </a:solidFill>
            <a:prstDash val="solid"/>
          </a:ln>
        </p:spPr>
      </p:sp>
      <p:sp>
        <p:nvSpPr>
          <p:cNvPr id="51" name="Text 49"/>
          <p:cNvSpPr/>
          <p:nvPr/>
        </p:nvSpPr>
        <p:spPr>
          <a:xfrm>
            <a:off x="329184" y="3163824"/>
            <a:ext cx="347472" cy="320040"/>
          </a:xfrm>
          <a:prstGeom prst="rect">
            <a:avLst/>
          </a:prstGeom>
          <a:noFill/>
          <a:ln/>
        </p:spPr>
        <p:txBody>
          <a:bodyPr wrap="square" rtlCol="0" anchor="ctr"/>
          <a:lstStyle/>
          <a:p>
            <a:pPr indent="0" marL="0">
              <a:buNone/>
            </a:pPr>
            <a:r>
              <a:rPr lang="en-US" sz="1600" b="1" dirty="0">
                <a:solidFill>
                  <a:srgbClr val="00FF88"/>
                </a:solidFill>
                <a:latin typeface="Courier New" pitchFamily="34" charset="0"/>
                <a:ea typeface="Courier New" pitchFamily="34" charset="-122"/>
                <a:cs typeface="Courier New" pitchFamily="34" charset="-120"/>
              </a:rPr>
              <a:t>0</a:t>
            </a:r>
            <a:endParaRPr lang="en-US" sz="1600" dirty="0"/>
          </a:p>
        </p:txBody>
      </p:sp>
      <p:sp>
        <p:nvSpPr>
          <p:cNvPr id="52" name="Text 50"/>
          <p:cNvSpPr/>
          <p:nvPr/>
        </p:nvSpPr>
        <p:spPr>
          <a:xfrm>
            <a:off x="749808" y="3163824"/>
            <a:ext cx="822960" cy="320040"/>
          </a:xfrm>
          <a:prstGeom prst="rect">
            <a:avLst/>
          </a:prstGeom>
          <a:noFill/>
          <a:ln/>
        </p:spPr>
        <p:txBody>
          <a:bodyPr wrap="square" rtlCol="0" anchor="ctr"/>
          <a:lstStyle/>
          <a:p>
            <a:pPr indent="0" marL="0">
              <a:buNone/>
            </a:pPr>
            <a:r>
              <a:rPr lang="en-US" sz="1100" dirty="0">
                <a:solidFill>
                  <a:srgbClr val="00D4FF"/>
                </a:solidFill>
                <a:latin typeface="Courier New" pitchFamily="34" charset="0"/>
                <a:ea typeface="Courier New" pitchFamily="34" charset="-122"/>
                <a:cs typeface="Courier New" pitchFamily="34" charset="-120"/>
              </a:rPr>
              <a:t>---</a:t>
            </a:r>
            <a:endParaRPr lang="en-US" sz="1100" dirty="0"/>
          </a:p>
        </p:txBody>
      </p:sp>
      <p:sp>
        <p:nvSpPr>
          <p:cNvPr id="53" name="Text 51"/>
          <p:cNvSpPr/>
          <p:nvPr/>
        </p:nvSpPr>
        <p:spPr>
          <a:xfrm>
            <a:off x="1627632" y="3163824"/>
            <a:ext cx="1280160" cy="320040"/>
          </a:xfrm>
          <a:prstGeom prst="rect">
            <a:avLst/>
          </a:prstGeom>
          <a:noFill/>
          <a:ln/>
        </p:spPr>
        <p:txBody>
          <a:bodyPr wrap="square" rtlCol="0" anchor="ctr"/>
          <a:lstStyle/>
          <a:p>
            <a:pPr indent="0" marL="0">
              <a:buNone/>
            </a:pPr>
            <a:r>
              <a:rPr lang="en-US" sz="950" dirty="0">
                <a:solidFill>
                  <a:srgbClr val="6A7A8A"/>
                </a:solidFill>
                <a:latin typeface="Calibri" pitchFamily="34" charset="0"/>
                <a:ea typeface="Calibri" pitchFamily="34" charset="-122"/>
                <a:cs typeface="Calibri" pitchFamily="34" charset="-120"/>
              </a:rPr>
              <a:t>None</a:t>
            </a:r>
            <a:endParaRPr lang="en-US" sz="950" dirty="0"/>
          </a:p>
        </p:txBody>
      </p:sp>
      <p:sp>
        <p:nvSpPr>
          <p:cNvPr id="54" name="Text 52"/>
          <p:cNvSpPr/>
          <p:nvPr/>
        </p:nvSpPr>
        <p:spPr>
          <a:xfrm>
            <a:off x="3246120" y="1481328"/>
            <a:ext cx="5623560" cy="256032"/>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Command Quick Reference</a:t>
            </a:r>
            <a:endParaRPr lang="en-US" sz="1100" dirty="0"/>
          </a:p>
        </p:txBody>
      </p:sp>
      <p:sp>
        <p:nvSpPr>
          <p:cNvPr id="55" name="Shape 53"/>
          <p:cNvSpPr/>
          <p:nvPr/>
        </p:nvSpPr>
        <p:spPr>
          <a:xfrm>
            <a:off x="3246120" y="1773936"/>
            <a:ext cx="5623560" cy="320040"/>
          </a:xfrm>
          <a:prstGeom prst="rect">
            <a:avLst/>
          </a:prstGeom>
          <a:solidFill>
            <a:srgbClr val="0D1A12"/>
          </a:solidFill>
          <a:ln w="12700">
            <a:solidFill>
              <a:srgbClr val="1A2A20"/>
            </a:solidFill>
            <a:prstDash val="solid"/>
          </a:ln>
        </p:spPr>
      </p:sp>
      <p:sp>
        <p:nvSpPr>
          <p:cNvPr id="56" name="Text 54"/>
          <p:cNvSpPr/>
          <p:nvPr/>
        </p:nvSpPr>
        <p:spPr>
          <a:xfrm>
            <a:off x="3319272" y="1773936"/>
            <a:ext cx="1188720" cy="320040"/>
          </a:xfrm>
          <a:prstGeom prst="rect">
            <a:avLst/>
          </a:prstGeom>
          <a:noFill/>
          <a:ln/>
        </p:spPr>
        <p:txBody>
          <a:bodyPr wrap="square" rtlCol="0" anchor="ctr"/>
          <a:lstStyle/>
          <a:p>
            <a:pPr indent="0" marL="0">
              <a:buNone/>
            </a:pPr>
            <a:r>
              <a:rPr lang="en-US" sz="900" b="1" dirty="0">
                <a:solidFill>
                  <a:srgbClr val="0F6E56"/>
                </a:solidFill>
                <a:latin typeface="Calibri" pitchFamily="34" charset="0"/>
                <a:ea typeface="Calibri" pitchFamily="34" charset="-122"/>
                <a:cs typeface="Calibri" pitchFamily="34" charset="-120"/>
              </a:rPr>
              <a:t>Navigation</a:t>
            </a:r>
            <a:endParaRPr lang="en-US" sz="900" dirty="0"/>
          </a:p>
        </p:txBody>
      </p:sp>
      <p:sp>
        <p:nvSpPr>
          <p:cNvPr id="57" name="Text 55"/>
          <p:cNvSpPr/>
          <p:nvPr/>
        </p:nvSpPr>
        <p:spPr>
          <a:xfrm>
            <a:off x="4572000" y="1773936"/>
            <a:ext cx="4224528" cy="320040"/>
          </a:xfrm>
          <a:prstGeom prst="rect">
            <a:avLst/>
          </a:prstGeom>
          <a:noFill/>
          <a:ln/>
        </p:spPr>
        <p:txBody>
          <a:bodyPr wrap="square" rtlCol="0" anchor="ctr"/>
          <a:lstStyle/>
          <a:p>
            <a:pPr indent="0" marL="0">
              <a:buNone/>
            </a:pPr>
            <a:r>
              <a:rPr lang="en-US" sz="900" dirty="0">
                <a:solidFill>
                  <a:srgbClr val="6A7A8A"/>
                </a:solidFill>
                <a:latin typeface="Courier New" pitchFamily="34" charset="0"/>
                <a:ea typeface="Courier New" pitchFamily="34" charset="-122"/>
                <a:cs typeface="Courier New" pitchFamily="34" charset="-120"/>
              </a:rPr>
              <a:t>pwd · ls -la · cd /path · cd ~ · cd ..</a:t>
            </a:r>
            <a:endParaRPr lang="en-US" sz="900" dirty="0"/>
          </a:p>
        </p:txBody>
      </p:sp>
      <p:sp>
        <p:nvSpPr>
          <p:cNvPr id="58" name="Shape 56"/>
          <p:cNvSpPr/>
          <p:nvPr/>
        </p:nvSpPr>
        <p:spPr>
          <a:xfrm>
            <a:off x="3246120" y="2121408"/>
            <a:ext cx="5623560" cy="320040"/>
          </a:xfrm>
          <a:prstGeom prst="rect">
            <a:avLst/>
          </a:prstGeom>
          <a:solidFill>
            <a:srgbClr val="0A0E1A"/>
          </a:solidFill>
          <a:ln w="12700">
            <a:solidFill>
              <a:srgbClr val="1A2A20"/>
            </a:solidFill>
            <a:prstDash val="solid"/>
          </a:ln>
        </p:spPr>
      </p:sp>
      <p:sp>
        <p:nvSpPr>
          <p:cNvPr id="59" name="Text 57"/>
          <p:cNvSpPr/>
          <p:nvPr/>
        </p:nvSpPr>
        <p:spPr>
          <a:xfrm>
            <a:off x="3319272" y="2121408"/>
            <a:ext cx="1188720" cy="320040"/>
          </a:xfrm>
          <a:prstGeom prst="rect">
            <a:avLst/>
          </a:prstGeom>
          <a:noFill/>
          <a:ln/>
        </p:spPr>
        <p:txBody>
          <a:bodyPr wrap="square" rtlCol="0" anchor="ctr"/>
          <a:lstStyle/>
          <a:p>
            <a:pPr indent="0" marL="0">
              <a:buNone/>
            </a:pPr>
            <a:r>
              <a:rPr lang="en-US" sz="900" b="1" dirty="0">
                <a:solidFill>
                  <a:srgbClr val="0F6E56"/>
                </a:solidFill>
                <a:latin typeface="Calibri" pitchFamily="34" charset="0"/>
                <a:ea typeface="Calibri" pitchFamily="34" charset="-122"/>
                <a:cs typeface="Calibri" pitchFamily="34" charset="-120"/>
              </a:rPr>
              <a:t>File Ops</a:t>
            </a:r>
            <a:endParaRPr lang="en-US" sz="900" dirty="0"/>
          </a:p>
        </p:txBody>
      </p:sp>
      <p:sp>
        <p:nvSpPr>
          <p:cNvPr id="60" name="Text 58"/>
          <p:cNvSpPr/>
          <p:nvPr/>
        </p:nvSpPr>
        <p:spPr>
          <a:xfrm>
            <a:off x="4572000" y="2121408"/>
            <a:ext cx="4224528" cy="320040"/>
          </a:xfrm>
          <a:prstGeom prst="rect">
            <a:avLst/>
          </a:prstGeom>
          <a:noFill/>
          <a:ln/>
        </p:spPr>
        <p:txBody>
          <a:bodyPr wrap="square" rtlCol="0" anchor="ctr"/>
          <a:lstStyle/>
          <a:p>
            <a:pPr indent="0" marL="0">
              <a:buNone/>
            </a:pPr>
            <a:r>
              <a:rPr lang="en-US" sz="900" dirty="0">
                <a:solidFill>
                  <a:srgbClr val="6A7A8A"/>
                </a:solidFill>
                <a:latin typeface="Courier New" pitchFamily="34" charset="0"/>
                <a:ea typeface="Courier New" pitchFamily="34" charset="-122"/>
                <a:cs typeface="Courier New" pitchFamily="34" charset="-120"/>
              </a:rPr>
              <a:t>cp src dst · mv src dst · rm -rf dir · mkdir -p</a:t>
            </a:r>
            <a:endParaRPr lang="en-US" sz="900" dirty="0"/>
          </a:p>
        </p:txBody>
      </p:sp>
      <p:sp>
        <p:nvSpPr>
          <p:cNvPr id="61" name="Shape 59"/>
          <p:cNvSpPr/>
          <p:nvPr/>
        </p:nvSpPr>
        <p:spPr>
          <a:xfrm>
            <a:off x="3246120" y="2468880"/>
            <a:ext cx="5623560" cy="320040"/>
          </a:xfrm>
          <a:prstGeom prst="rect">
            <a:avLst/>
          </a:prstGeom>
          <a:solidFill>
            <a:srgbClr val="0D1A12"/>
          </a:solidFill>
          <a:ln w="12700">
            <a:solidFill>
              <a:srgbClr val="1A2A20"/>
            </a:solidFill>
            <a:prstDash val="solid"/>
          </a:ln>
        </p:spPr>
      </p:sp>
      <p:sp>
        <p:nvSpPr>
          <p:cNvPr id="62" name="Text 60"/>
          <p:cNvSpPr/>
          <p:nvPr/>
        </p:nvSpPr>
        <p:spPr>
          <a:xfrm>
            <a:off x="3319272" y="2468880"/>
            <a:ext cx="1188720" cy="320040"/>
          </a:xfrm>
          <a:prstGeom prst="rect">
            <a:avLst/>
          </a:prstGeom>
          <a:noFill/>
          <a:ln/>
        </p:spPr>
        <p:txBody>
          <a:bodyPr wrap="square" rtlCol="0" anchor="ctr"/>
          <a:lstStyle/>
          <a:p>
            <a:pPr indent="0" marL="0">
              <a:buNone/>
            </a:pPr>
            <a:r>
              <a:rPr lang="en-US" sz="900" b="1" dirty="0">
                <a:solidFill>
                  <a:srgbClr val="0F6E56"/>
                </a:solidFill>
                <a:latin typeface="Calibri" pitchFamily="34" charset="0"/>
                <a:ea typeface="Calibri" pitchFamily="34" charset="-122"/>
                <a:cs typeface="Calibri" pitchFamily="34" charset="-120"/>
              </a:rPr>
              <a:t>Text</a:t>
            </a:r>
            <a:endParaRPr lang="en-US" sz="900" dirty="0"/>
          </a:p>
        </p:txBody>
      </p:sp>
      <p:sp>
        <p:nvSpPr>
          <p:cNvPr id="63" name="Text 61"/>
          <p:cNvSpPr/>
          <p:nvPr/>
        </p:nvSpPr>
        <p:spPr>
          <a:xfrm>
            <a:off x="4572000" y="2468880"/>
            <a:ext cx="4224528" cy="320040"/>
          </a:xfrm>
          <a:prstGeom prst="rect">
            <a:avLst/>
          </a:prstGeom>
          <a:noFill/>
          <a:ln/>
        </p:spPr>
        <p:txBody>
          <a:bodyPr wrap="square" rtlCol="0" anchor="ctr"/>
          <a:lstStyle/>
          <a:p>
            <a:pPr indent="0" marL="0">
              <a:buNone/>
            </a:pPr>
            <a:r>
              <a:rPr lang="en-US" sz="900" dirty="0">
                <a:solidFill>
                  <a:srgbClr val="6A7A8A"/>
                </a:solidFill>
                <a:latin typeface="Courier New" pitchFamily="34" charset="0"/>
                <a:ea typeface="Courier New" pitchFamily="34" charset="-122"/>
                <a:cs typeface="Courier New" pitchFamily="34" charset="-120"/>
              </a:rPr>
              <a:t>cat f · less f · grep "str" f · head -20 · tail -f</a:t>
            </a:r>
            <a:endParaRPr lang="en-US" sz="900" dirty="0"/>
          </a:p>
        </p:txBody>
      </p:sp>
      <p:sp>
        <p:nvSpPr>
          <p:cNvPr id="64" name="Shape 62"/>
          <p:cNvSpPr/>
          <p:nvPr/>
        </p:nvSpPr>
        <p:spPr>
          <a:xfrm>
            <a:off x="3246120" y="2816352"/>
            <a:ext cx="5623560" cy="320040"/>
          </a:xfrm>
          <a:prstGeom prst="rect">
            <a:avLst/>
          </a:prstGeom>
          <a:solidFill>
            <a:srgbClr val="0A0E1A"/>
          </a:solidFill>
          <a:ln w="12700">
            <a:solidFill>
              <a:srgbClr val="1A2A20"/>
            </a:solidFill>
            <a:prstDash val="solid"/>
          </a:ln>
        </p:spPr>
      </p:sp>
      <p:sp>
        <p:nvSpPr>
          <p:cNvPr id="65" name="Text 63"/>
          <p:cNvSpPr/>
          <p:nvPr/>
        </p:nvSpPr>
        <p:spPr>
          <a:xfrm>
            <a:off x="3319272" y="2816352"/>
            <a:ext cx="1188720" cy="320040"/>
          </a:xfrm>
          <a:prstGeom prst="rect">
            <a:avLst/>
          </a:prstGeom>
          <a:noFill/>
          <a:ln/>
        </p:spPr>
        <p:txBody>
          <a:bodyPr wrap="square" rtlCol="0" anchor="ctr"/>
          <a:lstStyle/>
          <a:p>
            <a:pPr indent="0" marL="0">
              <a:buNone/>
            </a:pPr>
            <a:r>
              <a:rPr lang="en-US" sz="900" b="1" dirty="0">
                <a:solidFill>
                  <a:srgbClr val="0F6E56"/>
                </a:solidFill>
                <a:latin typeface="Calibri" pitchFamily="34" charset="0"/>
                <a:ea typeface="Calibri" pitchFamily="34" charset="-122"/>
                <a:cs typeface="Calibri" pitchFamily="34" charset="-120"/>
              </a:rPr>
              <a:t>Permissions</a:t>
            </a:r>
            <a:endParaRPr lang="en-US" sz="900" dirty="0"/>
          </a:p>
        </p:txBody>
      </p:sp>
      <p:sp>
        <p:nvSpPr>
          <p:cNvPr id="66" name="Text 64"/>
          <p:cNvSpPr/>
          <p:nvPr/>
        </p:nvSpPr>
        <p:spPr>
          <a:xfrm>
            <a:off x="4572000" y="2816352"/>
            <a:ext cx="4224528" cy="320040"/>
          </a:xfrm>
          <a:prstGeom prst="rect">
            <a:avLst/>
          </a:prstGeom>
          <a:noFill/>
          <a:ln/>
        </p:spPr>
        <p:txBody>
          <a:bodyPr wrap="square" rtlCol="0" anchor="ctr"/>
          <a:lstStyle/>
          <a:p>
            <a:pPr indent="0" marL="0">
              <a:buNone/>
            </a:pPr>
            <a:r>
              <a:rPr lang="en-US" sz="900" dirty="0">
                <a:solidFill>
                  <a:srgbClr val="6A7A8A"/>
                </a:solidFill>
                <a:latin typeface="Courier New" pitchFamily="34" charset="0"/>
                <a:ea typeface="Courier New" pitchFamily="34" charset="-122"/>
                <a:cs typeface="Courier New" pitchFamily="34" charset="-120"/>
              </a:rPr>
              <a:t>chmod 644 f · chmod 755 d · chown u:g f · sudo</a:t>
            </a:r>
            <a:endParaRPr lang="en-US" sz="900" dirty="0"/>
          </a:p>
        </p:txBody>
      </p:sp>
      <p:sp>
        <p:nvSpPr>
          <p:cNvPr id="67" name="Shape 65"/>
          <p:cNvSpPr/>
          <p:nvPr/>
        </p:nvSpPr>
        <p:spPr>
          <a:xfrm>
            <a:off x="3246120" y="3163824"/>
            <a:ext cx="5623560" cy="320040"/>
          </a:xfrm>
          <a:prstGeom prst="rect">
            <a:avLst/>
          </a:prstGeom>
          <a:solidFill>
            <a:srgbClr val="0D1A12"/>
          </a:solidFill>
          <a:ln w="12700">
            <a:solidFill>
              <a:srgbClr val="1A2A20"/>
            </a:solidFill>
            <a:prstDash val="solid"/>
          </a:ln>
        </p:spPr>
      </p:sp>
      <p:sp>
        <p:nvSpPr>
          <p:cNvPr id="68" name="Text 66"/>
          <p:cNvSpPr/>
          <p:nvPr/>
        </p:nvSpPr>
        <p:spPr>
          <a:xfrm>
            <a:off x="3319272" y="3163824"/>
            <a:ext cx="1188720" cy="320040"/>
          </a:xfrm>
          <a:prstGeom prst="rect">
            <a:avLst/>
          </a:prstGeom>
          <a:noFill/>
          <a:ln/>
        </p:spPr>
        <p:txBody>
          <a:bodyPr wrap="square" rtlCol="0" anchor="ctr"/>
          <a:lstStyle/>
          <a:p>
            <a:pPr indent="0" marL="0">
              <a:buNone/>
            </a:pPr>
            <a:r>
              <a:rPr lang="en-US" sz="900" b="1" dirty="0">
                <a:solidFill>
                  <a:srgbClr val="0F6E56"/>
                </a:solidFill>
                <a:latin typeface="Calibri" pitchFamily="34" charset="0"/>
                <a:ea typeface="Calibri" pitchFamily="34" charset="-122"/>
                <a:cs typeface="Calibri" pitchFamily="34" charset="-120"/>
              </a:rPr>
              <a:t>Packages</a:t>
            </a:r>
            <a:endParaRPr lang="en-US" sz="900" dirty="0"/>
          </a:p>
        </p:txBody>
      </p:sp>
      <p:sp>
        <p:nvSpPr>
          <p:cNvPr id="69" name="Text 67"/>
          <p:cNvSpPr/>
          <p:nvPr/>
        </p:nvSpPr>
        <p:spPr>
          <a:xfrm>
            <a:off x="4572000" y="3163824"/>
            <a:ext cx="4224528" cy="320040"/>
          </a:xfrm>
          <a:prstGeom prst="rect">
            <a:avLst/>
          </a:prstGeom>
          <a:noFill/>
          <a:ln/>
        </p:spPr>
        <p:txBody>
          <a:bodyPr wrap="square" rtlCol="0" anchor="ctr"/>
          <a:lstStyle/>
          <a:p>
            <a:pPr indent="0" marL="0">
              <a:buNone/>
            </a:pPr>
            <a:r>
              <a:rPr lang="en-US" sz="900" dirty="0">
                <a:solidFill>
                  <a:srgbClr val="6A7A8A"/>
                </a:solidFill>
                <a:latin typeface="Courier New" pitchFamily="34" charset="0"/>
                <a:ea typeface="Courier New" pitchFamily="34" charset="-122"/>
                <a:cs typeface="Courier New" pitchFamily="34" charset="-120"/>
              </a:rPr>
              <a:t>apt update · apt upgrade -y · apt install nginx</a:t>
            </a:r>
            <a:endParaRPr lang="en-US" sz="900" dirty="0"/>
          </a:p>
        </p:txBody>
      </p:sp>
      <p:sp>
        <p:nvSpPr>
          <p:cNvPr id="70" name="Shape 68"/>
          <p:cNvSpPr/>
          <p:nvPr/>
        </p:nvSpPr>
        <p:spPr>
          <a:xfrm>
            <a:off x="3246120" y="3511296"/>
            <a:ext cx="5623560" cy="320040"/>
          </a:xfrm>
          <a:prstGeom prst="rect">
            <a:avLst/>
          </a:prstGeom>
          <a:solidFill>
            <a:srgbClr val="0A0E1A"/>
          </a:solidFill>
          <a:ln w="12700">
            <a:solidFill>
              <a:srgbClr val="1A2A20"/>
            </a:solidFill>
            <a:prstDash val="solid"/>
          </a:ln>
        </p:spPr>
      </p:sp>
      <p:sp>
        <p:nvSpPr>
          <p:cNvPr id="71" name="Text 69"/>
          <p:cNvSpPr/>
          <p:nvPr/>
        </p:nvSpPr>
        <p:spPr>
          <a:xfrm>
            <a:off x="3319272" y="3511296"/>
            <a:ext cx="1188720" cy="320040"/>
          </a:xfrm>
          <a:prstGeom prst="rect">
            <a:avLst/>
          </a:prstGeom>
          <a:noFill/>
          <a:ln/>
        </p:spPr>
        <p:txBody>
          <a:bodyPr wrap="square" rtlCol="0" anchor="ctr"/>
          <a:lstStyle/>
          <a:p>
            <a:pPr indent="0" marL="0">
              <a:buNone/>
            </a:pPr>
            <a:r>
              <a:rPr lang="en-US" sz="900" b="1" dirty="0">
                <a:solidFill>
                  <a:srgbClr val="0F6E56"/>
                </a:solidFill>
                <a:latin typeface="Calibri" pitchFamily="34" charset="0"/>
                <a:ea typeface="Calibri" pitchFamily="34" charset="-122"/>
                <a:cs typeface="Calibri" pitchFamily="34" charset="-120"/>
              </a:rPr>
              <a:t>System</a:t>
            </a:r>
            <a:endParaRPr lang="en-US" sz="900" dirty="0"/>
          </a:p>
        </p:txBody>
      </p:sp>
      <p:sp>
        <p:nvSpPr>
          <p:cNvPr id="72" name="Text 70"/>
          <p:cNvSpPr/>
          <p:nvPr/>
        </p:nvSpPr>
        <p:spPr>
          <a:xfrm>
            <a:off x="4572000" y="3511296"/>
            <a:ext cx="4224528" cy="320040"/>
          </a:xfrm>
          <a:prstGeom prst="rect">
            <a:avLst/>
          </a:prstGeom>
          <a:noFill/>
          <a:ln/>
        </p:spPr>
        <p:txBody>
          <a:bodyPr wrap="square" rtlCol="0" anchor="ctr"/>
          <a:lstStyle/>
          <a:p>
            <a:pPr indent="0" marL="0">
              <a:buNone/>
            </a:pPr>
            <a:r>
              <a:rPr lang="en-US" sz="900" dirty="0">
                <a:solidFill>
                  <a:srgbClr val="6A7A8A"/>
                </a:solidFill>
                <a:latin typeface="Courier New" pitchFamily="34" charset="0"/>
                <a:ea typeface="Courier New" pitchFamily="34" charset="-122"/>
                <a:cs typeface="Courier New" pitchFamily="34" charset="-120"/>
              </a:rPr>
              <a:t>ps aux · kill -9 PID · df -h · free -h · top</a:t>
            </a:r>
            <a:endParaRPr lang="en-US" sz="900" dirty="0"/>
          </a:p>
        </p:txBody>
      </p:sp>
      <p:sp>
        <p:nvSpPr>
          <p:cNvPr id="73" name="Shape 71"/>
          <p:cNvSpPr/>
          <p:nvPr/>
        </p:nvSpPr>
        <p:spPr>
          <a:xfrm>
            <a:off x="3246120" y="3858768"/>
            <a:ext cx="5623560" cy="320040"/>
          </a:xfrm>
          <a:prstGeom prst="rect">
            <a:avLst/>
          </a:prstGeom>
          <a:solidFill>
            <a:srgbClr val="0D1A12"/>
          </a:solidFill>
          <a:ln w="12700">
            <a:solidFill>
              <a:srgbClr val="1A2A20"/>
            </a:solidFill>
            <a:prstDash val="solid"/>
          </a:ln>
        </p:spPr>
      </p:sp>
      <p:sp>
        <p:nvSpPr>
          <p:cNvPr id="74" name="Text 72"/>
          <p:cNvSpPr/>
          <p:nvPr/>
        </p:nvSpPr>
        <p:spPr>
          <a:xfrm>
            <a:off x="3319272" y="3858768"/>
            <a:ext cx="1188720" cy="320040"/>
          </a:xfrm>
          <a:prstGeom prst="rect">
            <a:avLst/>
          </a:prstGeom>
          <a:noFill/>
          <a:ln/>
        </p:spPr>
        <p:txBody>
          <a:bodyPr wrap="square" rtlCol="0" anchor="ctr"/>
          <a:lstStyle/>
          <a:p>
            <a:pPr indent="0" marL="0">
              <a:buNone/>
            </a:pPr>
            <a:r>
              <a:rPr lang="en-US" sz="900" b="1" dirty="0">
                <a:solidFill>
                  <a:srgbClr val="0F6E56"/>
                </a:solidFill>
                <a:latin typeface="Calibri" pitchFamily="34" charset="0"/>
                <a:ea typeface="Calibri" pitchFamily="34" charset="-122"/>
                <a:cs typeface="Calibri" pitchFamily="34" charset="-120"/>
              </a:rPr>
              <a:t>SSH</a:t>
            </a:r>
            <a:endParaRPr lang="en-US" sz="900" dirty="0"/>
          </a:p>
        </p:txBody>
      </p:sp>
      <p:sp>
        <p:nvSpPr>
          <p:cNvPr id="75" name="Text 73"/>
          <p:cNvSpPr/>
          <p:nvPr/>
        </p:nvSpPr>
        <p:spPr>
          <a:xfrm>
            <a:off x="4572000" y="3858768"/>
            <a:ext cx="4224528" cy="320040"/>
          </a:xfrm>
          <a:prstGeom prst="rect">
            <a:avLst/>
          </a:prstGeom>
          <a:noFill/>
          <a:ln/>
        </p:spPr>
        <p:txBody>
          <a:bodyPr wrap="square" rtlCol="0" anchor="ctr"/>
          <a:lstStyle/>
          <a:p>
            <a:pPr indent="0" marL="0">
              <a:buNone/>
            </a:pPr>
            <a:r>
              <a:rPr lang="en-US" sz="900" dirty="0">
                <a:solidFill>
                  <a:srgbClr val="6A7A8A"/>
                </a:solidFill>
                <a:latin typeface="Courier New" pitchFamily="34" charset="0"/>
                <a:ea typeface="Courier New" pitchFamily="34" charset="-122"/>
                <a:cs typeface="Courier New" pitchFamily="34" charset="-120"/>
              </a:rPr>
              <a:t>ssh -i key.pem ubuntu@IP · ssh-keygen · scp</a:t>
            </a:r>
            <a:endParaRPr lang="en-US" sz="900" dirty="0"/>
          </a:p>
        </p:txBody>
      </p:sp>
      <p:sp>
        <p:nvSpPr>
          <p:cNvPr id="76" name="Shape 74"/>
          <p:cNvSpPr/>
          <p:nvPr/>
        </p:nvSpPr>
        <p:spPr>
          <a:xfrm>
            <a:off x="256032" y="4096512"/>
            <a:ext cx="8650224" cy="530352"/>
          </a:xfrm>
          <a:prstGeom prst="rect">
            <a:avLst/>
          </a:prstGeom>
          <a:solidFill>
            <a:srgbClr val="180808"/>
          </a:solidFill>
          <a:ln w="12700">
            <a:solidFill>
              <a:srgbClr val="FF6B6B"/>
            </a:solidFill>
            <a:prstDash val="solid"/>
          </a:ln>
        </p:spPr>
      </p:sp>
      <p:sp>
        <p:nvSpPr>
          <p:cNvPr id="77" name="Shape 75"/>
          <p:cNvSpPr/>
          <p:nvPr/>
        </p:nvSpPr>
        <p:spPr>
          <a:xfrm>
            <a:off x="256032" y="4096512"/>
            <a:ext cx="54864" cy="530352"/>
          </a:xfrm>
          <a:prstGeom prst="rect">
            <a:avLst/>
          </a:prstGeom>
          <a:solidFill>
            <a:srgbClr val="FF6B6B"/>
          </a:solidFill>
          <a:ln w="12700">
            <a:solidFill>
              <a:srgbClr val="FF6B6B"/>
            </a:solidFill>
            <a:prstDash val="solid"/>
          </a:ln>
        </p:spPr>
      </p:sp>
      <p:sp>
        <p:nvSpPr>
          <p:cNvPr id="78" name="Text 76"/>
          <p:cNvSpPr/>
          <p:nvPr/>
        </p:nvSpPr>
        <p:spPr>
          <a:xfrm>
            <a:off x="384048" y="4133088"/>
            <a:ext cx="1280160" cy="201168"/>
          </a:xfrm>
          <a:prstGeom prst="rect">
            <a:avLst/>
          </a:prstGeom>
          <a:noFill/>
          <a:ln/>
        </p:spPr>
        <p:txBody>
          <a:bodyPr wrap="square" rtlCol="0" anchor="ctr"/>
          <a:lstStyle/>
          <a:p>
            <a:pPr indent="0" marL="0">
              <a:buNone/>
            </a:pPr>
            <a:r>
              <a:rPr lang="en-US" sz="800" b="1" dirty="0">
                <a:solidFill>
                  <a:srgbClr val="FF6B6B"/>
                </a:solidFill>
                <a:latin typeface="Calibri" pitchFamily="34" charset="0"/>
                <a:ea typeface="Calibri" pitchFamily="34" charset="-122"/>
                <a:cs typeface="Calibri" pitchFamily="34" charset="-120"/>
              </a:rPr>
              <a:t>⚠ EXAM TRAP</a:t>
            </a:r>
            <a:endParaRPr lang="en-US" sz="800" dirty="0"/>
          </a:p>
        </p:txBody>
      </p:sp>
      <p:sp>
        <p:nvSpPr>
          <p:cNvPr id="79" name="Text 77"/>
          <p:cNvSpPr/>
          <p:nvPr/>
        </p:nvSpPr>
        <p:spPr>
          <a:xfrm>
            <a:off x="384048" y="4325112"/>
            <a:ext cx="8430768"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chmod -R 777 / or rm -rf / will destroy your server — no recovery, no undo</a:t>
            </a:r>
            <a:endParaRPr lang="en-US" sz="900" dirty="0"/>
          </a:p>
        </p:txBody>
      </p:sp>
      <p:sp>
        <p:nvSpPr>
          <p:cNvPr id="80" name="Text 78"/>
          <p:cNvSpPr/>
          <p:nvPr/>
        </p:nvSpPr>
        <p:spPr>
          <a:xfrm>
            <a:off x="1719072" y="4133088"/>
            <a:ext cx="7095744" cy="201168"/>
          </a:xfrm>
          <a:prstGeom prst="rect">
            <a:avLst/>
          </a:prstGeom>
          <a:noFill/>
          <a:ln/>
        </p:spPr>
        <p:txBody>
          <a:bodyPr wrap="square" rtlCol="0" anchor="ctr"/>
          <a:lstStyle/>
          <a:p>
            <a:pPr indent="0" marL="0">
              <a:buNone/>
            </a:pPr>
            <a:r>
              <a:rPr lang="en-US" sz="850" b="1" dirty="0">
                <a:solidFill>
                  <a:srgbClr val="00FF88"/>
                </a:solidFill>
                <a:latin typeface="Calibri" pitchFamily="34" charset="0"/>
                <a:ea typeface="Calibri" pitchFamily="34" charset="-122"/>
                <a:cs typeface="Calibri" pitchFamily="34" charset="-120"/>
              </a:rPr>
              <a:t>✓ chmod 755 for directories, 644 for files. NEVER use 777 on a server. NEVER rm -rf without checking pwd first.</a:t>
            </a:r>
            <a:endParaRPr lang="en-US" sz="850" dirty="0"/>
          </a:p>
        </p:txBody>
      </p:sp>
      <p:sp>
        <p:nvSpPr>
          <p:cNvPr id="81" name="Text 79"/>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F6E56"/>
          </a:solidFill>
          <a:ln w="12700">
            <a:solidFill>
              <a:srgbClr val="0F6E56"/>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0F6E56">
              <a:alpha val="80000"/>
            </a:srgbClr>
          </a:solidFill>
          <a:ln w="12700">
            <a:solidFill>
              <a:srgbClr val="0F6E56"/>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2</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Module 2 — Quick Quiz</a:t>
            </a:r>
            <a:endParaRPr lang="en-US" sz="1600" dirty="0"/>
          </a:p>
        </p:txBody>
      </p:sp>
      <p:sp>
        <p:nvSpPr>
          <p:cNvPr id="7" name="Shape 5"/>
          <p:cNvSpPr/>
          <p:nvPr/>
        </p:nvSpPr>
        <p:spPr>
          <a:xfrm>
            <a:off x="256032" y="530352"/>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56032" y="530352"/>
            <a:ext cx="4160520" cy="36576"/>
          </a:xfrm>
          <a:prstGeom prst="rect">
            <a:avLst/>
          </a:prstGeom>
          <a:solidFill>
            <a:srgbClr val="0F6E56"/>
          </a:solidFill>
          <a:ln w="12700">
            <a:solidFill>
              <a:srgbClr val="0F6E56"/>
            </a:solidFill>
            <a:prstDash val="solid"/>
          </a:ln>
        </p:spPr>
      </p:sp>
      <p:sp>
        <p:nvSpPr>
          <p:cNvPr id="9" name="Text 7"/>
          <p:cNvSpPr/>
          <p:nvPr/>
        </p:nvSpPr>
        <p:spPr>
          <a:xfrm>
            <a:off x="329184" y="603504"/>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10" name="Text 8"/>
          <p:cNvSpPr/>
          <p:nvPr/>
        </p:nvSpPr>
        <p:spPr>
          <a:xfrm>
            <a:off x="621792"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does ls -la show that ls alone does not?</a:t>
            </a:r>
            <a:endParaRPr lang="en-US" sz="1000" dirty="0"/>
          </a:p>
        </p:txBody>
      </p:sp>
      <p:sp>
        <p:nvSpPr>
          <p:cNvPr id="11" name="Shape 9"/>
          <p:cNvSpPr/>
          <p:nvPr/>
        </p:nvSpPr>
        <p:spPr>
          <a:xfrm>
            <a:off x="347472" y="987552"/>
            <a:ext cx="3977640" cy="36576"/>
          </a:xfrm>
          <a:prstGeom prst="rect">
            <a:avLst/>
          </a:prstGeom>
          <a:solidFill>
            <a:srgbClr val="0F6E56">
              <a:alpha val="30000"/>
            </a:srgbClr>
          </a:solidFill>
          <a:ln w="12700">
            <a:solidFill>
              <a:srgbClr val="0F6E56">
                <a:alpha val="30000"/>
              </a:srgbClr>
            </a:solidFill>
            <a:prstDash val="solid"/>
          </a:ln>
        </p:spPr>
      </p:sp>
      <p:sp>
        <p:nvSpPr>
          <p:cNvPr id="12" name="Text 10"/>
          <p:cNvSpPr/>
          <p:nvPr/>
        </p:nvSpPr>
        <p:spPr>
          <a:xfrm>
            <a:off x="347472" y="1060704"/>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Hidden files (starting with .) and full permission string, owner, group, file size, and modification date for every file</a:t>
            </a:r>
            <a:endParaRPr lang="en-US" sz="950" dirty="0"/>
          </a:p>
        </p:txBody>
      </p:sp>
      <p:sp>
        <p:nvSpPr>
          <p:cNvPr id="13" name="Shape 11"/>
          <p:cNvSpPr/>
          <p:nvPr/>
        </p:nvSpPr>
        <p:spPr>
          <a:xfrm>
            <a:off x="4727448" y="530352"/>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727448" y="530352"/>
            <a:ext cx="4160520" cy="36576"/>
          </a:xfrm>
          <a:prstGeom prst="rect">
            <a:avLst/>
          </a:prstGeom>
          <a:solidFill>
            <a:srgbClr val="0F6E56"/>
          </a:solidFill>
          <a:ln w="12700">
            <a:solidFill>
              <a:srgbClr val="0F6E56"/>
            </a:solidFill>
            <a:prstDash val="solid"/>
          </a:ln>
        </p:spPr>
      </p:sp>
      <p:sp>
        <p:nvSpPr>
          <p:cNvPr id="15" name="Text 13"/>
          <p:cNvSpPr/>
          <p:nvPr/>
        </p:nvSpPr>
        <p:spPr>
          <a:xfrm>
            <a:off x="4800600" y="603504"/>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16" name="Text 14"/>
          <p:cNvSpPr/>
          <p:nvPr/>
        </p:nvSpPr>
        <p:spPr>
          <a:xfrm>
            <a:off x="5093208"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A file has permissions rw-r--r--. What is the octal notation?</a:t>
            </a:r>
            <a:endParaRPr lang="en-US" sz="1000" dirty="0"/>
          </a:p>
        </p:txBody>
      </p:sp>
      <p:sp>
        <p:nvSpPr>
          <p:cNvPr id="17" name="Shape 15"/>
          <p:cNvSpPr/>
          <p:nvPr/>
        </p:nvSpPr>
        <p:spPr>
          <a:xfrm>
            <a:off x="4818888" y="987552"/>
            <a:ext cx="3977640" cy="36576"/>
          </a:xfrm>
          <a:prstGeom prst="rect">
            <a:avLst/>
          </a:prstGeom>
          <a:solidFill>
            <a:srgbClr val="0F6E56">
              <a:alpha val="30000"/>
            </a:srgbClr>
          </a:solidFill>
          <a:ln w="12700">
            <a:solidFill>
              <a:srgbClr val="0F6E56">
                <a:alpha val="30000"/>
              </a:srgbClr>
            </a:solidFill>
            <a:prstDash val="solid"/>
          </a:ln>
        </p:spPr>
      </p:sp>
      <p:sp>
        <p:nvSpPr>
          <p:cNvPr id="18" name="Text 16"/>
          <p:cNvSpPr/>
          <p:nvPr/>
        </p:nvSpPr>
        <p:spPr>
          <a:xfrm>
            <a:off x="4818888" y="1060704"/>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644 — Owner: rw- = 6, Group: r-- = 4, Other: r-- = 4. Formula: r=4, w=2, x=1, add values for each group.</a:t>
            </a:r>
            <a:endParaRPr lang="en-US" sz="950" dirty="0"/>
          </a:p>
        </p:txBody>
      </p:sp>
      <p:sp>
        <p:nvSpPr>
          <p:cNvPr id="19" name="Shape 17"/>
          <p:cNvSpPr/>
          <p:nvPr/>
        </p:nvSpPr>
        <p:spPr>
          <a:xfrm>
            <a:off x="256032" y="1664208"/>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56032" y="1664208"/>
            <a:ext cx="4160520" cy="36576"/>
          </a:xfrm>
          <a:prstGeom prst="rect">
            <a:avLst/>
          </a:prstGeom>
          <a:solidFill>
            <a:srgbClr val="0F6E56"/>
          </a:solidFill>
          <a:ln w="12700">
            <a:solidFill>
              <a:srgbClr val="0F6E56"/>
            </a:solidFill>
            <a:prstDash val="solid"/>
          </a:ln>
        </p:spPr>
      </p:sp>
      <p:sp>
        <p:nvSpPr>
          <p:cNvPr id="21" name="Text 19"/>
          <p:cNvSpPr/>
          <p:nvPr/>
        </p:nvSpPr>
        <p:spPr>
          <a:xfrm>
            <a:off x="329184" y="1737360"/>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22" name="Text 20"/>
          <p:cNvSpPr/>
          <p:nvPr/>
        </p:nvSpPr>
        <p:spPr>
          <a:xfrm>
            <a:off x="621792"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does the pipe operator | do?</a:t>
            </a:r>
            <a:endParaRPr lang="en-US" sz="1000" dirty="0"/>
          </a:p>
        </p:txBody>
      </p:sp>
      <p:sp>
        <p:nvSpPr>
          <p:cNvPr id="23" name="Shape 21"/>
          <p:cNvSpPr/>
          <p:nvPr/>
        </p:nvSpPr>
        <p:spPr>
          <a:xfrm>
            <a:off x="347472" y="2121408"/>
            <a:ext cx="3977640" cy="36576"/>
          </a:xfrm>
          <a:prstGeom prst="rect">
            <a:avLst/>
          </a:prstGeom>
          <a:solidFill>
            <a:srgbClr val="0F6E56">
              <a:alpha val="30000"/>
            </a:srgbClr>
          </a:solidFill>
          <a:ln w="12700">
            <a:solidFill>
              <a:srgbClr val="0F6E56">
                <a:alpha val="30000"/>
              </a:srgbClr>
            </a:solidFill>
            <a:prstDash val="solid"/>
          </a:ln>
        </p:spPr>
      </p:sp>
      <p:sp>
        <p:nvSpPr>
          <p:cNvPr id="24" name="Text 22"/>
          <p:cNvSpPr/>
          <p:nvPr/>
        </p:nvSpPr>
        <p:spPr>
          <a:xfrm>
            <a:off x="347472" y="2194560"/>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Sends the standard output (stdout) of the command on the left as the standard input (stdin) to the command on the right. Enables command chaining.</a:t>
            </a:r>
            <a:endParaRPr lang="en-US" sz="950" dirty="0"/>
          </a:p>
        </p:txBody>
      </p:sp>
      <p:sp>
        <p:nvSpPr>
          <p:cNvPr id="25" name="Shape 23"/>
          <p:cNvSpPr/>
          <p:nvPr/>
        </p:nvSpPr>
        <p:spPr>
          <a:xfrm>
            <a:off x="4727448" y="1664208"/>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727448" y="1664208"/>
            <a:ext cx="4160520" cy="36576"/>
          </a:xfrm>
          <a:prstGeom prst="rect">
            <a:avLst/>
          </a:prstGeom>
          <a:solidFill>
            <a:srgbClr val="0F6E56"/>
          </a:solidFill>
          <a:ln w="12700">
            <a:solidFill>
              <a:srgbClr val="0F6E56"/>
            </a:solidFill>
            <a:prstDash val="solid"/>
          </a:ln>
        </p:spPr>
      </p:sp>
      <p:sp>
        <p:nvSpPr>
          <p:cNvPr id="27" name="Text 25"/>
          <p:cNvSpPr/>
          <p:nvPr/>
        </p:nvSpPr>
        <p:spPr>
          <a:xfrm>
            <a:off x="4800600" y="1737360"/>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28" name="Text 26"/>
          <p:cNvSpPr/>
          <p:nvPr/>
        </p:nvSpPr>
        <p:spPr>
          <a:xfrm>
            <a:off x="5093208"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is the first line of every Bash script and why?</a:t>
            </a:r>
            <a:endParaRPr lang="en-US" sz="1000" dirty="0"/>
          </a:p>
        </p:txBody>
      </p:sp>
      <p:sp>
        <p:nvSpPr>
          <p:cNvPr id="29" name="Shape 27"/>
          <p:cNvSpPr/>
          <p:nvPr/>
        </p:nvSpPr>
        <p:spPr>
          <a:xfrm>
            <a:off x="4818888" y="2121408"/>
            <a:ext cx="3977640" cy="36576"/>
          </a:xfrm>
          <a:prstGeom prst="rect">
            <a:avLst/>
          </a:prstGeom>
          <a:solidFill>
            <a:srgbClr val="0F6E56">
              <a:alpha val="30000"/>
            </a:srgbClr>
          </a:solidFill>
          <a:ln w="12700">
            <a:solidFill>
              <a:srgbClr val="0F6E56">
                <a:alpha val="30000"/>
              </a:srgbClr>
            </a:solidFill>
            <a:prstDash val="solid"/>
          </a:ln>
        </p:spPr>
      </p:sp>
      <p:sp>
        <p:nvSpPr>
          <p:cNvPr id="30" name="Text 28"/>
          <p:cNvSpPr/>
          <p:nvPr/>
        </p:nvSpPr>
        <p:spPr>
          <a:xfrm>
            <a:off x="4818888" y="2194560"/>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#!/bin/bash — called the shebang. Tells the OS which interpreter to use to execute the script. Without it the script may not run correctly.</a:t>
            </a:r>
            <a:endParaRPr lang="en-US" sz="950" dirty="0"/>
          </a:p>
        </p:txBody>
      </p:sp>
      <p:sp>
        <p:nvSpPr>
          <p:cNvPr id="31" name="Shape 29"/>
          <p:cNvSpPr/>
          <p:nvPr/>
        </p:nvSpPr>
        <p:spPr>
          <a:xfrm>
            <a:off x="256032" y="2798064"/>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256032" y="2798064"/>
            <a:ext cx="4160520" cy="36576"/>
          </a:xfrm>
          <a:prstGeom prst="rect">
            <a:avLst/>
          </a:prstGeom>
          <a:solidFill>
            <a:srgbClr val="0F6E56"/>
          </a:solidFill>
          <a:ln w="12700">
            <a:solidFill>
              <a:srgbClr val="0F6E56"/>
            </a:solidFill>
            <a:prstDash val="solid"/>
          </a:ln>
        </p:spPr>
      </p:sp>
      <p:sp>
        <p:nvSpPr>
          <p:cNvPr id="33" name="Text 31"/>
          <p:cNvSpPr/>
          <p:nvPr/>
        </p:nvSpPr>
        <p:spPr>
          <a:xfrm>
            <a:off x="329184" y="2871216"/>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34" name="Text 32"/>
          <p:cNvSpPr/>
          <p:nvPr/>
        </p:nvSpPr>
        <p:spPr>
          <a:xfrm>
            <a:off x="621792"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How do you install nginx on Ubuntu and make it start on boot?</a:t>
            </a:r>
            <a:endParaRPr lang="en-US" sz="1000" dirty="0"/>
          </a:p>
        </p:txBody>
      </p:sp>
      <p:sp>
        <p:nvSpPr>
          <p:cNvPr id="35" name="Shape 33"/>
          <p:cNvSpPr/>
          <p:nvPr/>
        </p:nvSpPr>
        <p:spPr>
          <a:xfrm>
            <a:off x="347472" y="3255264"/>
            <a:ext cx="3977640" cy="36576"/>
          </a:xfrm>
          <a:prstGeom prst="rect">
            <a:avLst/>
          </a:prstGeom>
          <a:solidFill>
            <a:srgbClr val="0F6E56">
              <a:alpha val="30000"/>
            </a:srgbClr>
          </a:solidFill>
          <a:ln w="12700">
            <a:solidFill>
              <a:srgbClr val="0F6E56">
                <a:alpha val="30000"/>
              </a:srgbClr>
            </a:solidFill>
            <a:prstDash val="solid"/>
          </a:ln>
        </p:spPr>
      </p:sp>
      <p:sp>
        <p:nvSpPr>
          <p:cNvPr id="36" name="Text 34"/>
          <p:cNvSpPr/>
          <p:nvPr/>
        </p:nvSpPr>
        <p:spPr>
          <a:xfrm>
            <a:off x="347472" y="3328416"/>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sudo apt install nginx -y  then  sudo systemctl enable nginx  then  sudo systemctl start nginx</a:t>
            </a:r>
            <a:endParaRPr lang="en-US" sz="950" dirty="0"/>
          </a:p>
        </p:txBody>
      </p:sp>
      <p:sp>
        <p:nvSpPr>
          <p:cNvPr id="37" name="Shape 35"/>
          <p:cNvSpPr/>
          <p:nvPr/>
        </p:nvSpPr>
        <p:spPr>
          <a:xfrm>
            <a:off x="4727448" y="2798064"/>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4727448" y="2798064"/>
            <a:ext cx="4160520" cy="36576"/>
          </a:xfrm>
          <a:prstGeom prst="rect">
            <a:avLst/>
          </a:prstGeom>
          <a:solidFill>
            <a:srgbClr val="0F6E56"/>
          </a:solidFill>
          <a:ln w="12700">
            <a:solidFill>
              <a:srgbClr val="0F6E56"/>
            </a:solidFill>
            <a:prstDash val="solid"/>
          </a:ln>
        </p:spPr>
      </p:sp>
      <p:sp>
        <p:nvSpPr>
          <p:cNvPr id="39" name="Text 37"/>
          <p:cNvSpPr/>
          <p:nvPr/>
        </p:nvSpPr>
        <p:spPr>
          <a:xfrm>
            <a:off x="4800600" y="2871216"/>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40" name="Text 38"/>
          <p:cNvSpPr/>
          <p:nvPr/>
        </p:nvSpPr>
        <p:spPr>
          <a:xfrm>
            <a:off x="5093208"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You run tail -f /var/log/nginx/access.log. What do you see?</a:t>
            </a:r>
            <a:endParaRPr lang="en-US" sz="1000" dirty="0"/>
          </a:p>
        </p:txBody>
      </p:sp>
      <p:sp>
        <p:nvSpPr>
          <p:cNvPr id="41" name="Shape 39"/>
          <p:cNvSpPr/>
          <p:nvPr/>
        </p:nvSpPr>
        <p:spPr>
          <a:xfrm>
            <a:off x="4818888" y="3255264"/>
            <a:ext cx="3977640" cy="36576"/>
          </a:xfrm>
          <a:prstGeom prst="rect">
            <a:avLst/>
          </a:prstGeom>
          <a:solidFill>
            <a:srgbClr val="0F6E56">
              <a:alpha val="30000"/>
            </a:srgbClr>
          </a:solidFill>
          <a:ln w="12700">
            <a:solidFill>
              <a:srgbClr val="0F6E56">
                <a:alpha val="30000"/>
              </a:srgbClr>
            </a:solidFill>
            <a:prstDash val="solid"/>
          </a:ln>
        </p:spPr>
      </p:sp>
      <p:sp>
        <p:nvSpPr>
          <p:cNvPr id="42" name="Text 40"/>
          <p:cNvSpPr/>
          <p:nvPr/>
        </p:nvSpPr>
        <p:spPr>
          <a:xfrm>
            <a:off x="4818888" y="3328416"/>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A live, continuously updating stream of incoming HTTP requests to the nginx web server — source IP, method, URL, status code, and bytes.</a:t>
            </a:r>
            <a:endParaRPr lang="en-US" sz="950" dirty="0"/>
          </a:p>
        </p:txBody>
      </p:sp>
      <p:sp>
        <p:nvSpPr>
          <p:cNvPr id="43" name="Text 41"/>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D1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C7B93"/>
          </a:solidFill>
          <a:ln w="12700">
            <a:solidFill>
              <a:srgbClr val="0C7B93"/>
            </a:solidFill>
            <a:prstDash val="solid"/>
          </a:ln>
        </p:spPr>
      </p:sp>
      <p:sp>
        <p:nvSpPr>
          <p:cNvPr id="3" name="Shape 1"/>
          <p:cNvSpPr/>
          <p:nvPr/>
        </p:nvSpPr>
        <p:spPr>
          <a:xfrm>
            <a:off x="73152" y="0"/>
            <a:ext cx="9070848" cy="36576"/>
          </a:xfrm>
          <a:prstGeom prst="rect">
            <a:avLst/>
          </a:prstGeom>
          <a:solidFill>
            <a:srgbClr val="0C7B93"/>
          </a:solidFill>
          <a:ln w="12700">
            <a:solidFill>
              <a:srgbClr val="0C7B93"/>
            </a:solidFill>
            <a:prstDash val="solid"/>
          </a:ln>
        </p:spPr>
      </p:sp>
      <p:sp>
        <p:nvSpPr>
          <p:cNvPr id="4" name="Shape 2"/>
          <p:cNvSpPr/>
          <p:nvPr/>
        </p:nvSpPr>
        <p:spPr>
          <a:xfrm>
            <a:off x="0" y="5106924"/>
            <a:ext cx="9144000" cy="36576"/>
          </a:xfrm>
          <a:prstGeom prst="rect">
            <a:avLst/>
          </a:prstGeom>
          <a:solidFill>
            <a:srgbClr val="D4AF37"/>
          </a:solidFill>
          <a:ln w="12700">
            <a:solidFill>
              <a:srgbClr val="D4AF37"/>
            </a:solidFill>
            <a:prstDash val="solid"/>
          </a:ln>
        </p:spPr>
      </p:sp>
      <p:sp>
        <p:nvSpPr>
          <p:cNvPr id="5" name="Text 3"/>
          <p:cNvSpPr/>
          <p:nvPr/>
        </p:nvSpPr>
        <p:spPr>
          <a:xfrm>
            <a:off x="274320" y="274320"/>
            <a:ext cx="2560320" cy="2011680"/>
          </a:xfrm>
          <a:prstGeom prst="rect">
            <a:avLst/>
          </a:prstGeom>
          <a:noFill/>
          <a:ln/>
        </p:spPr>
        <p:txBody>
          <a:bodyPr wrap="square" rtlCol="0" anchor="ctr"/>
          <a:lstStyle/>
          <a:p>
            <a:pPr indent="0" marL="0">
              <a:buNone/>
            </a:pPr>
            <a:r>
              <a:rPr lang="en-US" sz="14000" b="1" dirty="0">
                <a:solidFill>
                  <a:srgbClr val="0C7B93">
                    <a:alpha val="25000"/>
                  </a:srgbClr>
                </a:solidFill>
                <a:latin typeface="Arial Black" pitchFamily="34" charset="0"/>
                <a:ea typeface="Arial Black" pitchFamily="34" charset="-122"/>
                <a:cs typeface="Arial Black" pitchFamily="34" charset="-120"/>
              </a:rPr>
              <a:t>03</a:t>
            </a:r>
            <a:endParaRPr lang="en-US" sz="14000" dirty="0"/>
          </a:p>
        </p:txBody>
      </p:sp>
      <p:sp>
        <p:nvSpPr>
          <p:cNvPr id="6" name="Text 4"/>
          <p:cNvSpPr/>
          <p:nvPr/>
        </p:nvSpPr>
        <p:spPr>
          <a:xfrm>
            <a:off x="2926080" y="822960"/>
            <a:ext cx="5943600" cy="347472"/>
          </a:xfrm>
          <a:prstGeom prst="rect">
            <a:avLst/>
          </a:prstGeom>
          <a:noFill/>
          <a:ln/>
        </p:spPr>
        <p:txBody>
          <a:bodyPr wrap="square" rtlCol="0" anchor="ctr"/>
          <a:lstStyle/>
          <a:p>
            <a:pPr indent="0" marL="0">
              <a:buNone/>
            </a:pPr>
            <a:r>
              <a:rPr lang="en-US" sz="1200" b="1" spc="300" kern="0" dirty="0">
                <a:solidFill>
                  <a:srgbClr val="0C7B93"/>
                </a:solidFill>
                <a:latin typeface="Calibri" pitchFamily="34" charset="0"/>
                <a:ea typeface="Calibri" pitchFamily="34" charset="-122"/>
                <a:cs typeface="Calibri" pitchFamily="34" charset="-120"/>
              </a:rPr>
              <a:t>MODULE 3</a:t>
            </a:r>
            <a:endParaRPr lang="en-US" sz="1200" dirty="0"/>
          </a:p>
        </p:txBody>
      </p:sp>
      <p:sp>
        <p:nvSpPr>
          <p:cNvPr id="7" name="Text 5"/>
          <p:cNvSpPr/>
          <p:nvPr/>
        </p:nvSpPr>
        <p:spPr>
          <a:xfrm>
            <a:off x="2926080" y="1234440"/>
            <a:ext cx="5943600" cy="640080"/>
          </a:xfrm>
          <a:prstGeom prst="rect">
            <a:avLst/>
          </a:prstGeom>
          <a:noFill/>
          <a:ln/>
        </p:spPr>
        <p:txBody>
          <a:bodyPr wrap="square" rtlCol="0" anchor="ctr"/>
          <a:lstStyle/>
          <a:p>
            <a:pPr indent="0" marL="0">
              <a:buNone/>
            </a:pPr>
            <a:r>
              <a:rPr lang="en-US" sz="3400" b="1" dirty="0">
                <a:solidFill>
                  <a:srgbClr val="F0F4FF"/>
                </a:solidFill>
                <a:latin typeface="Calibri" pitchFamily="34" charset="0"/>
                <a:ea typeface="Calibri" pitchFamily="34" charset="-122"/>
                <a:cs typeface="Calibri" pitchFamily="34" charset="-120"/>
              </a:rPr>
              <a:t>Networking Fundamentals</a:t>
            </a:r>
            <a:endParaRPr lang="en-US" sz="3400" dirty="0"/>
          </a:p>
        </p:txBody>
      </p:sp>
      <p:sp>
        <p:nvSpPr>
          <p:cNvPr id="8" name="Text 6"/>
          <p:cNvSpPr/>
          <p:nvPr/>
        </p:nvSpPr>
        <p:spPr>
          <a:xfrm>
            <a:off x="2926080" y="1901952"/>
            <a:ext cx="5943600" cy="438912"/>
          </a:xfrm>
          <a:prstGeom prst="rect">
            <a:avLst/>
          </a:prstGeom>
          <a:noFill/>
          <a:ln/>
        </p:spPr>
        <p:txBody>
          <a:bodyPr wrap="square" rtlCol="0" anchor="ctr"/>
          <a:lstStyle/>
          <a:p>
            <a:pPr indent="0" marL="0">
              <a:buNone/>
            </a:pPr>
            <a:r>
              <a:rPr lang="en-US" sz="1800" i="1" dirty="0">
                <a:solidFill>
                  <a:srgbClr val="0C7B93"/>
                </a:solidFill>
                <a:latin typeface="Calibri" pitchFamily="34" charset="0"/>
                <a:ea typeface="Calibri" pitchFamily="34" charset="-122"/>
                <a:cs typeface="Calibri" pitchFamily="34" charset="-120"/>
              </a:rPr>
              <a:t>OSI model · TCP/UDP · Subnetting · VPC · Troubleshooting</a:t>
            </a:r>
            <a:endParaRPr lang="en-US" sz="1800" dirty="0"/>
          </a:p>
        </p:txBody>
      </p:sp>
      <p:sp>
        <p:nvSpPr>
          <p:cNvPr id="9" name="Text 7"/>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Deck</a:t>
            </a:r>
            <a:endParaRPr lang="en-US" sz="900" dirty="0"/>
          </a:p>
        </p:txBody>
      </p:sp>
      <p:sp>
        <p:nvSpPr>
          <p:cNvPr id="10" name="Shape 8"/>
          <p:cNvSpPr/>
          <p:nvPr/>
        </p:nvSpPr>
        <p:spPr>
          <a:xfrm>
            <a:off x="2926080" y="2468880"/>
            <a:ext cx="54864" cy="274320"/>
          </a:xfrm>
          <a:prstGeom prst="rect">
            <a:avLst/>
          </a:prstGeom>
          <a:solidFill>
            <a:srgbClr val="0C7B93"/>
          </a:solidFill>
          <a:ln w="12700">
            <a:solidFill>
              <a:srgbClr val="0C7B93"/>
            </a:solidFill>
            <a:prstDash val="solid"/>
          </a:ln>
        </p:spPr>
      </p:sp>
      <p:sp>
        <p:nvSpPr>
          <p:cNvPr id="11" name="Text 9"/>
          <p:cNvSpPr/>
          <p:nvPr/>
        </p:nvSpPr>
        <p:spPr>
          <a:xfrm>
            <a:off x="3090672" y="246888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OSI 7 layers — number, name, one protocol each — cold</a:t>
            </a:r>
            <a:endParaRPr lang="en-US" sz="1000" dirty="0"/>
          </a:p>
        </p:txBody>
      </p:sp>
      <p:sp>
        <p:nvSpPr>
          <p:cNvPr id="12" name="Shape 10"/>
          <p:cNvSpPr/>
          <p:nvPr/>
        </p:nvSpPr>
        <p:spPr>
          <a:xfrm>
            <a:off x="2926080" y="2816352"/>
            <a:ext cx="54864" cy="274320"/>
          </a:xfrm>
          <a:prstGeom prst="rect">
            <a:avLst/>
          </a:prstGeom>
          <a:solidFill>
            <a:srgbClr val="0C7B93"/>
          </a:solidFill>
          <a:ln w="12700">
            <a:solidFill>
              <a:srgbClr val="0C7B93"/>
            </a:solidFill>
            <a:prstDash val="solid"/>
          </a:ln>
        </p:spPr>
      </p:sp>
      <p:sp>
        <p:nvSpPr>
          <p:cNvPr id="13" name="Text 11"/>
          <p:cNvSpPr/>
          <p:nvPr/>
        </p:nvSpPr>
        <p:spPr>
          <a:xfrm>
            <a:off x="3090672" y="2816352"/>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TCP three-way handshake: SYN → SYN-ACK → ACK</a:t>
            </a:r>
            <a:endParaRPr lang="en-US" sz="1000" dirty="0"/>
          </a:p>
        </p:txBody>
      </p:sp>
      <p:sp>
        <p:nvSpPr>
          <p:cNvPr id="14" name="Shape 12"/>
          <p:cNvSpPr/>
          <p:nvPr/>
        </p:nvSpPr>
        <p:spPr>
          <a:xfrm>
            <a:off x="2926080" y="3163824"/>
            <a:ext cx="54864" cy="274320"/>
          </a:xfrm>
          <a:prstGeom prst="rect">
            <a:avLst/>
          </a:prstGeom>
          <a:solidFill>
            <a:srgbClr val="0C7B93"/>
          </a:solidFill>
          <a:ln w="12700">
            <a:solidFill>
              <a:srgbClr val="0C7B93"/>
            </a:solidFill>
            <a:prstDash val="solid"/>
          </a:ln>
        </p:spPr>
      </p:sp>
      <p:sp>
        <p:nvSpPr>
          <p:cNvPr id="15" name="Text 13"/>
          <p:cNvSpPr/>
          <p:nvPr/>
        </p:nvSpPr>
        <p:spPr>
          <a:xfrm>
            <a:off x="3090672" y="3163824"/>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UDP: connectionless, faster, tolerates packet loss</a:t>
            </a:r>
            <a:endParaRPr lang="en-US" sz="1000" dirty="0"/>
          </a:p>
        </p:txBody>
      </p:sp>
      <p:sp>
        <p:nvSpPr>
          <p:cNvPr id="16" name="Shape 14"/>
          <p:cNvSpPr/>
          <p:nvPr/>
        </p:nvSpPr>
        <p:spPr>
          <a:xfrm>
            <a:off x="2926080" y="3511296"/>
            <a:ext cx="54864" cy="274320"/>
          </a:xfrm>
          <a:prstGeom prst="rect">
            <a:avLst/>
          </a:prstGeom>
          <a:solidFill>
            <a:srgbClr val="0C7B93"/>
          </a:solidFill>
          <a:ln w="12700">
            <a:solidFill>
              <a:srgbClr val="0C7B93"/>
            </a:solidFill>
            <a:prstDash val="solid"/>
          </a:ln>
        </p:spPr>
      </p:sp>
      <p:sp>
        <p:nvSpPr>
          <p:cNvPr id="17" name="Text 15"/>
          <p:cNvSpPr/>
          <p:nvPr/>
        </p:nvSpPr>
        <p:spPr>
          <a:xfrm>
            <a:off x="3090672" y="3511296"/>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CIDR formula: 2^(32−prefix) − 2 usable hosts</a:t>
            </a:r>
            <a:endParaRPr lang="en-US" sz="1000" dirty="0"/>
          </a:p>
        </p:txBody>
      </p:sp>
      <p:sp>
        <p:nvSpPr>
          <p:cNvPr id="18" name="Shape 16"/>
          <p:cNvSpPr/>
          <p:nvPr/>
        </p:nvSpPr>
        <p:spPr>
          <a:xfrm>
            <a:off x="2926080" y="3858768"/>
            <a:ext cx="54864" cy="274320"/>
          </a:xfrm>
          <a:prstGeom prst="rect">
            <a:avLst/>
          </a:prstGeom>
          <a:solidFill>
            <a:srgbClr val="0C7B93"/>
          </a:solidFill>
          <a:ln w="12700">
            <a:solidFill>
              <a:srgbClr val="0C7B93"/>
            </a:solidFill>
            <a:prstDash val="solid"/>
          </a:ln>
        </p:spPr>
      </p:sp>
      <p:sp>
        <p:nvSpPr>
          <p:cNvPr id="19" name="Text 17"/>
          <p:cNvSpPr/>
          <p:nvPr/>
        </p:nvSpPr>
        <p:spPr>
          <a:xfrm>
            <a:off x="3090672" y="3858768"/>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Default route 0.0.0.0/0 → IGW for public subnets</a:t>
            </a:r>
            <a:endParaRPr lang="en-US" sz="1000" dirty="0"/>
          </a:p>
        </p:txBody>
      </p:sp>
      <p:sp>
        <p:nvSpPr>
          <p:cNvPr id="20" name="Shape 18"/>
          <p:cNvSpPr/>
          <p:nvPr/>
        </p:nvSpPr>
        <p:spPr>
          <a:xfrm>
            <a:off x="2926080" y="4206240"/>
            <a:ext cx="54864" cy="274320"/>
          </a:xfrm>
          <a:prstGeom prst="rect">
            <a:avLst/>
          </a:prstGeom>
          <a:solidFill>
            <a:srgbClr val="0C7B93"/>
          </a:solidFill>
          <a:ln w="12700">
            <a:solidFill>
              <a:srgbClr val="0C7B93"/>
            </a:solidFill>
            <a:prstDash val="solid"/>
          </a:ln>
        </p:spPr>
      </p:sp>
      <p:sp>
        <p:nvSpPr>
          <p:cNvPr id="21" name="Text 19"/>
          <p:cNvSpPr/>
          <p:nvPr/>
        </p:nvSpPr>
        <p:spPr>
          <a:xfrm>
            <a:off x="3090672" y="420624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SG stateful (return auto) · NACL stateless (both dirs)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D1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B93"/>
          </a:solidFill>
          <a:ln w="12700">
            <a:solidFill>
              <a:srgbClr val="0C7B93"/>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0C7B93">
              <a:alpha val="80000"/>
            </a:srgbClr>
          </a:solidFill>
          <a:ln w="12700">
            <a:solidFill>
              <a:srgbClr val="0C7B93"/>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3</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OSI Model &amp; CIDR Subnetting</a:t>
            </a:r>
            <a:endParaRPr lang="en-US" sz="1600" dirty="0"/>
          </a:p>
        </p:txBody>
      </p:sp>
      <p:sp>
        <p:nvSpPr>
          <p:cNvPr id="7" name="Shape 5"/>
          <p:cNvSpPr/>
          <p:nvPr/>
        </p:nvSpPr>
        <p:spPr>
          <a:xfrm>
            <a:off x="256032" y="530352"/>
            <a:ext cx="402336" cy="438912"/>
          </a:xfrm>
          <a:prstGeom prst="rect">
            <a:avLst/>
          </a:prstGeom>
          <a:solidFill>
            <a:srgbClr val="00D4FF">
              <a:alpha val="85000"/>
            </a:srgbClr>
          </a:solidFill>
          <a:ln w="12700">
            <a:solidFill>
              <a:srgbClr val="00D4FF"/>
            </a:solidFill>
            <a:prstDash val="solid"/>
          </a:ln>
        </p:spPr>
      </p:sp>
      <p:sp>
        <p:nvSpPr>
          <p:cNvPr id="8" name="Text 6"/>
          <p:cNvSpPr/>
          <p:nvPr/>
        </p:nvSpPr>
        <p:spPr>
          <a:xfrm>
            <a:off x="256032" y="530352"/>
            <a:ext cx="402336" cy="438912"/>
          </a:xfrm>
          <a:prstGeom prst="rect">
            <a:avLst/>
          </a:prstGeom>
          <a:noFill/>
          <a:ln/>
        </p:spPr>
        <p:txBody>
          <a:bodyPr wrap="square" rtlCol="0" anchor="ctr"/>
          <a:lstStyle/>
          <a:p>
            <a:pPr algn="ctr" indent="0" marL="0">
              <a:buNone/>
            </a:pPr>
            <a:r>
              <a:rPr lang="en-US" sz="1800" b="1" dirty="0">
                <a:solidFill>
                  <a:srgbClr val="060D18"/>
                </a:solidFill>
                <a:latin typeface="Arial Black" pitchFamily="34" charset="0"/>
                <a:ea typeface="Arial Black" pitchFamily="34" charset="-122"/>
                <a:cs typeface="Arial Black" pitchFamily="34" charset="-120"/>
              </a:rPr>
              <a:t>7</a:t>
            </a:r>
            <a:endParaRPr lang="en-US" sz="1800" dirty="0"/>
          </a:p>
        </p:txBody>
      </p:sp>
      <p:sp>
        <p:nvSpPr>
          <p:cNvPr id="9" name="Shape 7"/>
          <p:cNvSpPr/>
          <p:nvPr/>
        </p:nvSpPr>
        <p:spPr>
          <a:xfrm>
            <a:off x="676656" y="530352"/>
            <a:ext cx="1234440" cy="438912"/>
          </a:xfrm>
          <a:prstGeom prst="rect">
            <a:avLst/>
          </a:prstGeom>
          <a:solidFill>
            <a:srgbClr val="00D4FF">
              <a:alpha val="22000"/>
            </a:srgbClr>
          </a:solidFill>
          <a:ln w="12700">
            <a:solidFill>
              <a:srgbClr val="00D4FF">
                <a:alpha val="45000"/>
              </a:srgbClr>
            </a:solidFill>
            <a:prstDash val="solid"/>
          </a:ln>
        </p:spPr>
      </p:sp>
      <p:sp>
        <p:nvSpPr>
          <p:cNvPr id="10" name="Text 8"/>
          <p:cNvSpPr/>
          <p:nvPr/>
        </p:nvSpPr>
        <p:spPr>
          <a:xfrm>
            <a:off x="713232" y="530352"/>
            <a:ext cx="1161288" cy="43891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Application</a:t>
            </a:r>
            <a:endParaRPr lang="en-US" sz="1000" dirty="0"/>
          </a:p>
        </p:txBody>
      </p:sp>
      <p:sp>
        <p:nvSpPr>
          <p:cNvPr id="11" name="Shape 9"/>
          <p:cNvSpPr/>
          <p:nvPr/>
        </p:nvSpPr>
        <p:spPr>
          <a:xfrm>
            <a:off x="1929384" y="530352"/>
            <a:ext cx="2743200" cy="438912"/>
          </a:xfrm>
          <a:prstGeom prst="rect">
            <a:avLst/>
          </a:prstGeom>
          <a:solidFill>
            <a:srgbClr val="0A1525"/>
          </a:solidFill>
          <a:ln w="12700">
            <a:solidFill>
              <a:srgbClr val="1A2535"/>
            </a:solidFill>
            <a:prstDash val="solid"/>
          </a:ln>
        </p:spPr>
      </p:sp>
      <p:sp>
        <p:nvSpPr>
          <p:cNvPr id="12" name="Text 10"/>
          <p:cNvSpPr/>
          <p:nvPr/>
        </p:nvSpPr>
        <p:spPr>
          <a:xfrm>
            <a:off x="1993392" y="530352"/>
            <a:ext cx="2615184" cy="438912"/>
          </a:xfrm>
          <a:prstGeom prst="rect">
            <a:avLst/>
          </a:prstGeom>
          <a:noFill/>
          <a:ln/>
        </p:spPr>
        <p:txBody>
          <a:bodyPr wrap="square" rtlCol="0" anchor="ctr"/>
          <a:lstStyle/>
          <a:p>
            <a:pPr indent="0" marL="0">
              <a:buNone/>
            </a:pPr>
            <a:r>
              <a:rPr lang="en-US" sz="950" dirty="0">
                <a:solidFill>
                  <a:srgbClr val="00D4FF"/>
                </a:solidFill>
                <a:latin typeface="Courier New" pitchFamily="34" charset="0"/>
                <a:ea typeface="Courier New" pitchFamily="34" charset="-122"/>
                <a:cs typeface="Courier New" pitchFamily="34" charset="-120"/>
              </a:rPr>
              <a:t>HTTP · HTTPS · DNS · SSH · FTP</a:t>
            </a:r>
            <a:endParaRPr lang="en-US" sz="950" dirty="0"/>
          </a:p>
        </p:txBody>
      </p:sp>
      <p:sp>
        <p:nvSpPr>
          <p:cNvPr id="13" name="Shape 11"/>
          <p:cNvSpPr/>
          <p:nvPr/>
        </p:nvSpPr>
        <p:spPr>
          <a:xfrm>
            <a:off x="256032" y="1024128"/>
            <a:ext cx="402336" cy="438912"/>
          </a:xfrm>
          <a:prstGeom prst="rect">
            <a:avLst/>
          </a:prstGeom>
          <a:solidFill>
            <a:srgbClr val="00CC77">
              <a:alpha val="85000"/>
            </a:srgbClr>
          </a:solidFill>
          <a:ln w="12700">
            <a:solidFill>
              <a:srgbClr val="00CC77"/>
            </a:solidFill>
            <a:prstDash val="solid"/>
          </a:ln>
        </p:spPr>
      </p:sp>
      <p:sp>
        <p:nvSpPr>
          <p:cNvPr id="14" name="Text 12"/>
          <p:cNvSpPr/>
          <p:nvPr/>
        </p:nvSpPr>
        <p:spPr>
          <a:xfrm>
            <a:off x="256032" y="1024128"/>
            <a:ext cx="402336" cy="438912"/>
          </a:xfrm>
          <a:prstGeom prst="rect">
            <a:avLst/>
          </a:prstGeom>
          <a:noFill/>
          <a:ln/>
        </p:spPr>
        <p:txBody>
          <a:bodyPr wrap="square" rtlCol="0" anchor="ctr"/>
          <a:lstStyle/>
          <a:p>
            <a:pPr algn="ctr" indent="0" marL="0">
              <a:buNone/>
            </a:pPr>
            <a:r>
              <a:rPr lang="en-US" sz="1800" b="1" dirty="0">
                <a:solidFill>
                  <a:srgbClr val="060D18"/>
                </a:solidFill>
                <a:latin typeface="Arial Black" pitchFamily="34" charset="0"/>
                <a:ea typeface="Arial Black" pitchFamily="34" charset="-122"/>
                <a:cs typeface="Arial Black" pitchFamily="34" charset="-120"/>
              </a:rPr>
              <a:t>6</a:t>
            </a:r>
            <a:endParaRPr lang="en-US" sz="1800" dirty="0"/>
          </a:p>
        </p:txBody>
      </p:sp>
      <p:sp>
        <p:nvSpPr>
          <p:cNvPr id="15" name="Shape 13"/>
          <p:cNvSpPr/>
          <p:nvPr/>
        </p:nvSpPr>
        <p:spPr>
          <a:xfrm>
            <a:off x="676656" y="1024128"/>
            <a:ext cx="1234440" cy="438912"/>
          </a:xfrm>
          <a:prstGeom prst="rect">
            <a:avLst/>
          </a:prstGeom>
          <a:solidFill>
            <a:srgbClr val="00CC77">
              <a:alpha val="22000"/>
            </a:srgbClr>
          </a:solidFill>
          <a:ln w="12700">
            <a:solidFill>
              <a:srgbClr val="00CC77">
                <a:alpha val="45000"/>
              </a:srgbClr>
            </a:solidFill>
            <a:prstDash val="solid"/>
          </a:ln>
        </p:spPr>
      </p:sp>
      <p:sp>
        <p:nvSpPr>
          <p:cNvPr id="16" name="Text 14"/>
          <p:cNvSpPr/>
          <p:nvPr/>
        </p:nvSpPr>
        <p:spPr>
          <a:xfrm>
            <a:off x="713232" y="1024128"/>
            <a:ext cx="1161288" cy="43891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Presentation</a:t>
            </a:r>
            <a:endParaRPr lang="en-US" sz="1000" dirty="0"/>
          </a:p>
        </p:txBody>
      </p:sp>
      <p:sp>
        <p:nvSpPr>
          <p:cNvPr id="17" name="Shape 15"/>
          <p:cNvSpPr/>
          <p:nvPr/>
        </p:nvSpPr>
        <p:spPr>
          <a:xfrm>
            <a:off x="1929384" y="1024128"/>
            <a:ext cx="2743200" cy="438912"/>
          </a:xfrm>
          <a:prstGeom prst="rect">
            <a:avLst/>
          </a:prstGeom>
          <a:solidFill>
            <a:srgbClr val="0A1525"/>
          </a:solidFill>
          <a:ln w="12700">
            <a:solidFill>
              <a:srgbClr val="1A2535"/>
            </a:solidFill>
            <a:prstDash val="solid"/>
          </a:ln>
        </p:spPr>
      </p:sp>
      <p:sp>
        <p:nvSpPr>
          <p:cNvPr id="18" name="Text 16"/>
          <p:cNvSpPr/>
          <p:nvPr/>
        </p:nvSpPr>
        <p:spPr>
          <a:xfrm>
            <a:off x="1993392" y="1024128"/>
            <a:ext cx="2615184" cy="438912"/>
          </a:xfrm>
          <a:prstGeom prst="rect">
            <a:avLst/>
          </a:prstGeom>
          <a:noFill/>
          <a:ln/>
        </p:spPr>
        <p:txBody>
          <a:bodyPr wrap="square" rtlCol="0" anchor="ctr"/>
          <a:lstStyle/>
          <a:p>
            <a:pPr indent="0" marL="0">
              <a:buNone/>
            </a:pPr>
            <a:r>
              <a:rPr lang="en-US" sz="950" dirty="0">
                <a:solidFill>
                  <a:srgbClr val="00CC77"/>
                </a:solidFill>
                <a:latin typeface="Courier New" pitchFamily="34" charset="0"/>
                <a:ea typeface="Courier New" pitchFamily="34" charset="-122"/>
                <a:cs typeface="Courier New" pitchFamily="34" charset="-120"/>
              </a:rPr>
              <a:t>SSL/TLS · JPEG · ASCII</a:t>
            </a:r>
            <a:endParaRPr lang="en-US" sz="950" dirty="0"/>
          </a:p>
        </p:txBody>
      </p:sp>
      <p:sp>
        <p:nvSpPr>
          <p:cNvPr id="19" name="Shape 17"/>
          <p:cNvSpPr/>
          <p:nvPr/>
        </p:nvSpPr>
        <p:spPr>
          <a:xfrm>
            <a:off x="256032" y="1517904"/>
            <a:ext cx="402336" cy="438912"/>
          </a:xfrm>
          <a:prstGeom prst="rect">
            <a:avLst/>
          </a:prstGeom>
          <a:solidFill>
            <a:srgbClr val="B388FF">
              <a:alpha val="85000"/>
            </a:srgbClr>
          </a:solidFill>
          <a:ln w="12700">
            <a:solidFill>
              <a:srgbClr val="B388FF"/>
            </a:solidFill>
            <a:prstDash val="solid"/>
          </a:ln>
        </p:spPr>
      </p:sp>
      <p:sp>
        <p:nvSpPr>
          <p:cNvPr id="20" name="Text 18"/>
          <p:cNvSpPr/>
          <p:nvPr/>
        </p:nvSpPr>
        <p:spPr>
          <a:xfrm>
            <a:off x="256032" y="1517904"/>
            <a:ext cx="402336" cy="438912"/>
          </a:xfrm>
          <a:prstGeom prst="rect">
            <a:avLst/>
          </a:prstGeom>
          <a:noFill/>
          <a:ln/>
        </p:spPr>
        <p:txBody>
          <a:bodyPr wrap="square" rtlCol="0" anchor="ctr"/>
          <a:lstStyle/>
          <a:p>
            <a:pPr algn="ctr" indent="0" marL="0">
              <a:buNone/>
            </a:pPr>
            <a:r>
              <a:rPr lang="en-US" sz="1800" b="1" dirty="0">
                <a:solidFill>
                  <a:srgbClr val="060D18"/>
                </a:solidFill>
                <a:latin typeface="Arial Black" pitchFamily="34" charset="0"/>
                <a:ea typeface="Arial Black" pitchFamily="34" charset="-122"/>
                <a:cs typeface="Arial Black" pitchFamily="34" charset="-120"/>
              </a:rPr>
              <a:t>5</a:t>
            </a:r>
            <a:endParaRPr lang="en-US" sz="1800" dirty="0"/>
          </a:p>
        </p:txBody>
      </p:sp>
      <p:sp>
        <p:nvSpPr>
          <p:cNvPr id="21" name="Shape 19"/>
          <p:cNvSpPr/>
          <p:nvPr/>
        </p:nvSpPr>
        <p:spPr>
          <a:xfrm>
            <a:off x="676656" y="1517904"/>
            <a:ext cx="1234440" cy="438912"/>
          </a:xfrm>
          <a:prstGeom prst="rect">
            <a:avLst/>
          </a:prstGeom>
          <a:solidFill>
            <a:srgbClr val="B388FF">
              <a:alpha val="22000"/>
            </a:srgbClr>
          </a:solidFill>
          <a:ln w="12700">
            <a:solidFill>
              <a:srgbClr val="B388FF">
                <a:alpha val="45000"/>
              </a:srgbClr>
            </a:solidFill>
            <a:prstDash val="solid"/>
          </a:ln>
        </p:spPr>
      </p:sp>
      <p:sp>
        <p:nvSpPr>
          <p:cNvPr id="22" name="Text 20"/>
          <p:cNvSpPr/>
          <p:nvPr/>
        </p:nvSpPr>
        <p:spPr>
          <a:xfrm>
            <a:off x="713232" y="1517904"/>
            <a:ext cx="1161288" cy="43891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Session</a:t>
            </a:r>
            <a:endParaRPr lang="en-US" sz="1000" dirty="0"/>
          </a:p>
        </p:txBody>
      </p:sp>
      <p:sp>
        <p:nvSpPr>
          <p:cNvPr id="23" name="Shape 21"/>
          <p:cNvSpPr/>
          <p:nvPr/>
        </p:nvSpPr>
        <p:spPr>
          <a:xfrm>
            <a:off x="1929384" y="1517904"/>
            <a:ext cx="2743200" cy="438912"/>
          </a:xfrm>
          <a:prstGeom prst="rect">
            <a:avLst/>
          </a:prstGeom>
          <a:solidFill>
            <a:srgbClr val="0A1525"/>
          </a:solidFill>
          <a:ln w="12700">
            <a:solidFill>
              <a:srgbClr val="1A2535"/>
            </a:solidFill>
            <a:prstDash val="solid"/>
          </a:ln>
        </p:spPr>
      </p:sp>
      <p:sp>
        <p:nvSpPr>
          <p:cNvPr id="24" name="Text 22"/>
          <p:cNvSpPr/>
          <p:nvPr/>
        </p:nvSpPr>
        <p:spPr>
          <a:xfrm>
            <a:off x="1993392" y="1517904"/>
            <a:ext cx="2615184" cy="438912"/>
          </a:xfrm>
          <a:prstGeom prst="rect">
            <a:avLst/>
          </a:prstGeom>
          <a:noFill/>
          <a:ln/>
        </p:spPr>
        <p:txBody>
          <a:bodyPr wrap="square" rtlCol="0" anchor="ctr"/>
          <a:lstStyle/>
          <a:p>
            <a:pPr indent="0" marL="0">
              <a:buNone/>
            </a:pPr>
            <a:r>
              <a:rPr lang="en-US" sz="950" dirty="0">
                <a:solidFill>
                  <a:srgbClr val="B388FF"/>
                </a:solidFill>
                <a:latin typeface="Courier New" pitchFamily="34" charset="0"/>
                <a:ea typeface="Courier New" pitchFamily="34" charset="-122"/>
                <a:cs typeface="Courier New" pitchFamily="34" charset="-120"/>
              </a:rPr>
              <a:t>NetBIOS · RPC</a:t>
            </a:r>
            <a:endParaRPr lang="en-US" sz="950" dirty="0"/>
          </a:p>
        </p:txBody>
      </p:sp>
      <p:sp>
        <p:nvSpPr>
          <p:cNvPr id="25" name="Shape 23"/>
          <p:cNvSpPr/>
          <p:nvPr/>
        </p:nvSpPr>
        <p:spPr>
          <a:xfrm>
            <a:off x="256032" y="2011680"/>
            <a:ext cx="402336" cy="438912"/>
          </a:xfrm>
          <a:prstGeom prst="rect">
            <a:avLst/>
          </a:prstGeom>
          <a:solidFill>
            <a:srgbClr val="FFD166">
              <a:alpha val="85000"/>
            </a:srgbClr>
          </a:solidFill>
          <a:ln w="12700">
            <a:solidFill>
              <a:srgbClr val="FFD166"/>
            </a:solidFill>
            <a:prstDash val="solid"/>
          </a:ln>
        </p:spPr>
      </p:sp>
      <p:sp>
        <p:nvSpPr>
          <p:cNvPr id="26" name="Text 24"/>
          <p:cNvSpPr/>
          <p:nvPr/>
        </p:nvSpPr>
        <p:spPr>
          <a:xfrm>
            <a:off x="256032" y="2011680"/>
            <a:ext cx="402336" cy="438912"/>
          </a:xfrm>
          <a:prstGeom prst="rect">
            <a:avLst/>
          </a:prstGeom>
          <a:noFill/>
          <a:ln/>
        </p:spPr>
        <p:txBody>
          <a:bodyPr wrap="square" rtlCol="0" anchor="ctr"/>
          <a:lstStyle/>
          <a:p>
            <a:pPr algn="ctr" indent="0" marL="0">
              <a:buNone/>
            </a:pPr>
            <a:r>
              <a:rPr lang="en-US" sz="1800" b="1" dirty="0">
                <a:solidFill>
                  <a:srgbClr val="060D18"/>
                </a:solidFill>
                <a:latin typeface="Arial Black" pitchFamily="34" charset="0"/>
                <a:ea typeface="Arial Black" pitchFamily="34" charset="-122"/>
                <a:cs typeface="Arial Black" pitchFamily="34" charset="-120"/>
              </a:rPr>
              <a:t>4</a:t>
            </a:r>
            <a:endParaRPr lang="en-US" sz="1800" dirty="0"/>
          </a:p>
        </p:txBody>
      </p:sp>
      <p:sp>
        <p:nvSpPr>
          <p:cNvPr id="27" name="Shape 25"/>
          <p:cNvSpPr/>
          <p:nvPr/>
        </p:nvSpPr>
        <p:spPr>
          <a:xfrm>
            <a:off x="676656" y="2011680"/>
            <a:ext cx="1234440" cy="438912"/>
          </a:xfrm>
          <a:prstGeom prst="rect">
            <a:avLst/>
          </a:prstGeom>
          <a:solidFill>
            <a:srgbClr val="FFD166">
              <a:alpha val="22000"/>
            </a:srgbClr>
          </a:solidFill>
          <a:ln w="12700">
            <a:solidFill>
              <a:srgbClr val="FFD166">
                <a:alpha val="45000"/>
              </a:srgbClr>
            </a:solidFill>
            <a:prstDash val="solid"/>
          </a:ln>
        </p:spPr>
      </p:sp>
      <p:sp>
        <p:nvSpPr>
          <p:cNvPr id="28" name="Text 26"/>
          <p:cNvSpPr/>
          <p:nvPr/>
        </p:nvSpPr>
        <p:spPr>
          <a:xfrm>
            <a:off x="713232" y="2011680"/>
            <a:ext cx="1161288" cy="43891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Transport</a:t>
            </a:r>
            <a:endParaRPr lang="en-US" sz="1000" dirty="0"/>
          </a:p>
        </p:txBody>
      </p:sp>
      <p:sp>
        <p:nvSpPr>
          <p:cNvPr id="29" name="Shape 27"/>
          <p:cNvSpPr/>
          <p:nvPr/>
        </p:nvSpPr>
        <p:spPr>
          <a:xfrm>
            <a:off x="1929384" y="2011680"/>
            <a:ext cx="2743200" cy="438912"/>
          </a:xfrm>
          <a:prstGeom prst="rect">
            <a:avLst/>
          </a:prstGeom>
          <a:solidFill>
            <a:srgbClr val="0A1525"/>
          </a:solidFill>
          <a:ln w="12700">
            <a:solidFill>
              <a:srgbClr val="1A2535"/>
            </a:solidFill>
            <a:prstDash val="solid"/>
          </a:ln>
        </p:spPr>
      </p:sp>
      <p:sp>
        <p:nvSpPr>
          <p:cNvPr id="30" name="Text 28"/>
          <p:cNvSpPr/>
          <p:nvPr/>
        </p:nvSpPr>
        <p:spPr>
          <a:xfrm>
            <a:off x="1993392" y="2011680"/>
            <a:ext cx="2615184" cy="438912"/>
          </a:xfrm>
          <a:prstGeom prst="rect">
            <a:avLst/>
          </a:prstGeom>
          <a:noFill/>
          <a:ln/>
        </p:spPr>
        <p:txBody>
          <a:bodyPr wrap="square" rtlCol="0" anchor="ctr"/>
          <a:lstStyle/>
          <a:p>
            <a:pPr indent="0" marL="0">
              <a:buNone/>
            </a:pPr>
            <a:r>
              <a:rPr lang="en-US" sz="950" dirty="0">
                <a:solidFill>
                  <a:srgbClr val="FFD166"/>
                </a:solidFill>
                <a:latin typeface="Courier New" pitchFamily="34" charset="0"/>
                <a:ea typeface="Courier New" pitchFamily="34" charset="-122"/>
                <a:cs typeface="Courier New" pitchFamily="34" charset="-120"/>
              </a:rPr>
              <a:t>TCP · UDP — Layer 4 ports</a:t>
            </a:r>
            <a:endParaRPr lang="en-US" sz="950" dirty="0"/>
          </a:p>
        </p:txBody>
      </p:sp>
      <p:sp>
        <p:nvSpPr>
          <p:cNvPr id="31" name="Shape 29"/>
          <p:cNvSpPr/>
          <p:nvPr/>
        </p:nvSpPr>
        <p:spPr>
          <a:xfrm>
            <a:off x="256032" y="2505456"/>
            <a:ext cx="402336" cy="438912"/>
          </a:xfrm>
          <a:prstGeom prst="rect">
            <a:avLst/>
          </a:prstGeom>
          <a:solidFill>
            <a:srgbClr val="FF6B35">
              <a:alpha val="85000"/>
            </a:srgbClr>
          </a:solidFill>
          <a:ln w="12700">
            <a:solidFill>
              <a:srgbClr val="FF6B35"/>
            </a:solidFill>
            <a:prstDash val="solid"/>
          </a:ln>
        </p:spPr>
      </p:sp>
      <p:sp>
        <p:nvSpPr>
          <p:cNvPr id="32" name="Text 30"/>
          <p:cNvSpPr/>
          <p:nvPr/>
        </p:nvSpPr>
        <p:spPr>
          <a:xfrm>
            <a:off x="256032" y="2505456"/>
            <a:ext cx="402336" cy="438912"/>
          </a:xfrm>
          <a:prstGeom prst="rect">
            <a:avLst/>
          </a:prstGeom>
          <a:noFill/>
          <a:ln/>
        </p:spPr>
        <p:txBody>
          <a:bodyPr wrap="square" rtlCol="0" anchor="ctr"/>
          <a:lstStyle/>
          <a:p>
            <a:pPr algn="ctr" indent="0" marL="0">
              <a:buNone/>
            </a:pPr>
            <a:r>
              <a:rPr lang="en-US" sz="1800" b="1" dirty="0">
                <a:solidFill>
                  <a:srgbClr val="060D18"/>
                </a:solidFill>
                <a:latin typeface="Arial Black" pitchFamily="34" charset="0"/>
                <a:ea typeface="Arial Black" pitchFamily="34" charset="-122"/>
                <a:cs typeface="Arial Black" pitchFamily="34" charset="-120"/>
              </a:rPr>
              <a:t>3</a:t>
            </a:r>
            <a:endParaRPr lang="en-US" sz="1800" dirty="0"/>
          </a:p>
        </p:txBody>
      </p:sp>
      <p:sp>
        <p:nvSpPr>
          <p:cNvPr id="33" name="Shape 31"/>
          <p:cNvSpPr/>
          <p:nvPr/>
        </p:nvSpPr>
        <p:spPr>
          <a:xfrm>
            <a:off x="676656" y="2505456"/>
            <a:ext cx="1234440" cy="438912"/>
          </a:xfrm>
          <a:prstGeom prst="rect">
            <a:avLst/>
          </a:prstGeom>
          <a:solidFill>
            <a:srgbClr val="FF6B35">
              <a:alpha val="22000"/>
            </a:srgbClr>
          </a:solidFill>
          <a:ln w="12700">
            <a:solidFill>
              <a:srgbClr val="FF6B35">
                <a:alpha val="45000"/>
              </a:srgbClr>
            </a:solidFill>
            <a:prstDash val="solid"/>
          </a:ln>
        </p:spPr>
      </p:sp>
      <p:sp>
        <p:nvSpPr>
          <p:cNvPr id="34" name="Text 32"/>
          <p:cNvSpPr/>
          <p:nvPr/>
        </p:nvSpPr>
        <p:spPr>
          <a:xfrm>
            <a:off x="713232" y="2505456"/>
            <a:ext cx="1161288" cy="43891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Network</a:t>
            </a:r>
            <a:endParaRPr lang="en-US" sz="1000" dirty="0"/>
          </a:p>
        </p:txBody>
      </p:sp>
      <p:sp>
        <p:nvSpPr>
          <p:cNvPr id="35" name="Shape 33"/>
          <p:cNvSpPr/>
          <p:nvPr/>
        </p:nvSpPr>
        <p:spPr>
          <a:xfrm>
            <a:off x="1929384" y="2505456"/>
            <a:ext cx="2743200" cy="438912"/>
          </a:xfrm>
          <a:prstGeom prst="rect">
            <a:avLst/>
          </a:prstGeom>
          <a:solidFill>
            <a:srgbClr val="0A1525"/>
          </a:solidFill>
          <a:ln w="12700">
            <a:solidFill>
              <a:srgbClr val="1A2535"/>
            </a:solidFill>
            <a:prstDash val="solid"/>
          </a:ln>
        </p:spPr>
      </p:sp>
      <p:sp>
        <p:nvSpPr>
          <p:cNvPr id="36" name="Text 34"/>
          <p:cNvSpPr/>
          <p:nvPr/>
        </p:nvSpPr>
        <p:spPr>
          <a:xfrm>
            <a:off x="1993392" y="2505456"/>
            <a:ext cx="2615184" cy="438912"/>
          </a:xfrm>
          <a:prstGeom prst="rect">
            <a:avLst/>
          </a:prstGeom>
          <a:noFill/>
          <a:ln/>
        </p:spPr>
        <p:txBody>
          <a:bodyPr wrap="square" rtlCol="0" anchor="ctr"/>
          <a:lstStyle/>
          <a:p>
            <a:pPr indent="0" marL="0">
              <a:buNone/>
            </a:pPr>
            <a:r>
              <a:rPr lang="en-US" sz="950" dirty="0">
                <a:solidFill>
                  <a:srgbClr val="FF6B35"/>
                </a:solidFill>
                <a:latin typeface="Courier New" pitchFamily="34" charset="0"/>
                <a:ea typeface="Courier New" pitchFamily="34" charset="-122"/>
                <a:cs typeface="Courier New" pitchFamily="34" charset="-120"/>
              </a:rPr>
              <a:t>IP · ICMP · ARP · Routing</a:t>
            </a:r>
            <a:endParaRPr lang="en-US" sz="950" dirty="0"/>
          </a:p>
        </p:txBody>
      </p:sp>
      <p:sp>
        <p:nvSpPr>
          <p:cNvPr id="37" name="Shape 35"/>
          <p:cNvSpPr/>
          <p:nvPr/>
        </p:nvSpPr>
        <p:spPr>
          <a:xfrm>
            <a:off x="256032" y="2999232"/>
            <a:ext cx="402336" cy="438912"/>
          </a:xfrm>
          <a:prstGeom prst="rect">
            <a:avLst/>
          </a:prstGeom>
          <a:solidFill>
            <a:srgbClr val="06FFC8">
              <a:alpha val="85000"/>
            </a:srgbClr>
          </a:solidFill>
          <a:ln w="12700">
            <a:solidFill>
              <a:srgbClr val="06FFC8"/>
            </a:solidFill>
            <a:prstDash val="solid"/>
          </a:ln>
        </p:spPr>
      </p:sp>
      <p:sp>
        <p:nvSpPr>
          <p:cNvPr id="38" name="Text 36"/>
          <p:cNvSpPr/>
          <p:nvPr/>
        </p:nvSpPr>
        <p:spPr>
          <a:xfrm>
            <a:off x="256032" y="2999232"/>
            <a:ext cx="402336" cy="438912"/>
          </a:xfrm>
          <a:prstGeom prst="rect">
            <a:avLst/>
          </a:prstGeom>
          <a:noFill/>
          <a:ln/>
        </p:spPr>
        <p:txBody>
          <a:bodyPr wrap="square" rtlCol="0" anchor="ctr"/>
          <a:lstStyle/>
          <a:p>
            <a:pPr algn="ctr" indent="0" marL="0">
              <a:buNone/>
            </a:pPr>
            <a:r>
              <a:rPr lang="en-US" sz="1800" b="1" dirty="0">
                <a:solidFill>
                  <a:srgbClr val="060D18"/>
                </a:solidFill>
                <a:latin typeface="Arial Black" pitchFamily="34" charset="0"/>
                <a:ea typeface="Arial Black" pitchFamily="34" charset="-122"/>
                <a:cs typeface="Arial Black" pitchFamily="34" charset="-120"/>
              </a:rPr>
              <a:t>2</a:t>
            </a:r>
            <a:endParaRPr lang="en-US" sz="1800" dirty="0"/>
          </a:p>
        </p:txBody>
      </p:sp>
      <p:sp>
        <p:nvSpPr>
          <p:cNvPr id="39" name="Shape 37"/>
          <p:cNvSpPr/>
          <p:nvPr/>
        </p:nvSpPr>
        <p:spPr>
          <a:xfrm>
            <a:off x="676656" y="2999232"/>
            <a:ext cx="1234440" cy="438912"/>
          </a:xfrm>
          <a:prstGeom prst="rect">
            <a:avLst/>
          </a:prstGeom>
          <a:solidFill>
            <a:srgbClr val="06FFC8">
              <a:alpha val="22000"/>
            </a:srgbClr>
          </a:solidFill>
          <a:ln w="12700">
            <a:solidFill>
              <a:srgbClr val="06FFC8">
                <a:alpha val="45000"/>
              </a:srgbClr>
            </a:solidFill>
            <a:prstDash val="solid"/>
          </a:ln>
        </p:spPr>
      </p:sp>
      <p:sp>
        <p:nvSpPr>
          <p:cNvPr id="40" name="Text 38"/>
          <p:cNvSpPr/>
          <p:nvPr/>
        </p:nvSpPr>
        <p:spPr>
          <a:xfrm>
            <a:off x="713232" y="2999232"/>
            <a:ext cx="1161288" cy="43891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Data Link</a:t>
            </a:r>
            <a:endParaRPr lang="en-US" sz="1000" dirty="0"/>
          </a:p>
        </p:txBody>
      </p:sp>
      <p:sp>
        <p:nvSpPr>
          <p:cNvPr id="41" name="Shape 39"/>
          <p:cNvSpPr/>
          <p:nvPr/>
        </p:nvSpPr>
        <p:spPr>
          <a:xfrm>
            <a:off x="1929384" y="2999232"/>
            <a:ext cx="2743200" cy="438912"/>
          </a:xfrm>
          <a:prstGeom prst="rect">
            <a:avLst/>
          </a:prstGeom>
          <a:solidFill>
            <a:srgbClr val="0A1525"/>
          </a:solidFill>
          <a:ln w="12700">
            <a:solidFill>
              <a:srgbClr val="1A2535"/>
            </a:solidFill>
            <a:prstDash val="solid"/>
          </a:ln>
        </p:spPr>
      </p:sp>
      <p:sp>
        <p:nvSpPr>
          <p:cNvPr id="42" name="Text 40"/>
          <p:cNvSpPr/>
          <p:nvPr/>
        </p:nvSpPr>
        <p:spPr>
          <a:xfrm>
            <a:off x="1993392" y="2999232"/>
            <a:ext cx="2615184" cy="438912"/>
          </a:xfrm>
          <a:prstGeom prst="rect">
            <a:avLst/>
          </a:prstGeom>
          <a:noFill/>
          <a:ln/>
        </p:spPr>
        <p:txBody>
          <a:bodyPr wrap="square" rtlCol="0" anchor="ctr"/>
          <a:lstStyle/>
          <a:p>
            <a:pPr indent="0" marL="0">
              <a:buNone/>
            </a:pPr>
            <a:r>
              <a:rPr lang="en-US" sz="950" dirty="0">
                <a:solidFill>
                  <a:srgbClr val="06FFC8"/>
                </a:solidFill>
                <a:latin typeface="Courier New" pitchFamily="34" charset="0"/>
                <a:ea typeface="Courier New" pitchFamily="34" charset="-122"/>
                <a:cs typeface="Courier New" pitchFamily="34" charset="-120"/>
              </a:rPr>
              <a:t>Ethernet · MAC addresses</a:t>
            </a:r>
            <a:endParaRPr lang="en-US" sz="950" dirty="0"/>
          </a:p>
        </p:txBody>
      </p:sp>
      <p:sp>
        <p:nvSpPr>
          <p:cNvPr id="43" name="Shape 41"/>
          <p:cNvSpPr/>
          <p:nvPr/>
        </p:nvSpPr>
        <p:spPr>
          <a:xfrm>
            <a:off x="256032" y="3493008"/>
            <a:ext cx="402336" cy="438912"/>
          </a:xfrm>
          <a:prstGeom prst="rect">
            <a:avLst/>
          </a:prstGeom>
          <a:solidFill>
            <a:srgbClr val="8B9EB0">
              <a:alpha val="85000"/>
            </a:srgbClr>
          </a:solidFill>
          <a:ln w="12700">
            <a:solidFill>
              <a:srgbClr val="8B9EB0"/>
            </a:solidFill>
            <a:prstDash val="solid"/>
          </a:ln>
        </p:spPr>
      </p:sp>
      <p:sp>
        <p:nvSpPr>
          <p:cNvPr id="44" name="Text 42"/>
          <p:cNvSpPr/>
          <p:nvPr/>
        </p:nvSpPr>
        <p:spPr>
          <a:xfrm>
            <a:off x="256032" y="3493008"/>
            <a:ext cx="402336" cy="438912"/>
          </a:xfrm>
          <a:prstGeom prst="rect">
            <a:avLst/>
          </a:prstGeom>
          <a:noFill/>
          <a:ln/>
        </p:spPr>
        <p:txBody>
          <a:bodyPr wrap="square" rtlCol="0" anchor="ctr"/>
          <a:lstStyle/>
          <a:p>
            <a:pPr algn="ctr" indent="0" marL="0">
              <a:buNone/>
            </a:pPr>
            <a:r>
              <a:rPr lang="en-US" sz="1800" b="1" dirty="0">
                <a:solidFill>
                  <a:srgbClr val="060D18"/>
                </a:solidFill>
                <a:latin typeface="Arial Black" pitchFamily="34" charset="0"/>
                <a:ea typeface="Arial Black" pitchFamily="34" charset="-122"/>
                <a:cs typeface="Arial Black" pitchFamily="34" charset="-120"/>
              </a:rPr>
              <a:t>1</a:t>
            </a:r>
            <a:endParaRPr lang="en-US" sz="1800" dirty="0"/>
          </a:p>
        </p:txBody>
      </p:sp>
      <p:sp>
        <p:nvSpPr>
          <p:cNvPr id="45" name="Shape 43"/>
          <p:cNvSpPr/>
          <p:nvPr/>
        </p:nvSpPr>
        <p:spPr>
          <a:xfrm>
            <a:off x="676656" y="3493008"/>
            <a:ext cx="1234440" cy="438912"/>
          </a:xfrm>
          <a:prstGeom prst="rect">
            <a:avLst/>
          </a:prstGeom>
          <a:solidFill>
            <a:srgbClr val="8B9EB0">
              <a:alpha val="22000"/>
            </a:srgbClr>
          </a:solidFill>
          <a:ln w="12700">
            <a:solidFill>
              <a:srgbClr val="8B9EB0">
                <a:alpha val="45000"/>
              </a:srgbClr>
            </a:solidFill>
            <a:prstDash val="solid"/>
          </a:ln>
        </p:spPr>
      </p:sp>
      <p:sp>
        <p:nvSpPr>
          <p:cNvPr id="46" name="Text 44"/>
          <p:cNvSpPr/>
          <p:nvPr/>
        </p:nvSpPr>
        <p:spPr>
          <a:xfrm>
            <a:off x="713232" y="3493008"/>
            <a:ext cx="1161288" cy="43891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Physical</a:t>
            </a:r>
            <a:endParaRPr lang="en-US" sz="1000" dirty="0"/>
          </a:p>
        </p:txBody>
      </p:sp>
      <p:sp>
        <p:nvSpPr>
          <p:cNvPr id="47" name="Shape 45"/>
          <p:cNvSpPr/>
          <p:nvPr/>
        </p:nvSpPr>
        <p:spPr>
          <a:xfrm>
            <a:off x="1929384" y="3493008"/>
            <a:ext cx="2743200" cy="438912"/>
          </a:xfrm>
          <a:prstGeom prst="rect">
            <a:avLst/>
          </a:prstGeom>
          <a:solidFill>
            <a:srgbClr val="0A1525"/>
          </a:solidFill>
          <a:ln w="12700">
            <a:solidFill>
              <a:srgbClr val="1A2535"/>
            </a:solidFill>
            <a:prstDash val="solid"/>
          </a:ln>
        </p:spPr>
      </p:sp>
      <p:sp>
        <p:nvSpPr>
          <p:cNvPr id="48" name="Text 46"/>
          <p:cNvSpPr/>
          <p:nvPr/>
        </p:nvSpPr>
        <p:spPr>
          <a:xfrm>
            <a:off x="1993392" y="3493008"/>
            <a:ext cx="2615184" cy="438912"/>
          </a:xfrm>
          <a:prstGeom prst="rect">
            <a:avLst/>
          </a:prstGeom>
          <a:noFill/>
          <a:ln/>
        </p:spPr>
        <p:txBody>
          <a:bodyPr wrap="square" rtlCol="0" anchor="ctr"/>
          <a:lstStyle/>
          <a:p>
            <a:pPr indent="0" marL="0">
              <a:buNone/>
            </a:pPr>
            <a:r>
              <a:rPr lang="en-US" sz="950" dirty="0">
                <a:solidFill>
                  <a:srgbClr val="8B9EB0"/>
                </a:solidFill>
                <a:latin typeface="Courier New" pitchFamily="34" charset="0"/>
                <a:ea typeface="Courier New" pitchFamily="34" charset="-122"/>
                <a:cs typeface="Courier New" pitchFamily="34" charset="-120"/>
              </a:rPr>
              <a:t>Cat6 · Fibre · Wi-Fi radio</a:t>
            </a:r>
            <a:endParaRPr lang="en-US" sz="950" dirty="0"/>
          </a:p>
        </p:txBody>
      </p:sp>
      <p:sp>
        <p:nvSpPr>
          <p:cNvPr id="49" name="Text 47"/>
          <p:cNvSpPr/>
          <p:nvPr/>
        </p:nvSpPr>
        <p:spPr>
          <a:xfrm>
            <a:off x="4892040" y="530352"/>
            <a:ext cx="3977640" cy="256032"/>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CIDR — Numbers to Memorise</a:t>
            </a:r>
            <a:endParaRPr lang="en-US" sz="1100" dirty="0"/>
          </a:p>
        </p:txBody>
      </p:sp>
      <p:sp>
        <p:nvSpPr>
          <p:cNvPr id="50" name="Shape 48"/>
          <p:cNvSpPr/>
          <p:nvPr/>
        </p:nvSpPr>
        <p:spPr>
          <a:xfrm>
            <a:off x="4892040" y="822960"/>
            <a:ext cx="3977640" cy="457200"/>
          </a:xfrm>
          <a:prstGeom prst="rect">
            <a:avLst/>
          </a:prstGeom>
          <a:solidFill>
            <a:srgbClr val="0D1E30"/>
          </a:solidFill>
          <a:ln w="12700">
            <a:solidFill>
              <a:srgbClr val="1A2535"/>
            </a:solidFill>
            <a:prstDash val="solid"/>
          </a:ln>
        </p:spPr>
      </p:sp>
      <p:sp>
        <p:nvSpPr>
          <p:cNvPr id="51" name="Text 49"/>
          <p:cNvSpPr/>
          <p:nvPr/>
        </p:nvSpPr>
        <p:spPr>
          <a:xfrm>
            <a:off x="4965192" y="822960"/>
            <a:ext cx="640080" cy="457200"/>
          </a:xfrm>
          <a:prstGeom prst="rect">
            <a:avLst/>
          </a:prstGeom>
          <a:noFill/>
          <a:ln/>
        </p:spPr>
        <p:txBody>
          <a:bodyPr wrap="square" rtlCol="0" anchor="ctr"/>
          <a:lstStyle/>
          <a:p>
            <a:pPr indent="0" marL="0">
              <a:buNone/>
            </a:pPr>
            <a:r>
              <a:rPr lang="en-US" sz="1400" b="1" dirty="0">
                <a:solidFill>
                  <a:srgbClr val="0C7B93"/>
                </a:solidFill>
                <a:latin typeface="Courier New" pitchFamily="34" charset="0"/>
                <a:ea typeface="Courier New" pitchFamily="34" charset="-122"/>
                <a:cs typeface="Courier New" pitchFamily="34" charset="-120"/>
              </a:rPr>
              <a:t>/16</a:t>
            </a:r>
            <a:endParaRPr lang="en-US" sz="1400" dirty="0"/>
          </a:p>
        </p:txBody>
      </p:sp>
      <p:sp>
        <p:nvSpPr>
          <p:cNvPr id="52" name="Text 50"/>
          <p:cNvSpPr/>
          <p:nvPr/>
        </p:nvSpPr>
        <p:spPr>
          <a:xfrm>
            <a:off x="5669280" y="822960"/>
            <a:ext cx="1097280" cy="457200"/>
          </a:xfrm>
          <a:prstGeom prst="rect">
            <a:avLst/>
          </a:prstGeom>
          <a:noFill/>
          <a:ln/>
        </p:spPr>
        <p:txBody>
          <a:bodyPr wrap="square" rtlCol="0" anchor="ctr"/>
          <a:lstStyle/>
          <a:p>
            <a:pPr indent="0" marL="0">
              <a:buNone/>
            </a:pPr>
            <a:r>
              <a:rPr lang="en-US" sz="1300" b="1" dirty="0">
                <a:solidFill>
                  <a:srgbClr val="00FF88"/>
                </a:solidFill>
                <a:latin typeface="Calibri" pitchFamily="34" charset="0"/>
                <a:ea typeface="Calibri" pitchFamily="34" charset="-122"/>
                <a:cs typeface="Calibri" pitchFamily="34" charset="-120"/>
              </a:rPr>
              <a:t>65,534</a:t>
            </a:r>
            <a:endParaRPr lang="en-US" sz="1300" dirty="0"/>
          </a:p>
        </p:txBody>
      </p:sp>
      <p:sp>
        <p:nvSpPr>
          <p:cNvPr id="53" name="Text 51"/>
          <p:cNvSpPr/>
          <p:nvPr/>
        </p:nvSpPr>
        <p:spPr>
          <a:xfrm>
            <a:off x="6839712" y="822960"/>
            <a:ext cx="1965960" cy="457200"/>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Standard VPC CIDR</a:t>
            </a:r>
            <a:endParaRPr lang="en-US" sz="900" dirty="0"/>
          </a:p>
        </p:txBody>
      </p:sp>
      <p:sp>
        <p:nvSpPr>
          <p:cNvPr id="54" name="Shape 52"/>
          <p:cNvSpPr/>
          <p:nvPr/>
        </p:nvSpPr>
        <p:spPr>
          <a:xfrm>
            <a:off x="4892040" y="1316736"/>
            <a:ext cx="3977640" cy="457200"/>
          </a:xfrm>
          <a:prstGeom prst="rect">
            <a:avLst/>
          </a:prstGeom>
          <a:solidFill>
            <a:srgbClr val="0A0E1A"/>
          </a:solidFill>
          <a:ln w="12700">
            <a:solidFill>
              <a:srgbClr val="1A2535"/>
            </a:solidFill>
            <a:prstDash val="solid"/>
          </a:ln>
        </p:spPr>
      </p:sp>
      <p:sp>
        <p:nvSpPr>
          <p:cNvPr id="55" name="Text 53"/>
          <p:cNvSpPr/>
          <p:nvPr/>
        </p:nvSpPr>
        <p:spPr>
          <a:xfrm>
            <a:off x="4965192" y="1316736"/>
            <a:ext cx="640080" cy="457200"/>
          </a:xfrm>
          <a:prstGeom prst="rect">
            <a:avLst/>
          </a:prstGeom>
          <a:noFill/>
          <a:ln/>
        </p:spPr>
        <p:txBody>
          <a:bodyPr wrap="square" rtlCol="0" anchor="ctr"/>
          <a:lstStyle/>
          <a:p>
            <a:pPr indent="0" marL="0">
              <a:buNone/>
            </a:pPr>
            <a:r>
              <a:rPr lang="en-US" sz="1400" b="1" dirty="0">
                <a:solidFill>
                  <a:srgbClr val="0C7B93"/>
                </a:solidFill>
                <a:latin typeface="Courier New" pitchFamily="34" charset="0"/>
                <a:ea typeface="Courier New" pitchFamily="34" charset="-122"/>
                <a:cs typeface="Courier New" pitchFamily="34" charset="-120"/>
              </a:rPr>
              <a:t>/24</a:t>
            </a:r>
            <a:endParaRPr lang="en-US" sz="1400" dirty="0"/>
          </a:p>
        </p:txBody>
      </p:sp>
      <p:sp>
        <p:nvSpPr>
          <p:cNvPr id="56" name="Text 54"/>
          <p:cNvSpPr/>
          <p:nvPr/>
        </p:nvSpPr>
        <p:spPr>
          <a:xfrm>
            <a:off x="5669280" y="1316736"/>
            <a:ext cx="1097280" cy="457200"/>
          </a:xfrm>
          <a:prstGeom prst="rect">
            <a:avLst/>
          </a:prstGeom>
          <a:noFill/>
          <a:ln/>
        </p:spPr>
        <p:txBody>
          <a:bodyPr wrap="square" rtlCol="0" anchor="ctr"/>
          <a:lstStyle/>
          <a:p>
            <a:pPr indent="0" marL="0">
              <a:buNone/>
            </a:pPr>
            <a:r>
              <a:rPr lang="en-US" sz="1300" b="1" dirty="0">
                <a:solidFill>
                  <a:srgbClr val="00FF88"/>
                </a:solidFill>
                <a:latin typeface="Calibri" pitchFamily="34" charset="0"/>
                <a:ea typeface="Calibri" pitchFamily="34" charset="-122"/>
                <a:cs typeface="Calibri" pitchFamily="34" charset="-120"/>
              </a:rPr>
              <a:t>254</a:t>
            </a:r>
            <a:endParaRPr lang="en-US" sz="1300" dirty="0"/>
          </a:p>
        </p:txBody>
      </p:sp>
      <p:sp>
        <p:nvSpPr>
          <p:cNvPr id="57" name="Text 55"/>
          <p:cNvSpPr/>
          <p:nvPr/>
        </p:nvSpPr>
        <p:spPr>
          <a:xfrm>
            <a:off x="6839712" y="1316736"/>
            <a:ext cx="1965960" cy="457200"/>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One subnet per AZ</a:t>
            </a:r>
            <a:endParaRPr lang="en-US" sz="900" dirty="0"/>
          </a:p>
        </p:txBody>
      </p:sp>
      <p:sp>
        <p:nvSpPr>
          <p:cNvPr id="58" name="Shape 56"/>
          <p:cNvSpPr/>
          <p:nvPr/>
        </p:nvSpPr>
        <p:spPr>
          <a:xfrm>
            <a:off x="4892040" y="1810512"/>
            <a:ext cx="3977640" cy="457200"/>
          </a:xfrm>
          <a:prstGeom prst="rect">
            <a:avLst/>
          </a:prstGeom>
          <a:solidFill>
            <a:srgbClr val="0D1E30"/>
          </a:solidFill>
          <a:ln w="12700">
            <a:solidFill>
              <a:srgbClr val="1A2535"/>
            </a:solidFill>
            <a:prstDash val="solid"/>
          </a:ln>
        </p:spPr>
      </p:sp>
      <p:sp>
        <p:nvSpPr>
          <p:cNvPr id="59" name="Text 57"/>
          <p:cNvSpPr/>
          <p:nvPr/>
        </p:nvSpPr>
        <p:spPr>
          <a:xfrm>
            <a:off x="4965192" y="1810512"/>
            <a:ext cx="640080" cy="457200"/>
          </a:xfrm>
          <a:prstGeom prst="rect">
            <a:avLst/>
          </a:prstGeom>
          <a:noFill/>
          <a:ln/>
        </p:spPr>
        <p:txBody>
          <a:bodyPr wrap="square" rtlCol="0" anchor="ctr"/>
          <a:lstStyle/>
          <a:p>
            <a:pPr indent="0" marL="0">
              <a:buNone/>
            </a:pPr>
            <a:r>
              <a:rPr lang="en-US" sz="1400" b="1" dirty="0">
                <a:solidFill>
                  <a:srgbClr val="0C7B93"/>
                </a:solidFill>
                <a:latin typeface="Courier New" pitchFamily="34" charset="0"/>
                <a:ea typeface="Courier New" pitchFamily="34" charset="-122"/>
                <a:cs typeface="Courier New" pitchFamily="34" charset="-120"/>
              </a:rPr>
              <a:t>/25</a:t>
            </a:r>
            <a:endParaRPr lang="en-US" sz="1400" dirty="0"/>
          </a:p>
        </p:txBody>
      </p:sp>
      <p:sp>
        <p:nvSpPr>
          <p:cNvPr id="60" name="Text 58"/>
          <p:cNvSpPr/>
          <p:nvPr/>
        </p:nvSpPr>
        <p:spPr>
          <a:xfrm>
            <a:off x="5669280" y="1810512"/>
            <a:ext cx="1097280" cy="457200"/>
          </a:xfrm>
          <a:prstGeom prst="rect">
            <a:avLst/>
          </a:prstGeom>
          <a:noFill/>
          <a:ln/>
        </p:spPr>
        <p:txBody>
          <a:bodyPr wrap="square" rtlCol="0" anchor="ctr"/>
          <a:lstStyle/>
          <a:p>
            <a:pPr indent="0" marL="0">
              <a:buNone/>
            </a:pPr>
            <a:r>
              <a:rPr lang="en-US" sz="1300" b="1" dirty="0">
                <a:solidFill>
                  <a:srgbClr val="00FF88"/>
                </a:solidFill>
                <a:latin typeface="Calibri" pitchFamily="34" charset="0"/>
                <a:ea typeface="Calibri" pitchFamily="34" charset="-122"/>
                <a:cs typeface="Calibri" pitchFamily="34" charset="-120"/>
              </a:rPr>
              <a:t>126</a:t>
            </a:r>
            <a:endParaRPr lang="en-US" sz="1300" dirty="0"/>
          </a:p>
        </p:txBody>
      </p:sp>
      <p:sp>
        <p:nvSpPr>
          <p:cNvPr id="61" name="Text 59"/>
          <p:cNvSpPr/>
          <p:nvPr/>
        </p:nvSpPr>
        <p:spPr>
          <a:xfrm>
            <a:off x="6839712" y="1810512"/>
            <a:ext cx="1965960" cy="457200"/>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Split /24 in half</a:t>
            </a:r>
            <a:endParaRPr lang="en-US" sz="900" dirty="0"/>
          </a:p>
        </p:txBody>
      </p:sp>
      <p:sp>
        <p:nvSpPr>
          <p:cNvPr id="62" name="Shape 60"/>
          <p:cNvSpPr/>
          <p:nvPr/>
        </p:nvSpPr>
        <p:spPr>
          <a:xfrm>
            <a:off x="4892040" y="2304288"/>
            <a:ext cx="3977640" cy="457200"/>
          </a:xfrm>
          <a:prstGeom prst="rect">
            <a:avLst/>
          </a:prstGeom>
          <a:solidFill>
            <a:srgbClr val="0A0E1A"/>
          </a:solidFill>
          <a:ln w="12700">
            <a:solidFill>
              <a:srgbClr val="1A2535"/>
            </a:solidFill>
            <a:prstDash val="solid"/>
          </a:ln>
        </p:spPr>
      </p:sp>
      <p:sp>
        <p:nvSpPr>
          <p:cNvPr id="63" name="Text 61"/>
          <p:cNvSpPr/>
          <p:nvPr/>
        </p:nvSpPr>
        <p:spPr>
          <a:xfrm>
            <a:off x="4965192" y="2304288"/>
            <a:ext cx="640080" cy="457200"/>
          </a:xfrm>
          <a:prstGeom prst="rect">
            <a:avLst/>
          </a:prstGeom>
          <a:noFill/>
          <a:ln/>
        </p:spPr>
        <p:txBody>
          <a:bodyPr wrap="square" rtlCol="0" anchor="ctr"/>
          <a:lstStyle/>
          <a:p>
            <a:pPr indent="0" marL="0">
              <a:buNone/>
            </a:pPr>
            <a:r>
              <a:rPr lang="en-US" sz="1400" b="1" dirty="0">
                <a:solidFill>
                  <a:srgbClr val="0C7B93"/>
                </a:solidFill>
                <a:latin typeface="Courier New" pitchFamily="34" charset="0"/>
                <a:ea typeface="Courier New" pitchFamily="34" charset="-122"/>
                <a:cs typeface="Courier New" pitchFamily="34" charset="-120"/>
              </a:rPr>
              <a:t>/26</a:t>
            </a:r>
            <a:endParaRPr lang="en-US" sz="1400" dirty="0"/>
          </a:p>
        </p:txBody>
      </p:sp>
      <p:sp>
        <p:nvSpPr>
          <p:cNvPr id="64" name="Text 62"/>
          <p:cNvSpPr/>
          <p:nvPr/>
        </p:nvSpPr>
        <p:spPr>
          <a:xfrm>
            <a:off x="5669280" y="2304288"/>
            <a:ext cx="1097280" cy="457200"/>
          </a:xfrm>
          <a:prstGeom prst="rect">
            <a:avLst/>
          </a:prstGeom>
          <a:noFill/>
          <a:ln/>
        </p:spPr>
        <p:txBody>
          <a:bodyPr wrap="square" rtlCol="0" anchor="ctr"/>
          <a:lstStyle/>
          <a:p>
            <a:pPr indent="0" marL="0">
              <a:buNone/>
            </a:pPr>
            <a:r>
              <a:rPr lang="en-US" sz="1300" b="1" dirty="0">
                <a:solidFill>
                  <a:srgbClr val="00FF88"/>
                </a:solidFill>
                <a:latin typeface="Calibri" pitchFamily="34" charset="0"/>
                <a:ea typeface="Calibri" pitchFamily="34" charset="-122"/>
                <a:cs typeface="Calibri" pitchFamily="34" charset="-120"/>
              </a:rPr>
              <a:t>62</a:t>
            </a:r>
            <a:endParaRPr lang="en-US" sz="1300" dirty="0"/>
          </a:p>
        </p:txBody>
      </p:sp>
      <p:sp>
        <p:nvSpPr>
          <p:cNvPr id="65" name="Text 63"/>
          <p:cNvSpPr/>
          <p:nvPr/>
        </p:nvSpPr>
        <p:spPr>
          <a:xfrm>
            <a:off x="6839712" y="2304288"/>
            <a:ext cx="1965960" cy="457200"/>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4 per /24</a:t>
            </a:r>
            <a:endParaRPr lang="en-US" sz="900" dirty="0"/>
          </a:p>
        </p:txBody>
      </p:sp>
      <p:sp>
        <p:nvSpPr>
          <p:cNvPr id="66" name="Shape 64"/>
          <p:cNvSpPr/>
          <p:nvPr/>
        </p:nvSpPr>
        <p:spPr>
          <a:xfrm>
            <a:off x="4892040" y="2798064"/>
            <a:ext cx="3977640" cy="457200"/>
          </a:xfrm>
          <a:prstGeom prst="rect">
            <a:avLst/>
          </a:prstGeom>
          <a:solidFill>
            <a:srgbClr val="0D1E30"/>
          </a:solidFill>
          <a:ln w="12700">
            <a:solidFill>
              <a:srgbClr val="1A2535"/>
            </a:solidFill>
            <a:prstDash val="solid"/>
          </a:ln>
        </p:spPr>
      </p:sp>
      <p:sp>
        <p:nvSpPr>
          <p:cNvPr id="67" name="Text 65"/>
          <p:cNvSpPr/>
          <p:nvPr/>
        </p:nvSpPr>
        <p:spPr>
          <a:xfrm>
            <a:off x="4965192" y="2798064"/>
            <a:ext cx="640080" cy="457200"/>
          </a:xfrm>
          <a:prstGeom prst="rect">
            <a:avLst/>
          </a:prstGeom>
          <a:noFill/>
          <a:ln/>
        </p:spPr>
        <p:txBody>
          <a:bodyPr wrap="square" rtlCol="0" anchor="ctr"/>
          <a:lstStyle/>
          <a:p>
            <a:pPr indent="0" marL="0">
              <a:buNone/>
            </a:pPr>
            <a:r>
              <a:rPr lang="en-US" sz="1400" b="1" dirty="0">
                <a:solidFill>
                  <a:srgbClr val="0C7B93"/>
                </a:solidFill>
                <a:latin typeface="Courier New" pitchFamily="34" charset="0"/>
                <a:ea typeface="Courier New" pitchFamily="34" charset="-122"/>
                <a:cs typeface="Courier New" pitchFamily="34" charset="-120"/>
              </a:rPr>
              <a:t>/27</a:t>
            </a:r>
            <a:endParaRPr lang="en-US" sz="1400" dirty="0"/>
          </a:p>
        </p:txBody>
      </p:sp>
      <p:sp>
        <p:nvSpPr>
          <p:cNvPr id="68" name="Text 66"/>
          <p:cNvSpPr/>
          <p:nvPr/>
        </p:nvSpPr>
        <p:spPr>
          <a:xfrm>
            <a:off x="5669280" y="2798064"/>
            <a:ext cx="1097280" cy="457200"/>
          </a:xfrm>
          <a:prstGeom prst="rect">
            <a:avLst/>
          </a:prstGeom>
          <a:noFill/>
          <a:ln/>
        </p:spPr>
        <p:txBody>
          <a:bodyPr wrap="square" rtlCol="0" anchor="ctr"/>
          <a:lstStyle/>
          <a:p>
            <a:pPr indent="0" marL="0">
              <a:buNone/>
            </a:pPr>
            <a:r>
              <a:rPr lang="en-US" sz="1300" b="1" dirty="0">
                <a:solidFill>
                  <a:srgbClr val="00FF88"/>
                </a:solidFill>
                <a:latin typeface="Calibri" pitchFamily="34" charset="0"/>
                <a:ea typeface="Calibri" pitchFamily="34" charset="-122"/>
                <a:cs typeface="Calibri" pitchFamily="34" charset="-120"/>
              </a:rPr>
              <a:t>30</a:t>
            </a:r>
            <a:endParaRPr lang="en-US" sz="1300" dirty="0"/>
          </a:p>
        </p:txBody>
      </p:sp>
      <p:sp>
        <p:nvSpPr>
          <p:cNvPr id="69" name="Text 67"/>
          <p:cNvSpPr/>
          <p:nvPr/>
        </p:nvSpPr>
        <p:spPr>
          <a:xfrm>
            <a:off x="6839712" y="2798064"/>
            <a:ext cx="1965960" cy="457200"/>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DMZ/management</a:t>
            </a:r>
            <a:endParaRPr lang="en-US" sz="900" dirty="0"/>
          </a:p>
        </p:txBody>
      </p:sp>
      <p:sp>
        <p:nvSpPr>
          <p:cNvPr id="70" name="Shape 68"/>
          <p:cNvSpPr/>
          <p:nvPr/>
        </p:nvSpPr>
        <p:spPr>
          <a:xfrm>
            <a:off x="4892040" y="3291840"/>
            <a:ext cx="3977640" cy="457200"/>
          </a:xfrm>
          <a:prstGeom prst="rect">
            <a:avLst/>
          </a:prstGeom>
          <a:solidFill>
            <a:srgbClr val="0A0E1A"/>
          </a:solidFill>
          <a:ln w="12700">
            <a:solidFill>
              <a:srgbClr val="1A2535"/>
            </a:solidFill>
            <a:prstDash val="solid"/>
          </a:ln>
        </p:spPr>
      </p:sp>
      <p:sp>
        <p:nvSpPr>
          <p:cNvPr id="71" name="Text 69"/>
          <p:cNvSpPr/>
          <p:nvPr/>
        </p:nvSpPr>
        <p:spPr>
          <a:xfrm>
            <a:off x="4965192" y="3291840"/>
            <a:ext cx="640080" cy="457200"/>
          </a:xfrm>
          <a:prstGeom prst="rect">
            <a:avLst/>
          </a:prstGeom>
          <a:noFill/>
          <a:ln/>
        </p:spPr>
        <p:txBody>
          <a:bodyPr wrap="square" rtlCol="0" anchor="ctr"/>
          <a:lstStyle/>
          <a:p>
            <a:pPr indent="0" marL="0">
              <a:buNone/>
            </a:pPr>
            <a:r>
              <a:rPr lang="en-US" sz="1400" b="1" dirty="0">
                <a:solidFill>
                  <a:srgbClr val="0C7B93"/>
                </a:solidFill>
                <a:latin typeface="Courier New" pitchFamily="34" charset="0"/>
                <a:ea typeface="Courier New" pitchFamily="34" charset="-122"/>
                <a:cs typeface="Courier New" pitchFamily="34" charset="-120"/>
              </a:rPr>
              <a:t>/28</a:t>
            </a:r>
            <a:endParaRPr lang="en-US" sz="1400" dirty="0"/>
          </a:p>
        </p:txBody>
      </p:sp>
      <p:sp>
        <p:nvSpPr>
          <p:cNvPr id="72" name="Text 70"/>
          <p:cNvSpPr/>
          <p:nvPr/>
        </p:nvSpPr>
        <p:spPr>
          <a:xfrm>
            <a:off x="5669280" y="3291840"/>
            <a:ext cx="1097280" cy="457200"/>
          </a:xfrm>
          <a:prstGeom prst="rect">
            <a:avLst/>
          </a:prstGeom>
          <a:noFill/>
          <a:ln/>
        </p:spPr>
        <p:txBody>
          <a:bodyPr wrap="square" rtlCol="0" anchor="ctr"/>
          <a:lstStyle/>
          <a:p>
            <a:pPr indent="0" marL="0">
              <a:buNone/>
            </a:pPr>
            <a:r>
              <a:rPr lang="en-US" sz="1300" b="1" dirty="0">
                <a:solidFill>
                  <a:srgbClr val="00FF88"/>
                </a:solidFill>
                <a:latin typeface="Calibri" pitchFamily="34" charset="0"/>
                <a:ea typeface="Calibri" pitchFamily="34" charset="-122"/>
                <a:cs typeface="Calibri" pitchFamily="34" charset="-120"/>
              </a:rPr>
              <a:t>14</a:t>
            </a:r>
            <a:endParaRPr lang="en-US" sz="1300" dirty="0"/>
          </a:p>
        </p:txBody>
      </p:sp>
      <p:sp>
        <p:nvSpPr>
          <p:cNvPr id="73" name="Text 71"/>
          <p:cNvSpPr/>
          <p:nvPr/>
        </p:nvSpPr>
        <p:spPr>
          <a:xfrm>
            <a:off x="6839712" y="3291840"/>
            <a:ext cx="1965960" cy="457200"/>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Bastion/NAT</a:t>
            </a:r>
            <a:endParaRPr lang="en-US" sz="900" dirty="0"/>
          </a:p>
        </p:txBody>
      </p:sp>
      <p:sp>
        <p:nvSpPr>
          <p:cNvPr id="74" name="Shape 72"/>
          <p:cNvSpPr/>
          <p:nvPr/>
        </p:nvSpPr>
        <p:spPr>
          <a:xfrm>
            <a:off x="4892040" y="3785616"/>
            <a:ext cx="3977640" cy="457200"/>
          </a:xfrm>
          <a:prstGeom prst="rect">
            <a:avLst/>
          </a:prstGeom>
          <a:solidFill>
            <a:srgbClr val="0D1E30"/>
          </a:solidFill>
          <a:ln w="12700">
            <a:solidFill>
              <a:srgbClr val="1A2535"/>
            </a:solidFill>
            <a:prstDash val="solid"/>
          </a:ln>
        </p:spPr>
      </p:sp>
      <p:sp>
        <p:nvSpPr>
          <p:cNvPr id="75" name="Text 73"/>
          <p:cNvSpPr/>
          <p:nvPr/>
        </p:nvSpPr>
        <p:spPr>
          <a:xfrm>
            <a:off x="4965192" y="3785616"/>
            <a:ext cx="640080" cy="457200"/>
          </a:xfrm>
          <a:prstGeom prst="rect">
            <a:avLst/>
          </a:prstGeom>
          <a:noFill/>
          <a:ln/>
        </p:spPr>
        <p:txBody>
          <a:bodyPr wrap="square" rtlCol="0" anchor="ctr"/>
          <a:lstStyle/>
          <a:p>
            <a:pPr indent="0" marL="0">
              <a:buNone/>
            </a:pPr>
            <a:r>
              <a:rPr lang="en-US" sz="1400" b="1" dirty="0">
                <a:solidFill>
                  <a:srgbClr val="0C7B93"/>
                </a:solidFill>
                <a:latin typeface="Courier New" pitchFamily="34" charset="0"/>
                <a:ea typeface="Courier New" pitchFamily="34" charset="-122"/>
                <a:cs typeface="Courier New" pitchFamily="34" charset="-120"/>
              </a:rPr>
              <a:t>/30</a:t>
            </a:r>
            <a:endParaRPr lang="en-US" sz="1400" dirty="0"/>
          </a:p>
        </p:txBody>
      </p:sp>
      <p:sp>
        <p:nvSpPr>
          <p:cNvPr id="76" name="Text 74"/>
          <p:cNvSpPr/>
          <p:nvPr/>
        </p:nvSpPr>
        <p:spPr>
          <a:xfrm>
            <a:off x="5669280" y="3785616"/>
            <a:ext cx="1097280" cy="457200"/>
          </a:xfrm>
          <a:prstGeom prst="rect">
            <a:avLst/>
          </a:prstGeom>
          <a:noFill/>
          <a:ln/>
        </p:spPr>
        <p:txBody>
          <a:bodyPr wrap="square" rtlCol="0" anchor="ctr"/>
          <a:lstStyle/>
          <a:p>
            <a:pPr indent="0" marL="0">
              <a:buNone/>
            </a:pPr>
            <a:r>
              <a:rPr lang="en-US" sz="1300" b="1" dirty="0">
                <a:solidFill>
                  <a:srgbClr val="00FF88"/>
                </a:solidFill>
                <a:latin typeface="Calibri" pitchFamily="34" charset="0"/>
                <a:ea typeface="Calibri" pitchFamily="34" charset="-122"/>
                <a:cs typeface="Calibri" pitchFamily="34" charset="-120"/>
              </a:rPr>
              <a:t>2</a:t>
            </a:r>
            <a:endParaRPr lang="en-US" sz="1300" dirty="0"/>
          </a:p>
        </p:txBody>
      </p:sp>
      <p:sp>
        <p:nvSpPr>
          <p:cNvPr id="77" name="Text 75"/>
          <p:cNvSpPr/>
          <p:nvPr/>
        </p:nvSpPr>
        <p:spPr>
          <a:xfrm>
            <a:off x="6839712" y="3785616"/>
            <a:ext cx="1965960" cy="457200"/>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Point-to-point</a:t>
            </a:r>
            <a:endParaRPr lang="en-US" sz="900" dirty="0"/>
          </a:p>
        </p:txBody>
      </p:sp>
      <p:sp>
        <p:nvSpPr>
          <p:cNvPr id="78" name="Shape 76"/>
          <p:cNvSpPr/>
          <p:nvPr/>
        </p:nvSpPr>
        <p:spPr>
          <a:xfrm>
            <a:off x="4892040" y="4297680"/>
            <a:ext cx="3977640" cy="320040"/>
          </a:xfrm>
          <a:prstGeom prst="rect">
            <a:avLst/>
          </a:prstGeom>
          <a:solidFill>
            <a:srgbClr val="070B18"/>
          </a:solidFill>
          <a:ln w="12700">
            <a:solidFill>
              <a:srgbClr val="0C7B93">
                <a:alpha val="50000"/>
              </a:srgbClr>
            </a:solidFill>
            <a:prstDash val="solid"/>
          </a:ln>
        </p:spPr>
      </p:sp>
      <p:sp>
        <p:nvSpPr>
          <p:cNvPr id="79" name="Text 77"/>
          <p:cNvSpPr/>
          <p:nvPr/>
        </p:nvSpPr>
        <p:spPr>
          <a:xfrm>
            <a:off x="4983480" y="4306824"/>
            <a:ext cx="3794760" cy="292608"/>
          </a:xfrm>
          <a:prstGeom prst="rect">
            <a:avLst/>
          </a:prstGeom>
          <a:noFill/>
          <a:ln/>
        </p:spPr>
        <p:txBody>
          <a:bodyPr wrap="square" rtlCol="0" anchor="ctr"/>
          <a:lstStyle/>
          <a:p>
            <a:pPr indent="0" marL="0">
              <a:buNone/>
            </a:pPr>
            <a:r>
              <a:rPr lang="en-US" sz="900" dirty="0">
                <a:solidFill>
                  <a:srgbClr val="00D4FF"/>
                </a:solidFill>
                <a:latin typeface="Courier New" pitchFamily="34" charset="0"/>
                <a:ea typeface="Courier New" pitchFamily="34" charset="-122"/>
                <a:cs typeface="Courier New" pitchFamily="34" charset="-120"/>
              </a:rPr>
              <a:t>Formula: 2^(32−prefix) − 2   e.g. /26 → 2^6 − 2 = 62</a:t>
            </a:r>
            <a:endParaRPr lang="en-US" sz="900" dirty="0"/>
          </a:p>
        </p:txBody>
      </p:sp>
      <p:sp>
        <p:nvSpPr>
          <p:cNvPr id="80" name="Shape 78"/>
          <p:cNvSpPr/>
          <p:nvPr/>
        </p:nvSpPr>
        <p:spPr>
          <a:xfrm>
            <a:off x="256032" y="4096512"/>
            <a:ext cx="4389120" cy="530352"/>
          </a:xfrm>
          <a:prstGeom prst="rect">
            <a:avLst/>
          </a:prstGeom>
          <a:solidFill>
            <a:srgbClr val="180808"/>
          </a:solidFill>
          <a:ln w="12700">
            <a:solidFill>
              <a:srgbClr val="FF6B6B"/>
            </a:solidFill>
            <a:prstDash val="solid"/>
          </a:ln>
        </p:spPr>
      </p:sp>
      <p:sp>
        <p:nvSpPr>
          <p:cNvPr id="81" name="Shape 79"/>
          <p:cNvSpPr/>
          <p:nvPr/>
        </p:nvSpPr>
        <p:spPr>
          <a:xfrm>
            <a:off x="256032" y="4096512"/>
            <a:ext cx="54864" cy="530352"/>
          </a:xfrm>
          <a:prstGeom prst="rect">
            <a:avLst/>
          </a:prstGeom>
          <a:solidFill>
            <a:srgbClr val="FF6B6B"/>
          </a:solidFill>
          <a:ln w="12700">
            <a:solidFill>
              <a:srgbClr val="FF6B6B"/>
            </a:solidFill>
            <a:prstDash val="solid"/>
          </a:ln>
        </p:spPr>
      </p:sp>
      <p:sp>
        <p:nvSpPr>
          <p:cNvPr id="82" name="Text 80"/>
          <p:cNvSpPr/>
          <p:nvPr/>
        </p:nvSpPr>
        <p:spPr>
          <a:xfrm>
            <a:off x="384048" y="4133088"/>
            <a:ext cx="1280160" cy="201168"/>
          </a:xfrm>
          <a:prstGeom prst="rect">
            <a:avLst/>
          </a:prstGeom>
          <a:noFill/>
          <a:ln/>
        </p:spPr>
        <p:txBody>
          <a:bodyPr wrap="square" rtlCol="0" anchor="ctr"/>
          <a:lstStyle/>
          <a:p>
            <a:pPr indent="0" marL="0">
              <a:buNone/>
            </a:pPr>
            <a:r>
              <a:rPr lang="en-US" sz="800" b="1" dirty="0">
                <a:solidFill>
                  <a:srgbClr val="FF6B6B"/>
                </a:solidFill>
                <a:latin typeface="Calibri" pitchFamily="34" charset="0"/>
                <a:ea typeface="Calibri" pitchFamily="34" charset="-122"/>
                <a:cs typeface="Calibri" pitchFamily="34" charset="-120"/>
              </a:rPr>
              <a:t>⚠ EXAM TRAP</a:t>
            </a:r>
            <a:endParaRPr lang="en-US" sz="800" dirty="0"/>
          </a:p>
        </p:txBody>
      </p:sp>
      <p:sp>
        <p:nvSpPr>
          <p:cNvPr id="83" name="Text 81"/>
          <p:cNvSpPr/>
          <p:nvPr/>
        </p:nvSpPr>
        <p:spPr>
          <a:xfrm>
            <a:off x="384048" y="4325112"/>
            <a:ext cx="4169664"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SG is stateless, NACL is stateful (wrong!)</a:t>
            </a:r>
            <a:endParaRPr lang="en-US" sz="900" dirty="0"/>
          </a:p>
        </p:txBody>
      </p:sp>
      <p:sp>
        <p:nvSpPr>
          <p:cNvPr id="84" name="Text 82"/>
          <p:cNvSpPr/>
          <p:nvPr/>
        </p:nvSpPr>
        <p:spPr>
          <a:xfrm>
            <a:off x="1719072" y="4133088"/>
            <a:ext cx="2834640" cy="201168"/>
          </a:xfrm>
          <a:prstGeom prst="rect">
            <a:avLst/>
          </a:prstGeom>
          <a:noFill/>
          <a:ln/>
        </p:spPr>
        <p:txBody>
          <a:bodyPr wrap="square" rtlCol="0" anchor="ctr"/>
          <a:lstStyle/>
          <a:p>
            <a:pPr indent="0" marL="0">
              <a:buNone/>
            </a:pPr>
            <a:r>
              <a:rPr lang="en-US" sz="850" b="1" dirty="0">
                <a:solidFill>
                  <a:srgbClr val="00FF88"/>
                </a:solidFill>
                <a:latin typeface="Calibri" pitchFamily="34" charset="0"/>
                <a:ea typeface="Calibri" pitchFamily="34" charset="-122"/>
                <a:cs typeface="Calibri" pitchFamily="34" charset="-120"/>
              </a:rPr>
              <a:t>✓ Security Groups are STATEFUL (return traffic auto). NACLs are STATELESS (need rules in both directions).</a:t>
            </a:r>
            <a:endParaRPr lang="en-US" sz="850" dirty="0"/>
          </a:p>
        </p:txBody>
      </p:sp>
      <p:sp>
        <p:nvSpPr>
          <p:cNvPr id="85" name="Text 83"/>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D1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C7B93"/>
          </a:solidFill>
          <a:ln w="12700">
            <a:solidFill>
              <a:srgbClr val="0C7B93"/>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0C7B93">
              <a:alpha val="80000"/>
            </a:srgbClr>
          </a:solidFill>
          <a:ln w="12700">
            <a:solidFill>
              <a:srgbClr val="0C7B93"/>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3</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Module 3 — Quick Quiz</a:t>
            </a:r>
            <a:endParaRPr lang="en-US" sz="1600" dirty="0"/>
          </a:p>
        </p:txBody>
      </p:sp>
      <p:sp>
        <p:nvSpPr>
          <p:cNvPr id="7" name="Shape 5"/>
          <p:cNvSpPr/>
          <p:nvPr/>
        </p:nvSpPr>
        <p:spPr>
          <a:xfrm>
            <a:off x="256032" y="530352"/>
            <a:ext cx="4160520" cy="1024128"/>
          </a:xfrm>
          <a:prstGeom prst="rect">
            <a:avLst/>
          </a:prstGeom>
          <a:solidFill>
            <a:srgbClr val="0A0A16"/>
          </a:solidFill>
          <a:ln w="12700">
            <a:solidFill>
              <a:srgbClr val="0C7B93">
                <a:alpha val="60000"/>
              </a:srgbClr>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56032" y="530352"/>
            <a:ext cx="4160520" cy="36576"/>
          </a:xfrm>
          <a:prstGeom prst="rect">
            <a:avLst/>
          </a:prstGeom>
          <a:solidFill>
            <a:srgbClr val="0C7B93"/>
          </a:solidFill>
          <a:ln w="12700">
            <a:solidFill>
              <a:srgbClr val="0C7B93"/>
            </a:solidFill>
            <a:prstDash val="solid"/>
          </a:ln>
        </p:spPr>
      </p:sp>
      <p:sp>
        <p:nvSpPr>
          <p:cNvPr id="9" name="Text 7"/>
          <p:cNvSpPr/>
          <p:nvPr/>
        </p:nvSpPr>
        <p:spPr>
          <a:xfrm>
            <a:off x="329184" y="603504"/>
            <a:ext cx="256032" cy="274320"/>
          </a:xfrm>
          <a:prstGeom prst="rect">
            <a:avLst/>
          </a:prstGeom>
          <a:noFill/>
          <a:ln/>
        </p:spPr>
        <p:txBody>
          <a:bodyPr wrap="square" rtlCol="0" anchor="ctr"/>
          <a:lstStyle/>
          <a:p>
            <a:pPr indent="0" marL="0">
              <a:buNone/>
            </a:pPr>
            <a:r>
              <a:rPr lang="en-US" sz="1100" b="1" dirty="0">
                <a:solidFill>
                  <a:srgbClr val="0C7B93"/>
                </a:solidFill>
                <a:latin typeface="Arial Black" pitchFamily="34" charset="0"/>
                <a:ea typeface="Arial Black" pitchFamily="34" charset="-122"/>
                <a:cs typeface="Arial Black" pitchFamily="34" charset="-120"/>
              </a:rPr>
              <a:t>Q</a:t>
            </a:r>
            <a:endParaRPr lang="en-US" sz="1100" dirty="0"/>
          </a:p>
        </p:txBody>
      </p:sp>
      <p:sp>
        <p:nvSpPr>
          <p:cNvPr id="10" name="Text 8"/>
          <p:cNvSpPr/>
          <p:nvPr/>
        </p:nvSpPr>
        <p:spPr>
          <a:xfrm>
            <a:off x="621792"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At which OSI layer do IP addresses and routing decisions occur?</a:t>
            </a:r>
            <a:endParaRPr lang="en-US" sz="1000" dirty="0"/>
          </a:p>
        </p:txBody>
      </p:sp>
      <p:sp>
        <p:nvSpPr>
          <p:cNvPr id="11" name="Shape 9"/>
          <p:cNvSpPr/>
          <p:nvPr/>
        </p:nvSpPr>
        <p:spPr>
          <a:xfrm>
            <a:off x="347472" y="987552"/>
            <a:ext cx="3977640" cy="36576"/>
          </a:xfrm>
          <a:prstGeom prst="rect">
            <a:avLst/>
          </a:prstGeom>
          <a:solidFill>
            <a:srgbClr val="0C7B93">
              <a:alpha val="30000"/>
            </a:srgbClr>
          </a:solidFill>
          <a:ln w="12700">
            <a:solidFill>
              <a:srgbClr val="0C7B93">
                <a:alpha val="30000"/>
              </a:srgbClr>
            </a:solidFill>
            <a:prstDash val="solid"/>
          </a:ln>
        </p:spPr>
      </p:sp>
      <p:sp>
        <p:nvSpPr>
          <p:cNvPr id="12" name="Text 10"/>
          <p:cNvSpPr/>
          <p:nvPr/>
        </p:nvSpPr>
        <p:spPr>
          <a:xfrm>
            <a:off x="347472" y="1060704"/>
            <a:ext cx="3977640" cy="402336"/>
          </a:xfrm>
          <a:prstGeom prst="rect">
            <a:avLst/>
          </a:prstGeom>
          <a:noFill/>
          <a:ln/>
        </p:spPr>
        <p:txBody>
          <a:bodyPr wrap="square" rtlCol="0" anchor="ctr"/>
          <a:lstStyle/>
          <a:p>
            <a:pPr indent="0" marL="0">
              <a:buNone/>
            </a:pPr>
            <a:r>
              <a:rPr lang="en-US" sz="950" dirty="0">
                <a:solidFill>
                  <a:srgbClr val="0C7B93"/>
                </a:solidFill>
                <a:latin typeface="Calibri" pitchFamily="34" charset="0"/>
                <a:ea typeface="Calibri" pitchFamily="34" charset="-122"/>
                <a:cs typeface="Calibri" pitchFamily="34" charset="-120"/>
              </a:rPr>
              <a:t>A  Layer 3 — Network. IP, ICMP, and ARP live here. Routers operate at Layer 3. Layer 4 = TCP/UDP. Layer 7 = HTTP/DNS.</a:t>
            </a:r>
            <a:endParaRPr lang="en-US" sz="950" dirty="0"/>
          </a:p>
        </p:txBody>
      </p:sp>
      <p:sp>
        <p:nvSpPr>
          <p:cNvPr id="13" name="Shape 11"/>
          <p:cNvSpPr/>
          <p:nvPr/>
        </p:nvSpPr>
        <p:spPr>
          <a:xfrm>
            <a:off x="4727448" y="530352"/>
            <a:ext cx="4160520" cy="1024128"/>
          </a:xfrm>
          <a:prstGeom prst="rect">
            <a:avLst/>
          </a:prstGeom>
          <a:solidFill>
            <a:srgbClr val="0A0A16"/>
          </a:solidFill>
          <a:ln w="12700">
            <a:solidFill>
              <a:srgbClr val="0C7B93">
                <a:alpha val="60000"/>
              </a:srgbClr>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727448" y="530352"/>
            <a:ext cx="4160520" cy="36576"/>
          </a:xfrm>
          <a:prstGeom prst="rect">
            <a:avLst/>
          </a:prstGeom>
          <a:solidFill>
            <a:srgbClr val="0C7B93"/>
          </a:solidFill>
          <a:ln w="12700">
            <a:solidFill>
              <a:srgbClr val="0C7B93"/>
            </a:solidFill>
            <a:prstDash val="solid"/>
          </a:ln>
        </p:spPr>
      </p:sp>
      <p:sp>
        <p:nvSpPr>
          <p:cNvPr id="15" name="Text 13"/>
          <p:cNvSpPr/>
          <p:nvPr/>
        </p:nvSpPr>
        <p:spPr>
          <a:xfrm>
            <a:off x="4800600" y="603504"/>
            <a:ext cx="256032" cy="274320"/>
          </a:xfrm>
          <a:prstGeom prst="rect">
            <a:avLst/>
          </a:prstGeom>
          <a:noFill/>
          <a:ln/>
        </p:spPr>
        <p:txBody>
          <a:bodyPr wrap="square" rtlCol="0" anchor="ctr"/>
          <a:lstStyle/>
          <a:p>
            <a:pPr indent="0" marL="0">
              <a:buNone/>
            </a:pPr>
            <a:r>
              <a:rPr lang="en-US" sz="1100" b="1" dirty="0">
                <a:solidFill>
                  <a:srgbClr val="0C7B93"/>
                </a:solidFill>
                <a:latin typeface="Arial Black" pitchFamily="34" charset="0"/>
                <a:ea typeface="Arial Black" pitchFamily="34" charset="-122"/>
                <a:cs typeface="Arial Black" pitchFamily="34" charset="-120"/>
              </a:rPr>
              <a:t>Q</a:t>
            </a:r>
            <a:endParaRPr lang="en-US" sz="1100" dirty="0"/>
          </a:p>
        </p:txBody>
      </p:sp>
      <p:sp>
        <p:nvSpPr>
          <p:cNvPr id="16" name="Text 14"/>
          <p:cNvSpPr/>
          <p:nvPr/>
        </p:nvSpPr>
        <p:spPr>
          <a:xfrm>
            <a:off x="5093208"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are the three steps of the TCP three-way handshake?</a:t>
            </a:r>
            <a:endParaRPr lang="en-US" sz="1000" dirty="0"/>
          </a:p>
        </p:txBody>
      </p:sp>
      <p:sp>
        <p:nvSpPr>
          <p:cNvPr id="17" name="Shape 15"/>
          <p:cNvSpPr/>
          <p:nvPr/>
        </p:nvSpPr>
        <p:spPr>
          <a:xfrm>
            <a:off x="4818888" y="987552"/>
            <a:ext cx="3977640" cy="36576"/>
          </a:xfrm>
          <a:prstGeom prst="rect">
            <a:avLst/>
          </a:prstGeom>
          <a:solidFill>
            <a:srgbClr val="0C7B93">
              <a:alpha val="30000"/>
            </a:srgbClr>
          </a:solidFill>
          <a:ln w="12700">
            <a:solidFill>
              <a:srgbClr val="0C7B93">
                <a:alpha val="30000"/>
              </a:srgbClr>
            </a:solidFill>
            <a:prstDash val="solid"/>
          </a:ln>
        </p:spPr>
      </p:sp>
      <p:sp>
        <p:nvSpPr>
          <p:cNvPr id="18" name="Text 16"/>
          <p:cNvSpPr/>
          <p:nvPr/>
        </p:nvSpPr>
        <p:spPr>
          <a:xfrm>
            <a:off x="4818888" y="1060704"/>
            <a:ext cx="3977640" cy="402336"/>
          </a:xfrm>
          <a:prstGeom prst="rect">
            <a:avLst/>
          </a:prstGeom>
          <a:noFill/>
          <a:ln/>
        </p:spPr>
        <p:txBody>
          <a:bodyPr wrap="square" rtlCol="0" anchor="ctr"/>
          <a:lstStyle/>
          <a:p>
            <a:pPr indent="0" marL="0">
              <a:buNone/>
            </a:pPr>
            <a:r>
              <a:rPr lang="en-US" sz="950" dirty="0">
                <a:solidFill>
                  <a:srgbClr val="0C7B93"/>
                </a:solidFill>
                <a:latin typeface="Calibri" pitchFamily="34" charset="0"/>
                <a:ea typeface="Calibri" pitchFamily="34" charset="-122"/>
                <a:cs typeface="Calibri" pitchFamily="34" charset="-120"/>
              </a:rPr>
              <a:t>A  SYN (client: I want to connect) → SYN-ACK (server: acknowledged, ready) → ACK (client: confirmed). Only then does data flow.</a:t>
            </a:r>
            <a:endParaRPr lang="en-US" sz="950" dirty="0"/>
          </a:p>
        </p:txBody>
      </p:sp>
      <p:sp>
        <p:nvSpPr>
          <p:cNvPr id="19" name="Shape 17"/>
          <p:cNvSpPr/>
          <p:nvPr/>
        </p:nvSpPr>
        <p:spPr>
          <a:xfrm>
            <a:off x="256032" y="1664208"/>
            <a:ext cx="4160520" cy="1024128"/>
          </a:xfrm>
          <a:prstGeom prst="rect">
            <a:avLst/>
          </a:prstGeom>
          <a:solidFill>
            <a:srgbClr val="0A0A16"/>
          </a:solidFill>
          <a:ln w="12700">
            <a:solidFill>
              <a:srgbClr val="0C7B93">
                <a:alpha val="60000"/>
              </a:srgbClr>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56032" y="1664208"/>
            <a:ext cx="4160520" cy="36576"/>
          </a:xfrm>
          <a:prstGeom prst="rect">
            <a:avLst/>
          </a:prstGeom>
          <a:solidFill>
            <a:srgbClr val="0C7B93"/>
          </a:solidFill>
          <a:ln w="12700">
            <a:solidFill>
              <a:srgbClr val="0C7B93"/>
            </a:solidFill>
            <a:prstDash val="solid"/>
          </a:ln>
        </p:spPr>
      </p:sp>
      <p:sp>
        <p:nvSpPr>
          <p:cNvPr id="21" name="Text 19"/>
          <p:cNvSpPr/>
          <p:nvPr/>
        </p:nvSpPr>
        <p:spPr>
          <a:xfrm>
            <a:off x="329184" y="1737360"/>
            <a:ext cx="256032" cy="274320"/>
          </a:xfrm>
          <a:prstGeom prst="rect">
            <a:avLst/>
          </a:prstGeom>
          <a:noFill/>
          <a:ln/>
        </p:spPr>
        <p:txBody>
          <a:bodyPr wrap="square" rtlCol="0" anchor="ctr"/>
          <a:lstStyle/>
          <a:p>
            <a:pPr indent="0" marL="0">
              <a:buNone/>
            </a:pPr>
            <a:r>
              <a:rPr lang="en-US" sz="1100" b="1" dirty="0">
                <a:solidFill>
                  <a:srgbClr val="0C7B93"/>
                </a:solidFill>
                <a:latin typeface="Arial Black" pitchFamily="34" charset="0"/>
                <a:ea typeface="Arial Black" pitchFamily="34" charset="-122"/>
                <a:cs typeface="Arial Black" pitchFamily="34" charset="-120"/>
              </a:rPr>
              <a:t>Q</a:t>
            </a:r>
            <a:endParaRPr lang="en-US" sz="1100" dirty="0"/>
          </a:p>
        </p:txBody>
      </p:sp>
      <p:sp>
        <p:nvSpPr>
          <p:cNvPr id="22" name="Text 20"/>
          <p:cNvSpPr/>
          <p:nvPr/>
        </p:nvSpPr>
        <p:spPr>
          <a:xfrm>
            <a:off x="621792"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How many usable hosts are in a /26 subnet?</a:t>
            </a:r>
            <a:endParaRPr lang="en-US" sz="1000" dirty="0"/>
          </a:p>
        </p:txBody>
      </p:sp>
      <p:sp>
        <p:nvSpPr>
          <p:cNvPr id="23" name="Shape 21"/>
          <p:cNvSpPr/>
          <p:nvPr/>
        </p:nvSpPr>
        <p:spPr>
          <a:xfrm>
            <a:off x="347472" y="2121408"/>
            <a:ext cx="3977640" cy="36576"/>
          </a:xfrm>
          <a:prstGeom prst="rect">
            <a:avLst/>
          </a:prstGeom>
          <a:solidFill>
            <a:srgbClr val="0C7B93">
              <a:alpha val="30000"/>
            </a:srgbClr>
          </a:solidFill>
          <a:ln w="12700">
            <a:solidFill>
              <a:srgbClr val="0C7B93">
                <a:alpha val="30000"/>
              </a:srgbClr>
            </a:solidFill>
            <a:prstDash val="solid"/>
          </a:ln>
        </p:spPr>
      </p:sp>
      <p:sp>
        <p:nvSpPr>
          <p:cNvPr id="24" name="Text 22"/>
          <p:cNvSpPr/>
          <p:nvPr/>
        </p:nvSpPr>
        <p:spPr>
          <a:xfrm>
            <a:off x="347472" y="2194560"/>
            <a:ext cx="3977640" cy="402336"/>
          </a:xfrm>
          <a:prstGeom prst="rect">
            <a:avLst/>
          </a:prstGeom>
          <a:noFill/>
          <a:ln/>
        </p:spPr>
        <p:txBody>
          <a:bodyPr wrap="square" rtlCol="0" anchor="ctr"/>
          <a:lstStyle/>
          <a:p>
            <a:pPr indent="0" marL="0">
              <a:buNone/>
            </a:pPr>
            <a:r>
              <a:rPr lang="en-US" sz="950" dirty="0">
                <a:solidFill>
                  <a:srgbClr val="0C7B93"/>
                </a:solidFill>
                <a:latin typeface="Calibri" pitchFamily="34" charset="0"/>
                <a:ea typeface="Calibri" pitchFamily="34" charset="-122"/>
                <a:cs typeface="Calibri" pitchFamily="34" charset="-120"/>
              </a:rPr>
              <a:t>A  62. Formula: 2^(32−26) − 2 = 2^6 − 2 = 64 − 2 = 62. Subtract 2 for the network address and broadcast address.</a:t>
            </a:r>
            <a:endParaRPr lang="en-US" sz="950" dirty="0"/>
          </a:p>
        </p:txBody>
      </p:sp>
      <p:sp>
        <p:nvSpPr>
          <p:cNvPr id="25" name="Shape 23"/>
          <p:cNvSpPr/>
          <p:nvPr/>
        </p:nvSpPr>
        <p:spPr>
          <a:xfrm>
            <a:off x="4727448" y="1664208"/>
            <a:ext cx="4160520" cy="1024128"/>
          </a:xfrm>
          <a:prstGeom prst="rect">
            <a:avLst/>
          </a:prstGeom>
          <a:solidFill>
            <a:srgbClr val="0A0A16"/>
          </a:solidFill>
          <a:ln w="12700">
            <a:solidFill>
              <a:srgbClr val="0C7B93">
                <a:alpha val="60000"/>
              </a:srgbClr>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727448" y="1664208"/>
            <a:ext cx="4160520" cy="36576"/>
          </a:xfrm>
          <a:prstGeom prst="rect">
            <a:avLst/>
          </a:prstGeom>
          <a:solidFill>
            <a:srgbClr val="0C7B93"/>
          </a:solidFill>
          <a:ln w="12700">
            <a:solidFill>
              <a:srgbClr val="0C7B93"/>
            </a:solidFill>
            <a:prstDash val="solid"/>
          </a:ln>
        </p:spPr>
      </p:sp>
      <p:sp>
        <p:nvSpPr>
          <p:cNvPr id="27" name="Text 25"/>
          <p:cNvSpPr/>
          <p:nvPr/>
        </p:nvSpPr>
        <p:spPr>
          <a:xfrm>
            <a:off x="4800600" y="1737360"/>
            <a:ext cx="256032" cy="274320"/>
          </a:xfrm>
          <a:prstGeom prst="rect">
            <a:avLst/>
          </a:prstGeom>
          <a:noFill/>
          <a:ln/>
        </p:spPr>
        <p:txBody>
          <a:bodyPr wrap="square" rtlCol="0" anchor="ctr"/>
          <a:lstStyle/>
          <a:p>
            <a:pPr indent="0" marL="0">
              <a:buNone/>
            </a:pPr>
            <a:r>
              <a:rPr lang="en-US" sz="1100" b="1" dirty="0">
                <a:solidFill>
                  <a:srgbClr val="0C7B93"/>
                </a:solidFill>
                <a:latin typeface="Arial Black" pitchFamily="34" charset="0"/>
                <a:ea typeface="Arial Black" pitchFamily="34" charset="-122"/>
                <a:cs typeface="Arial Black" pitchFamily="34" charset="-120"/>
              </a:rPr>
              <a:t>Q</a:t>
            </a:r>
            <a:endParaRPr lang="en-US" sz="1100" dirty="0"/>
          </a:p>
        </p:txBody>
      </p:sp>
      <p:sp>
        <p:nvSpPr>
          <p:cNvPr id="28" name="Text 26"/>
          <p:cNvSpPr/>
          <p:nvPr/>
        </p:nvSpPr>
        <p:spPr>
          <a:xfrm>
            <a:off x="5093208"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is the difference between an Internet Gateway and a NAT Gateway?</a:t>
            </a:r>
            <a:endParaRPr lang="en-US" sz="1000" dirty="0"/>
          </a:p>
        </p:txBody>
      </p:sp>
      <p:sp>
        <p:nvSpPr>
          <p:cNvPr id="29" name="Shape 27"/>
          <p:cNvSpPr/>
          <p:nvPr/>
        </p:nvSpPr>
        <p:spPr>
          <a:xfrm>
            <a:off x="4818888" y="2121408"/>
            <a:ext cx="3977640" cy="36576"/>
          </a:xfrm>
          <a:prstGeom prst="rect">
            <a:avLst/>
          </a:prstGeom>
          <a:solidFill>
            <a:srgbClr val="0C7B93">
              <a:alpha val="30000"/>
            </a:srgbClr>
          </a:solidFill>
          <a:ln w="12700">
            <a:solidFill>
              <a:srgbClr val="0C7B93">
                <a:alpha val="30000"/>
              </a:srgbClr>
            </a:solidFill>
            <a:prstDash val="solid"/>
          </a:ln>
        </p:spPr>
      </p:sp>
      <p:sp>
        <p:nvSpPr>
          <p:cNvPr id="30" name="Text 28"/>
          <p:cNvSpPr/>
          <p:nvPr/>
        </p:nvSpPr>
        <p:spPr>
          <a:xfrm>
            <a:off x="4818888" y="2194560"/>
            <a:ext cx="3977640" cy="402336"/>
          </a:xfrm>
          <a:prstGeom prst="rect">
            <a:avLst/>
          </a:prstGeom>
          <a:noFill/>
          <a:ln/>
        </p:spPr>
        <p:txBody>
          <a:bodyPr wrap="square" rtlCol="0" anchor="ctr"/>
          <a:lstStyle/>
          <a:p>
            <a:pPr indent="0" marL="0">
              <a:buNone/>
            </a:pPr>
            <a:r>
              <a:rPr lang="en-US" sz="950" dirty="0">
                <a:solidFill>
                  <a:srgbClr val="0C7B93"/>
                </a:solidFill>
                <a:latin typeface="Calibri" pitchFamily="34" charset="0"/>
                <a:ea typeface="Calibri" pitchFamily="34" charset="-122"/>
                <a:cs typeface="Calibri" pitchFamily="34" charset="-120"/>
              </a:rPr>
              <a:t>A  IGW allows public subnet resources to communicate directly with the internet (bidirectional). NAT GW allows PRIVATE subnet resources to initiate outbound internet connections only — inbound cannot be initiated from outside.</a:t>
            </a:r>
            <a:endParaRPr lang="en-US" sz="950" dirty="0"/>
          </a:p>
        </p:txBody>
      </p:sp>
      <p:sp>
        <p:nvSpPr>
          <p:cNvPr id="31" name="Shape 29"/>
          <p:cNvSpPr/>
          <p:nvPr/>
        </p:nvSpPr>
        <p:spPr>
          <a:xfrm>
            <a:off x="256032" y="2798064"/>
            <a:ext cx="4160520" cy="1024128"/>
          </a:xfrm>
          <a:prstGeom prst="rect">
            <a:avLst/>
          </a:prstGeom>
          <a:solidFill>
            <a:srgbClr val="0A0A16"/>
          </a:solidFill>
          <a:ln w="12700">
            <a:solidFill>
              <a:srgbClr val="0C7B93">
                <a:alpha val="60000"/>
              </a:srgbClr>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256032" y="2798064"/>
            <a:ext cx="4160520" cy="36576"/>
          </a:xfrm>
          <a:prstGeom prst="rect">
            <a:avLst/>
          </a:prstGeom>
          <a:solidFill>
            <a:srgbClr val="0C7B93"/>
          </a:solidFill>
          <a:ln w="12700">
            <a:solidFill>
              <a:srgbClr val="0C7B93"/>
            </a:solidFill>
            <a:prstDash val="solid"/>
          </a:ln>
        </p:spPr>
      </p:sp>
      <p:sp>
        <p:nvSpPr>
          <p:cNvPr id="33" name="Text 31"/>
          <p:cNvSpPr/>
          <p:nvPr/>
        </p:nvSpPr>
        <p:spPr>
          <a:xfrm>
            <a:off x="329184" y="2871216"/>
            <a:ext cx="256032" cy="274320"/>
          </a:xfrm>
          <a:prstGeom prst="rect">
            <a:avLst/>
          </a:prstGeom>
          <a:noFill/>
          <a:ln/>
        </p:spPr>
        <p:txBody>
          <a:bodyPr wrap="square" rtlCol="0" anchor="ctr"/>
          <a:lstStyle/>
          <a:p>
            <a:pPr indent="0" marL="0">
              <a:buNone/>
            </a:pPr>
            <a:r>
              <a:rPr lang="en-US" sz="1100" b="1" dirty="0">
                <a:solidFill>
                  <a:srgbClr val="0C7B93"/>
                </a:solidFill>
                <a:latin typeface="Arial Black" pitchFamily="34" charset="0"/>
                <a:ea typeface="Arial Black" pitchFamily="34" charset="-122"/>
                <a:cs typeface="Arial Black" pitchFamily="34" charset="-120"/>
              </a:rPr>
              <a:t>Q</a:t>
            </a:r>
            <a:endParaRPr lang="en-US" sz="1100" dirty="0"/>
          </a:p>
        </p:txBody>
      </p:sp>
      <p:sp>
        <p:nvSpPr>
          <p:cNvPr id="34" name="Text 32"/>
          <p:cNvSpPr/>
          <p:nvPr/>
        </p:nvSpPr>
        <p:spPr>
          <a:xfrm>
            <a:off x="621792"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An EC2 instance in a public subnet cannot be reached. Name 4 things to check.</a:t>
            </a:r>
            <a:endParaRPr lang="en-US" sz="1000" dirty="0"/>
          </a:p>
        </p:txBody>
      </p:sp>
      <p:sp>
        <p:nvSpPr>
          <p:cNvPr id="35" name="Shape 33"/>
          <p:cNvSpPr/>
          <p:nvPr/>
        </p:nvSpPr>
        <p:spPr>
          <a:xfrm>
            <a:off x="347472" y="3255264"/>
            <a:ext cx="3977640" cy="36576"/>
          </a:xfrm>
          <a:prstGeom prst="rect">
            <a:avLst/>
          </a:prstGeom>
          <a:solidFill>
            <a:srgbClr val="0C7B93">
              <a:alpha val="30000"/>
            </a:srgbClr>
          </a:solidFill>
          <a:ln w="12700">
            <a:solidFill>
              <a:srgbClr val="0C7B93">
                <a:alpha val="30000"/>
              </a:srgbClr>
            </a:solidFill>
            <a:prstDash val="solid"/>
          </a:ln>
        </p:spPr>
      </p:sp>
      <p:sp>
        <p:nvSpPr>
          <p:cNvPr id="36" name="Text 34"/>
          <p:cNvSpPr/>
          <p:nvPr/>
        </p:nvSpPr>
        <p:spPr>
          <a:xfrm>
            <a:off x="347472" y="3328416"/>
            <a:ext cx="3977640" cy="402336"/>
          </a:xfrm>
          <a:prstGeom prst="rect">
            <a:avLst/>
          </a:prstGeom>
          <a:noFill/>
          <a:ln/>
        </p:spPr>
        <p:txBody>
          <a:bodyPr wrap="square" rtlCol="0" anchor="ctr"/>
          <a:lstStyle/>
          <a:p>
            <a:pPr indent="0" marL="0">
              <a:buNone/>
            </a:pPr>
            <a:r>
              <a:rPr lang="en-US" sz="950" dirty="0">
                <a:solidFill>
                  <a:srgbClr val="0C7B93"/>
                </a:solidFill>
                <a:latin typeface="Calibri" pitchFamily="34" charset="0"/>
                <a:ea typeface="Calibri" pitchFamily="34" charset="-122"/>
                <a:cs typeface="Calibri" pitchFamily="34" charset="-120"/>
              </a:rPr>
              <a:t>A  1) Security group has no inbound rule for the port  2) No Internet Gateway attached  3) Route table missing 0.0.0.0/0 → IGW  4) EC2 has no public IP assigned</a:t>
            </a:r>
            <a:endParaRPr lang="en-US" sz="950" dirty="0"/>
          </a:p>
        </p:txBody>
      </p:sp>
      <p:sp>
        <p:nvSpPr>
          <p:cNvPr id="37" name="Shape 35"/>
          <p:cNvSpPr/>
          <p:nvPr/>
        </p:nvSpPr>
        <p:spPr>
          <a:xfrm>
            <a:off x="4727448" y="2798064"/>
            <a:ext cx="4160520" cy="1024128"/>
          </a:xfrm>
          <a:prstGeom prst="rect">
            <a:avLst/>
          </a:prstGeom>
          <a:solidFill>
            <a:srgbClr val="0A0A16"/>
          </a:solidFill>
          <a:ln w="12700">
            <a:solidFill>
              <a:srgbClr val="0C7B93">
                <a:alpha val="60000"/>
              </a:srgbClr>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4727448" y="2798064"/>
            <a:ext cx="4160520" cy="36576"/>
          </a:xfrm>
          <a:prstGeom prst="rect">
            <a:avLst/>
          </a:prstGeom>
          <a:solidFill>
            <a:srgbClr val="0C7B93"/>
          </a:solidFill>
          <a:ln w="12700">
            <a:solidFill>
              <a:srgbClr val="0C7B93"/>
            </a:solidFill>
            <a:prstDash val="solid"/>
          </a:ln>
        </p:spPr>
      </p:sp>
      <p:sp>
        <p:nvSpPr>
          <p:cNvPr id="39" name="Text 37"/>
          <p:cNvSpPr/>
          <p:nvPr/>
        </p:nvSpPr>
        <p:spPr>
          <a:xfrm>
            <a:off x="4800600" y="2871216"/>
            <a:ext cx="256032" cy="274320"/>
          </a:xfrm>
          <a:prstGeom prst="rect">
            <a:avLst/>
          </a:prstGeom>
          <a:noFill/>
          <a:ln/>
        </p:spPr>
        <p:txBody>
          <a:bodyPr wrap="square" rtlCol="0" anchor="ctr"/>
          <a:lstStyle/>
          <a:p>
            <a:pPr indent="0" marL="0">
              <a:buNone/>
            </a:pPr>
            <a:r>
              <a:rPr lang="en-US" sz="1100" b="1" dirty="0">
                <a:solidFill>
                  <a:srgbClr val="0C7B93"/>
                </a:solidFill>
                <a:latin typeface="Arial Black" pitchFamily="34" charset="0"/>
                <a:ea typeface="Arial Black" pitchFamily="34" charset="-122"/>
                <a:cs typeface="Arial Black" pitchFamily="34" charset="-120"/>
              </a:rPr>
              <a:t>Q</a:t>
            </a:r>
            <a:endParaRPr lang="en-US" sz="1100" dirty="0"/>
          </a:p>
        </p:txBody>
      </p:sp>
      <p:sp>
        <p:nvSpPr>
          <p:cNvPr id="40" name="Text 38"/>
          <p:cNvSpPr/>
          <p:nvPr/>
        </p:nvSpPr>
        <p:spPr>
          <a:xfrm>
            <a:off x="5093208"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Why use AWS af-south-1 for South African customer data?</a:t>
            </a:r>
            <a:endParaRPr lang="en-US" sz="1000" dirty="0"/>
          </a:p>
        </p:txBody>
      </p:sp>
      <p:sp>
        <p:nvSpPr>
          <p:cNvPr id="41" name="Shape 39"/>
          <p:cNvSpPr/>
          <p:nvPr/>
        </p:nvSpPr>
        <p:spPr>
          <a:xfrm>
            <a:off x="4818888" y="3255264"/>
            <a:ext cx="3977640" cy="36576"/>
          </a:xfrm>
          <a:prstGeom prst="rect">
            <a:avLst/>
          </a:prstGeom>
          <a:solidFill>
            <a:srgbClr val="0C7B93">
              <a:alpha val="30000"/>
            </a:srgbClr>
          </a:solidFill>
          <a:ln w="12700">
            <a:solidFill>
              <a:srgbClr val="0C7B93">
                <a:alpha val="30000"/>
              </a:srgbClr>
            </a:solidFill>
            <a:prstDash val="solid"/>
          </a:ln>
        </p:spPr>
      </p:sp>
      <p:sp>
        <p:nvSpPr>
          <p:cNvPr id="42" name="Text 40"/>
          <p:cNvSpPr/>
          <p:nvPr/>
        </p:nvSpPr>
        <p:spPr>
          <a:xfrm>
            <a:off x="4818888" y="3328416"/>
            <a:ext cx="3977640" cy="402336"/>
          </a:xfrm>
          <a:prstGeom prst="rect">
            <a:avLst/>
          </a:prstGeom>
          <a:noFill/>
          <a:ln/>
        </p:spPr>
        <p:txBody>
          <a:bodyPr wrap="square" rtlCol="0" anchor="ctr"/>
          <a:lstStyle/>
          <a:p>
            <a:pPr indent="0" marL="0">
              <a:buNone/>
            </a:pPr>
            <a:r>
              <a:rPr lang="en-US" sz="950" dirty="0">
                <a:solidFill>
                  <a:srgbClr val="0C7B93"/>
                </a:solidFill>
                <a:latin typeface="Calibri" pitchFamily="34" charset="0"/>
                <a:ea typeface="Calibri" pitchFamily="34" charset="-122"/>
                <a:cs typeface="Calibri" pitchFamily="34" charset="-120"/>
              </a:rPr>
              <a:t>A  POPIA requires SA personal information to remain under South African legal jurisdiction. af-south-1 (Cape Town) keeps data in SA — using EU or US regions creates cross-border transfer compliance obligations.</a:t>
            </a:r>
            <a:endParaRPr lang="en-US" sz="950" dirty="0"/>
          </a:p>
        </p:txBody>
      </p:sp>
      <p:sp>
        <p:nvSpPr>
          <p:cNvPr id="43" name="Text 41"/>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0A00"/>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5C00"/>
          </a:solidFill>
          <a:ln w="12700">
            <a:solidFill>
              <a:srgbClr val="B85C00"/>
            </a:solidFill>
            <a:prstDash val="solid"/>
          </a:ln>
        </p:spPr>
      </p:sp>
      <p:sp>
        <p:nvSpPr>
          <p:cNvPr id="3" name="Shape 1"/>
          <p:cNvSpPr/>
          <p:nvPr/>
        </p:nvSpPr>
        <p:spPr>
          <a:xfrm>
            <a:off x="73152" y="0"/>
            <a:ext cx="9070848" cy="36576"/>
          </a:xfrm>
          <a:prstGeom prst="rect">
            <a:avLst/>
          </a:prstGeom>
          <a:solidFill>
            <a:srgbClr val="B85C00"/>
          </a:solidFill>
          <a:ln w="12700">
            <a:solidFill>
              <a:srgbClr val="B85C00"/>
            </a:solidFill>
            <a:prstDash val="solid"/>
          </a:ln>
        </p:spPr>
      </p:sp>
      <p:sp>
        <p:nvSpPr>
          <p:cNvPr id="4" name="Shape 2"/>
          <p:cNvSpPr/>
          <p:nvPr/>
        </p:nvSpPr>
        <p:spPr>
          <a:xfrm>
            <a:off x="0" y="5106924"/>
            <a:ext cx="9144000" cy="36576"/>
          </a:xfrm>
          <a:prstGeom prst="rect">
            <a:avLst/>
          </a:prstGeom>
          <a:solidFill>
            <a:srgbClr val="D4AF37"/>
          </a:solidFill>
          <a:ln w="12700">
            <a:solidFill>
              <a:srgbClr val="D4AF37"/>
            </a:solidFill>
            <a:prstDash val="solid"/>
          </a:ln>
        </p:spPr>
      </p:sp>
      <p:sp>
        <p:nvSpPr>
          <p:cNvPr id="5" name="Text 3"/>
          <p:cNvSpPr/>
          <p:nvPr/>
        </p:nvSpPr>
        <p:spPr>
          <a:xfrm>
            <a:off x="274320" y="274320"/>
            <a:ext cx="2560320" cy="2011680"/>
          </a:xfrm>
          <a:prstGeom prst="rect">
            <a:avLst/>
          </a:prstGeom>
          <a:noFill/>
          <a:ln/>
        </p:spPr>
        <p:txBody>
          <a:bodyPr wrap="square" rtlCol="0" anchor="ctr"/>
          <a:lstStyle/>
          <a:p>
            <a:pPr indent="0" marL="0">
              <a:buNone/>
            </a:pPr>
            <a:r>
              <a:rPr lang="en-US" sz="14000" b="1" dirty="0">
                <a:solidFill>
                  <a:srgbClr val="B85C00">
                    <a:alpha val="25000"/>
                  </a:srgbClr>
                </a:solidFill>
                <a:latin typeface="Arial Black" pitchFamily="34" charset="0"/>
                <a:ea typeface="Arial Black" pitchFamily="34" charset="-122"/>
                <a:cs typeface="Arial Black" pitchFamily="34" charset="-120"/>
              </a:rPr>
              <a:t>04</a:t>
            </a:r>
            <a:endParaRPr lang="en-US" sz="14000" dirty="0"/>
          </a:p>
        </p:txBody>
      </p:sp>
      <p:sp>
        <p:nvSpPr>
          <p:cNvPr id="6" name="Text 4"/>
          <p:cNvSpPr/>
          <p:nvPr/>
        </p:nvSpPr>
        <p:spPr>
          <a:xfrm>
            <a:off x="2926080" y="822960"/>
            <a:ext cx="5943600" cy="347472"/>
          </a:xfrm>
          <a:prstGeom prst="rect">
            <a:avLst/>
          </a:prstGeom>
          <a:noFill/>
          <a:ln/>
        </p:spPr>
        <p:txBody>
          <a:bodyPr wrap="square" rtlCol="0" anchor="ctr"/>
          <a:lstStyle/>
          <a:p>
            <a:pPr indent="0" marL="0">
              <a:buNone/>
            </a:pPr>
            <a:r>
              <a:rPr lang="en-US" sz="1200" b="1" spc="300" kern="0" dirty="0">
                <a:solidFill>
                  <a:srgbClr val="B85C00"/>
                </a:solidFill>
                <a:latin typeface="Calibri" pitchFamily="34" charset="0"/>
                <a:ea typeface="Calibri" pitchFamily="34" charset="-122"/>
                <a:cs typeface="Calibri" pitchFamily="34" charset="-120"/>
              </a:rPr>
              <a:t>MODULE 4</a:t>
            </a:r>
            <a:endParaRPr lang="en-US" sz="1200" dirty="0"/>
          </a:p>
        </p:txBody>
      </p:sp>
      <p:sp>
        <p:nvSpPr>
          <p:cNvPr id="7" name="Text 5"/>
          <p:cNvSpPr/>
          <p:nvPr/>
        </p:nvSpPr>
        <p:spPr>
          <a:xfrm>
            <a:off x="2926080" y="1234440"/>
            <a:ext cx="5943600" cy="640080"/>
          </a:xfrm>
          <a:prstGeom prst="rect">
            <a:avLst/>
          </a:prstGeom>
          <a:noFill/>
          <a:ln/>
        </p:spPr>
        <p:txBody>
          <a:bodyPr wrap="square" rtlCol="0" anchor="ctr"/>
          <a:lstStyle/>
          <a:p>
            <a:pPr indent="0" marL="0">
              <a:buNone/>
            </a:pPr>
            <a:r>
              <a:rPr lang="en-US" sz="3400" b="1" dirty="0">
                <a:solidFill>
                  <a:srgbClr val="F0F4FF"/>
                </a:solidFill>
                <a:latin typeface="Calibri" pitchFamily="34" charset="0"/>
                <a:ea typeface="Calibri" pitchFamily="34" charset="-122"/>
                <a:cs typeface="Calibri" pitchFamily="34" charset="-120"/>
              </a:rPr>
              <a:t>Cloud Infrastructure</a:t>
            </a:r>
            <a:endParaRPr lang="en-US" sz="3400" dirty="0"/>
          </a:p>
        </p:txBody>
      </p:sp>
      <p:sp>
        <p:nvSpPr>
          <p:cNvPr id="8" name="Text 6"/>
          <p:cNvSpPr/>
          <p:nvPr/>
        </p:nvSpPr>
        <p:spPr>
          <a:xfrm>
            <a:off x="2926080" y="1901952"/>
            <a:ext cx="5943600" cy="438912"/>
          </a:xfrm>
          <a:prstGeom prst="rect">
            <a:avLst/>
          </a:prstGeom>
          <a:noFill/>
          <a:ln/>
        </p:spPr>
        <p:txBody>
          <a:bodyPr wrap="square" rtlCol="0" anchor="ctr"/>
          <a:lstStyle/>
          <a:p>
            <a:pPr indent="0" marL="0">
              <a:buNone/>
            </a:pPr>
            <a:r>
              <a:rPr lang="en-US" sz="1800" i="1" dirty="0">
                <a:solidFill>
                  <a:srgbClr val="B85C00"/>
                </a:solidFill>
                <a:latin typeface="Calibri" pitchFamily="34" charset="0"/>
                <a:ea typeface="Calibri" pitchFamily="34" charset="-122"/>
                <a:cs typeface="Calibri" pitchFamily="34" charset="-120"/>
              </a:rPr>
              <a:t>EC2 · S3 · RDS · IAM · Cost estimation</a:t>
            </a:r>
            <a:endParaRPr lang="en-US" sz="1800" dirty="0"/>
          </a:p>
        </p:txBody>
      </p:sp>
      <p:sp>
        <p:nvSpPr>
          <p:cNvPr id="9" name="Text 7"/>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Deck</a:t>
            </a:r>
            <a:endParaRPr lang="en-US" sz="900" dirty="0"/>
          </a:p>
        </p:txBody>
      </p:sp>
      <p:sp>
        <p:nvSpPr>
          <p:cNvPr id="10" name="Shape 8"/>
          <p:cNvSpPr/>
          <p:nvPr/>
        </p:nvSpPr>
        <p:spPr>
          <a:xfrm>
            <a:off x="2926080" y="2468880"/>
            <a:ext cx="54864" cy="274320"/>
          </a:xfrm>
          <a:prstGeom prst="rect">
            <a:avLst/>
          </a:prstGeom>
          <a:solidFill>
            <a:srgbClr val="B85C00"/>
          </a:solidFill>
          <a:ln w="12700">
            <a:solidFill>
              <a:srgbClr val="B85C00"/>
            </a:solidFill>
            <a:prstDash val="solid"/>
          </a:ln>
        </p:spPr>
      </p:sp>
      <p:sp>
        <p:nvSpPr>
          <p:cNvPr id="11" name="Text 9"/>
          <p:cNvSpPr/>
          <p:nvPr/>
        </p:nvSpPr>
        <p:spPr>
          <a:xfrm>
            <a:off x="3090672" y="246888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EC2 billing: per second (Linux) · t=burstable, m=general, c=compute, r=memory</a:t>
            </a:r>
            <a:endParaRPr lang="en-US" sz="1000" dirty="0"/>
          </a:p>
        </p:txBody>
      </p:sp>
      <p:sp>
        <p:nvSpPr>
          <p:cNvPr id="12" name="Shape 10"/>
          <p:cNvSpPr/>
          <p:nvPr/>
        </p:nvSpPr>
        <p:spPr>
          <a:xfrm>
            <a:off x="2926080" y="2816352"/>
            <a:ext cx="54864" cy="274320"/>
          </a:xfrm>
          <a:prstGeom prst="rect">
            <a:avLst/>
          </a:prstGeom>
          <a:solidFill>
            <a:srgbClr val="B85C00"/>
          </a:solidFill>
          <a:ln w="12700">
            <a:solidFill>
              <a:srgbClr val="B85C00"/>
            </a:solidFill>
            <a:prstDash val="solid"/>
          </a:ln>
        </p:spPr>
      </p:sp>
      <p:sp>
        <p:nvSpPr>
          <p:cNvPr id="13" name="Text 11"/>
          <p:cNvSpPr/>
          <p:nvPr/>
        </p:nvSpPr>
        <p:spPr>
          <a:xfrm>
            <a:off x="3090672" y="2816352"/>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S3: 11 nines durability · SSE-KMS for POPIA audit trail</a:t>
            </a:r>
            <a:endParaRPr lang="en-US" sz="1000" dirty="0"/>
          </a:p>
        </p:txBody>
      </p:sp>
      <p:sp>
        <p:nvSpPr>
          <p:cNvPr id="14" name="Shape 12"/>
          <p:cNvSpPr/>
          <p:nvPr/>
        </p:nvSpPr>
        <p:spPr>
          <a:xfrm>
            <a:off x="2926080" y="3163824"/>
            <a:ext cx="54864" cy="274320"/>
          </a:xfrm>
          <a:prstGeom prst="rect">
            <a:avLst/>
          </a:prstGeom>
          <a:solidFill>
            <a:srgbClr val="B85C00"/>
          </a:solidFill>
          <a:ln w="12700">
            <a:solidFill>
              <a:srgbClr val="B85C00"/>
            </a:solidFill>
            <a:prstDash val="solid"/>
          </a:ln>
        </p:spPr>
      </p:sp>
      <p:sp>
        <p:nvSpPr>
          <p:cNvPr id="15" name="Text 13"/>
          <p:cNvSpPr/>
          <p:nvPr/>
        </p:nvSpPr>
        <p:spPr>
          <a:xfrm>
            <a:off x="3090672" y="3163824"/>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RDS Multi-AZ: standby does NOT serve reads — failover only</a:t>
            </a:r>
            <a:endParaRPr lang="en-US" sz="1000" dirty="0"/>
          </a:p>
        </p:txBody>
      </p:sp>
      <p:sp>
        <p:nvSpPr>
          <p:cNvPr id="16" name="Shape 14"/>
          <p:cNvSpPr/>
          <p:nvPr/>
        </p:nvSpPr>
        <p:spPr>
          <a:xfrm>
            <a:off x="2926080" y="3511296"/>
            <a:ext cx="54864" cy="274320"/>
          </a:xfrm>
          <a:prstGeom prst="rect">
            <a:avLst/>
          </a:prstGeom>
          <a:solidFill>
            <a:srgbClr val="B85C00"/>
          </a:solidFill>
          <a:ln w="12700">
            <a:solidFill>
              <a:srgbClr val="B85C00"/>
            </a:solidFill>
            <a:prstDash val="solid"/>
          </a:ln>
        </p:spPr>
      </p:sp>
      <p:sp>
        <p:nvSpPr>
          <p:cNvPr id="17" name="Text 15"/>
          <p:cNvSpPr/>
          <p:nvPr/>
        </p:nvSpPr>
        <p:spPr>
          <a:xfrm>
            <a:off x="3090672" y="3511296"/>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RDS encryption MUST be enabled at creation — cannot add later</a:t>
            </a:r>
            <a:endParaRPr lang="en-US" sz="1000" dirty="0"/>
          </a:p>
        </p:txBody>
      </p:sp>
      <p:sp>
        <p:nvSpPr>
          <p:cNvPr id="18" name="Shape 16"/>
          <p:cNvSpPr/>
          <p:nvPr/>
        </p:nvSpPr>
        <p:spPr>
          <a:xfrm>
            <a:off x="2926080" y="3858768"/>
            <a:ext cx="54864" cy="274320"/>
          </a:xfrm>
          <a:prstGeom prst="rect">
            <a:avLst/>
          </a:prstGeom>
          <a:solidFill>
            <a:srgbClr val="B85C00"/>
          </a:solidFill>
          <a:ln w="12700">
            <a:solidFill>
              <a:srgbClr val="B85C00"/>
            </a:solidFill>
            <a:prstDash val="solid"/>
          </a:ln>
        </p:spPr>
      </p:sp>
      <p:sp>
        <p:nvSpPr>
          <p:cNvPr id="19" name="Text 17"/>
          <p:cNvSpPr/>
          <p:nvPr/>
        </p:nvSpPr>
        <p:spPr>
          <a:xfrm>
            <a:off x="3090672" y="3858768"/>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IAM: Explicit Deny always wins · no access keys on EC2 — use roles</a:t>
            </a:r>
            <a:endParaRPr lang="en-US" sz="1000" dirty="0"/>
          </a:p>
        </p:txBody>
      </p:sp>
      <p:sp>
        <p:nvSpPr>
          <p:cNvPr id="20" name="Shape 18"/>
          <p:cNvSpPr/>
          <p:nvPr/>
        </p:nvSpPr>
        <p:spPr>
          <a:xfrm>
            <a:off x="2926080" y="4206240"/>
            <a:ext cx="54864" cy="274320"/>
          </a:xfrm>
          <a:prstGeom prst="rect">
            <a:avLst/>
          </a:prstGeom>
          <a:solidFill>
            <a:srgbClr val="B85C00"/>
          </a:solidFill>
          <a:ln w="12700">
            <a:solidFill>
              <a:srgbClr val="B85C00"/>
            </a:solidFill>
            <a:prstDash val="solid"/>
          </a:ln>
        </p:spPr>
      </p:sp>
      <p:sp>
        <p:nvSpPr>
          <p:cNvPr id="21" name="Text 19"/>
          <p:cNvSpPr/>
          <p:nvPr/>
        </p:nvSpPr>
        <p:spPr>
          <a:xfrm>
            <a:off x="3090672" y="420624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Reserved Instances: up to 72% cheaper with 1-year commitment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0A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C00"/>
          </a:solidFill>
          <a:ln w="12700">
            <a:solidFill>
              <a:srgbClr val="B85C00"/>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B85C00">
              <a:alpha val="80000"/>
            </a:srgbClr>
          </a:solidFill>
          <a:ln w="12700">
            <a:solidFill>
              <a:srgbClr val="B85C00"/>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4</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EC2 · S3 · RDS · IAM — Key Facts</a:t>
            </a:r>
            <a:endParaRPr lang="en-US" sz="1600" dirty="0"/>
          </a:p>
        </p:txBody>
      </p:sp>
      <p:sp>
        <p:nvSpPr>
          <p:cNvPr id="7" name="Shape 5"/>
          <p:cNvSpPr/>
          <p:nvPr/>
        </p:nvSpPr>
        <p:spPr>
          <a:xfrm>
            <a:off x="256032" y="502920"/>
            <a:ext cx="2011680" cy="1188720"/>
          </a:xfrm>
          <a:prstGeom prst="rect">
            <a:avLst/>
          </a:prstGeom>
          <a:solidFill>
            <a:srgbClr val="B85C00">
              <a:alpha val="18000"/>
            </a:srgbClr>
          </a:solidFill>
          <a:ln w="12700">
            <a:solidFill>
              <a:srgbClr val="B85C00">
                <a:alpha val="50000"/>
              </a:srgbClr>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256032" y="539496"/>
            <a:ext cx="2011680" cy="618134"/>
          </a:xfrm>
          <a:prstGeom prst="rect">
            <a:avLst/>
          </a:prstGeom>
          <a:noFill/>
          <a:ln/>
        </p:spPr>
        <p:txBody>
          <a:bodyPr wrap="square" rtlCol="0" anchor="b"/>
          <a:lstStyle/>
          <a:p>
            <a:pPr algn="ctr" indent="0" marL="0">
              <a:buNone/>
            </a:pPr>
            <a:r>
              <a:rPr lang="en-US" sz="2800" b="1" dirty="0">
                <a:solidFill>
                  <a:srgbClr val="B85C00"/>
                </a:solidFill>
                <a:latin typeface="Arial Black" pitchFamily="34" charset="0"/>
                <a:ea typeface="Arial Black" pitchFamily="34" charset="-122"/>
                <a:cs typeface="Arial Black" pitchFamily="34" charset="-120"/>
              </a:rPr>
              <a:t>11 nines</a:t>
            </a:r>
            <a:endParaRPr lang="en-US" sz="2800" dirty="0"/>
          </a:p>
        </p:txBody>
      </p:sp>
      <p:sp>
        <p:nvSpPr>
          <p:cNvPr id="9" name="Text 7"/>
          <p:cNvSpPr/>
          <p:nvPr/>
        </p:nvSpPr>
        <p:spPr>
          <a:xfrm>
            <a:off x="329184" y="1144829"/>
            <a:ext cx="1865376" cy="285293"/>
          </a:xfrm>
          <a:prstGeom prst="rect">
            <a:avLst/>
          </a:prstGeom>
          <a:noFill/>
          <a:ln/>
        </p:spPr>
        <p:txBody>
          <a:bodyPr wrap="square" rtlCol="0" anchor="ctr"/>
          <a:lstStyle/>
          <a:p>
            <a:pPr algn="ctr" indent="0" marL="0">
              <a:buNone/>
            </a:pPr>
            <a:r>
              <a:rPr lang="en-US" sz="950" b="1" dirty="0">
                <a:solidFill>
                  <a:srgbClr val="F0F4FF"/>
                </a:solidFill>
                <a:latin typeface="Calibri" pitchFamily="34" charset="0"/>
                <a:ea typeface="Calibri" pitchFamily="34" charset="-122"/>
                <a:cs typeface="Calibri" pitchFamily="34" charset="-120"/>
              </a:rPr>
              <a:t>S3 Durability</a:t>
            </a:r>
            <a:endParaRPr lang="en-US" sz="950" dirty="0"/>
          </a:p>
        </p:txBody>
      </p:sp>
      <p:sp>
        <p:nvSpPr>
          <p:cNvPr id="10" name="Text 8"/>
          <p:cNvSpPr/>
          <p:nvPr/>
        </p:nvSpPr>
        <p:spPr>
          <a:xfrm>
            <a:off x="329184" y="1406347"/>
            <a:ext cx="1865376" cy="261518"/>
          </a:xfrm>
          <a:prstGeom prst="rect">
            <a:avLst/>
          </a:prstGeom>
          <a:noFill/>
          <a:ln/>
        </p:spPr>
        <p:txBody>
          <a:bodyPr wrap="square" rtlCol="0" anchor="ctr"/>
          <a:lstStyle/>
          <a:p>
            <a:pPr algn="ctr" indent="0" marL="0">
              <a:buNone/>
            </a:pPr>
            <a:r>
              <a:rPr lang="en-US" sz="800" dirty="0">
                <a:solidFill>
                  <a:srgbClr val="6A7A8A"/>
                </a:solidFill>
                <a:latin typeface="Calibri" pitchFamily="34" charset="0"/>
                <a:ea typeface="Calibri" pitchFamily="34" charset="-122"/>
                <a:cs typeface="Calibri" pitchFamily="34" charset="-120"/>
              </a:rPr>
              <a:t>99.999999999%</a:t>
            </a:r>
            <a:endParaRPr lang="en-US" sz="800" dirty="0"/>
          </a:p>
        </p:txBody>
      </p:sp>
      <p:sp>
        <p:nvSpPr>
          <p:cNvPr id="11" name="Shape 9"/>
          <p:cNvSpPr/>
          <p:nvPr/>
        </p:nvSpPr>
        <p:spPr>
          <a:xfrm>
            <a:off x="2423160" y="502920"/>
            <a:ext cx="2011680" cy="1188720"/>
          </a:xfrm>
          <a:prstGeom prst="rect">
            <a:avLst/>
          </a:prstGeom>
          <a:solidFill>
            <a:srgbClr val="00FF88">
              <a:alpha val="18000"/>
            </a:srgbClr>
          </a:solidFill>
          <a:ln w="12700">
            <a:solidFill>
              <a:srgbClr val="00FF88">
                <a:alpha val="50000"/>
              </a:srgbClr>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2423160" y="539496"/>
            <a:ext cx="2011680" cy="618134"/>
          </a:xfrm>
          <a:prstGeom prst="rect">
            <a:avLst/>
          </a:prstGeom>
          <a:noFill/>
          <a:ln/>
        </p:spPr>
        <p:txBody>
          <a:bodyPr wrap="square" rtlCol="0" anchor="b"/>
          <a:lstStyle/>
          <a:p>
            <a:pPr algn="ctr" indent="0" marL="0">
              <a:buNone/>
            </a:pPr>
            <a:r>
              <a:rPr lang="en-US" sz="2800" b="1" dirty="0">
                <a:solidFill>
                  <a:srgbClr val="00FF88"/>
                </a:solidFill>
                <a:latin typeface="Arial Black" pitchFamily="34" charset="0"/>
                <a:ea typeface="Arial Black" pitchFamily="34" charset="-122"/>
                <a:cs typeface="Arial Black" pitchFamily="34" charset="-120"/>
              </a:rPr>
              <a:t>Up to 72%</a:t>
            </a:r>
            <a:endParaRPr lang="en-US" sz="2800" dirty="0"/>
          </a:p>
        </p:txBody>
      </p:sp>
      <p:sp>
        <p:nvSpPr>
          <p:cNvPr id="13" name="Text 11"/>
          <p:cNvSpPr/>
          <p:nvPr/>
        </p:nvSpPr>
        <p:spPr>
          <a:xfrm>
            <a:off x="2496312" y="1144829"/>
            <a:ext cx="1865376" cy="285293"/>
          </a:xfrm>
          <a:prstGeom prst="rect">
            <a:avLst/>
          </a:prstGeom>
          <a:noFill/>
          <a:ln/>
        </p:spPr>
        <p:txBody>
          <a:bodyPr wrap="square" rtlCol="0" anchor="ctr"/>
          <a:lstStyle/>
          <a:p>
            <a:pPr algn="ctr" indent="0" marL="0">
              <a:buNone/>
            </a:pPr>
            <a:r>
              <a:rPr lang="en-US" sz="950" b="1" dirty="0">
                <a:solidFill>
                  <a:srgbClr val="F0F4FF"/>
                </a:solidFill>
                <a:latin typeface="Calibri" pitchFamily="34" charset="0"/>
                <a:ea typeface="Calibri" pitchFamily="34" charset="-122"/>
                <a:cs typeface="Calibri" pitchFamily="34" charset="-120"/>
              </a:rPr>
              <a:t>Reserved</a:t>
            </a:r>
            <a:endParaRPr lang="en-US" sz="950" dirty="0"/>
          </a:p>
          <a:p>
            <a:pPr algn="ctr" indent="0" marL="0">
              <a:buNone/>
            </a:pPr>
            <a:r>
              <a:rPr lang="en-US" sz="950" b="1" dirty="0">
                <a:solidFill>
                  <a:srgbClr val="F0F4FF"/>
                </a:solidFill>
                <a:latin typeface="Calibri" pitchFamily="34" charset="0"/>
                <a:ea typeface="Calibri" pitchFamily="34" charset="-122"/>
                <a:cs typeface="Calibri" pitchFamily="34" charset="-120"/>
              </a:rPr>
              <a:t>Savings</a:t>
            </a:r>
            <a:endParaRPr lang="en-US" sz="950" dirty="0"/>
          </a:p>
        </p:txBody>
      </p:sp>
      <p:sp>
        <p:nvSpPr>
          <p:cNvPr id="14" name="Text 12"/>
          <p:cNvSpPr/>
          <p:nvPr/>
        </p:nvSpPr>
        <p:spPr>
          <a:xfrm>
            <a:off x="2496312" y="1406347"/>
            <a:ext cx="1865376" cy="261518"/>
          </a:xfrm>
          <a:prstGeom prst="rect">
            <a:avLst/>
          </a:prstGeom>
          <a:noFill/>
          <a:ln/>
        </p:spPr>
        <p:txBody>
          <a:bodyPr wrap="square" rtlCol="0" anchor="ctr"/>
          <a:lstStyle/>
          <a:p>
            <a:pPr algn="ctr" indent="0" marL="0">
              <a:buNone/>
            </a:pPr>
            <a:r>
              <a:rPr lang="en-US" sz="800" dirty="0">
                <a:solidFill>
                  <a:srgbClr val="6A7A8A"/>
                </a:solidFill>
                <a:latin typeface="Calibri" pitchFamily="34" charset="0"/>
                <a:ea typeface="Calibri" pitchFamily="34" charset="-122"/>
                <a:cs typeface="Calibri" pitchFamily="34" charset="-120"/>
              </a:rPr>
              <a:t>1-year commitment</a:t>
            </a:r>
            <a:endParaRPr lang="en-US" sz="800" dirty="0"/>
          </a:p>
        </p:txBody>
      </p:sp>
      <p:sp>
        <p:nvSpPr>
          <p:cNvPr id="15" name="Shape 13"/>
          <p:cNvSpPr/>
          <p:nvPr/>
        </p:nvSpPr>
        <p:spPr>
          <a:xfrm>
            <a:off x="4590288" y="502920"/>
            <a:ext cx="2011680" cy="1188720"/>
          </a:xfrm>
          <a:prstGeom prst="rect">
            <a:avLst/>
          </a:prstGeom>
          <a:solidFill>
            <a:srgbClr val="00D4FF">
              <a:alpha val="18000"/>
            </a:srgbClr>
          </a:solidFill>
          <a:ln w="12700">
            <a:solidFill>
              <a:srgbClr val="00D4FF">
                <a:alpha val="50000"/>
              </a:srgbClr>
            </a:solidFill>
            <a:prstDash val="solid"/>
          </a:ln>
          <a:effectLst>
            <a:outerShdw sx="100000" sy="100000" kx="0" ky="0" algn="bl" rotWithShape="0" blurRad="101600" dist="38100" dir="8100000">
              <a:srgbClr val="000000">
                <a:alpha val="18000"/>
              </a:srgbClr>
            </a:outerShdw>
          </a:effectLst>
        </p:spPr>
      </p:sp>
      <p:sp>
        <p:nvSpPr>
          <p:cNvPr id="16" name="Text 14"/>
          <p:cNvSpPr/>
          <p:nvPr/>
        </p:nvSpPr>
        <p:spPr>
          <a:xfrm>
            <a:off x="4590288" y="539496"/>
            <a:ext cx="2011680" cy="618134"/>
          </a:xfrm>
          <a:prstGeom prst="rect">
            <a:avLst/>
          </a:prstGeom>
          <a:noFill/>
          <a:ln/>
        </p:spPr>
        <p:txBody>
          <a:bodyPr wrap="square" rtlCol="0" anchor="b"/>
          <a:lstStyle/>
          <a:p>
            <a:pPr algn="ctr" indent="0" marL="0">
              <a:buNone/>
            </a:pPr>
            <a:r>
              <a:rPr lang="en-US" sz="2800" b="1" dirty="0">
                <a:solidFill>
                  <a:srgbClr val="00D4FF"/>
                </a:solidFill>
                <a:latin typeface="Arial Black" pitchFamily="34" charset="0"/>
                <a:ea typeface="Arial Black" pitchFamily="34" charset="-122"/>
                <a:cs typeface="Arial Black" pitchFamily="34" charset="-120"/>
              </a:rPr>
              <a:t>60–120s</a:t>
            </a:r>
            <a:endParaRPr lang="en-US" sz="2800" dirty="0"/>
          </a:p>
        </p:txBody>
      </p:sp>
      <p:sp>
        <p:nvSpPr>
          <p:cNvPr id="17" name="Text 15"/>
          <p:cNvSpPr/>
          <p:nvPr/>
        </p:nvSpPr>
        <p:spPr>
          <a:xfrm>
            <a:off x="4663440" y="1144829"/>
            <a:ext cx="1865376" cy="285293"/>
          </a:xfrm>
          <a:prstGeom prst="rect">
            <a:avLst/>
          </a:prstGeom>
          <a:noFill/>
          <a:ln/>
        </p:spPr>
        <p:txBody>
          <a:bodyPr wrap="square" rtlCol="0" anchor="ctr"/>
          <a:lstStyle/>
          <a:p>
            <a:pPr algn="ctr" indent="0" marL="0">
              <a:buNone/>
            </a:pPr>
            <a:r>
              <a:rPr lang="en-US" sz="950" b="1" dirty="0">
                <a:solidFill>
                  <a:srgbClr val="F0F4FF"/>
                </a:solidFill>
                <a:latin typeface="Calibri" pitchFamily="34" charset="0"/>
                <a:ea typeface="Calibri" pitchFamily="34" charset="-122"/>
                <a:cs typeface="Calibri" pitchFamily="34" charset="-120"/>
              </a:rPr>
              <a:t>RDS Failover</a:t>
            </a:r>
            <a:endParaRPr lang="en-US" sz="950" dirty="0"/>
          </a:p>
        </p:txBody>
      </p:sp>
      <p:sp>
        <p:nvSpPr>
          <p:cNvPr id="18" name="Text 16"/>
          <p:cNvSpPr/>
          <p:nvPr/>
        </p:nvSpPr>
        <p:spPr>
          <a:xfrm>
            <a:off x="4663440" y="1406347"/>
            <a:ext cx="1865376" cy="261518"/>
          </a:xfrm>
          <a:prstGeom prst="rect">
            <a:avLst/>
          </a:prstGeom>
          <a:noFill/>
          <a:ln/>
        </p:spPr>
        <p:txBody>
          <a:bodyPr wrap="square" rtlCol="0" anchor="ctr"/>
          <a:lstStyle/>
          <a:p>
            <a:pPr algn="ctr" indent="0" marL="0">
              <a:buNone/>
            </a:pPr>
            <a:r>
              <a:rPr lang="en-US" sz="800" dirty="0">
                <a:solidFill>
                  <a:srgbClr val="6A7A8A"/>
                </a:solidFill>
                <a:latin typeface="Calibri" pitchFamily="34" charset="0"/>
                <a:ea typeface="Calibri" pitchFamily="34" charset="-122"/>
                <a:cs typeface="Calibri" pitchFamily="34" charset="-120"/>
              </a:rPr>
              <a:t>Multi-AZ automatic</a:t>
            </a:r>
            <a:endParaRPr lang="en-US" sz="800" dirty="0"/>
          </a:p>
        </p:txBody>
      </p:sp>
      <p:sp>
        <p:nvSpPr>
          <p:cNvPr id="19" name="Shape 17"/>
          <p:cNvSpPr/>
          <p:nvPr/>
        </p:nvSpPr>
        <p:spPr>
          <a:xfrm>
            <a:off x="6757416" y="502920"/>
            <a:ext cx="2011680" cy="1188720"/>
          </a:xfrm>
          <a:prstGeom prst="rect">
            <a:avLst/>
          </a:prstGeom>
          <a:solidFill>
            <a:srgbClr val="FF6B6B">
              <a:alpha val="18000"/>
            </a:srgbClr>
          </a:solidFill>
          <a:ln w="12700">
            <a:solidFill>
              <a:srgbClr val="FF6B6B">
                <a:alpha val="50000"/>
              </a:srgbClr>
            </a:solidFill>
            <a:prstDash val="solid"/>
          </a:ln>
          <a:effectLst>
            <a:outerShdw sx="100000" sy="100000" kx="0" ky="0" algn="bl" rotWithShape="0" blurRad="101600" dist="38100" dir="8100000">
              <a:srgbClr val="000000">
                <a:alpha val="18000"/>
              </a:srgbClr>
            </a:outerShdw>
          </a:effectLst>
        </p:spPr>
      </p:sp>
      <p:sp>
        <p:nvSpPr>
          <p:cNvPr id="20" name="Text 18"/>
          <p:cNvSpPr/>
          <p:nvPr/>
        </p:nvSpPr>
        <p:spPr>
          <a:xfrm>
            <a:off x="6757416" y="539496"/>
            <a:ext cx="2011680" cy="618134"/>
          </a:xfrm>
          <a:prstGeom prst="rect">
            <a:avLst/>
          </a:prstGeom>
          <a:noFill/>
          <a:ln/>
        </p:spPr>
        <p:txBody>
          <a:bodyPr wrap="square" rtlCol="0" anchor="b"/>
          <a:lstStyle/>
          <a:p>
            <a:pPr algn="ctr" indent="0" marL="0">
              <a:buNone/>
            </a:pPr>
            <a:r>
              <a:rPr lang="en-US" sz="2800" b="1" dirty="0">
                <a:solidFill>
                  <a:srgbClr val="FF6B6B"/>
                </a:solidFill>
                <a:latin typeface="Arial Black" pitchFamily="34" charset="0"/>
                <a:ea typeface="Arial Black" pitchFamily="34" charset="-122"/>
                <a:cs typeface="Arial Black" pitchFamily="34" charset="-120"/>
              </a:rPr>
              <a:t>Always</a:t>
            </a:r>
            <a:endParaRPr lang="en-US" sz="2800" dirty="0"/>
          </a:p>
          <a:p>
            <a:pPr algn="ctr" indent="0" marL="0">
              <a:buNone/>
            </a:pPr>
            <a:r>
              <a:rPr lang="en-US" sz="2800" b="1" dirty="0">
                <a:solidFill>
                  <a:srgbClr val="FF6B6B"/>
                </a:solidFill>
                <a:latin typeface="Arial Black" pitchFamily="34" charset="0"/>
                <a:ea typeface="Arial Black" pitchFamily="34" charset="-122"/>
                <a:cs typeface="Arial Black" pitchFamily="34" charset="-120"/>
              </a:rPr>
              <a:t>Wins</a:t>
            </a:r>
            <a:endParaRPr lang="en-US" sz="2800" dirty="0"/>
          </a:p>
        </p:txBody>
      </p:sp>
      <p:sp>
        <p:nvSpPr>
          <p:cNvPr id="21" name="Text 19"/>
          <p:cNvSpPr/>
          <p:nvPr/>
        </p:nvSpPr>
        <p:spPr>
          <a:xfrm>
            <a:off x="6830568" y="1144829"/>
            <a:ext cx="1865376" cy="285293"/>
          </a:xfrm>
          <a:prstGeom prst="rect">
            <a:avLst/>
          </a:prstGeom>
          <a:noFill/>
          <a:ln/>
        </p:spPr>
        <p:txBody>
          <a:bodyPr wrap="square" rtlCol="0" anchor="ctr"/>
          <a:lstStyle/>
          <a:p>
            <a:pPr algn="ctr" indent="0" marL="0">
              <a:buNone/>
            </a:pPr>
            <a:r>
              <a:rPr lang="en-US" sz="950" b="1" dirty="0">
                <a:solidFill>
                  <a:srgbClr val="F0F4FF"/>
                </a:solidFill>
                <a:latin typeface="Calibri" pitchFamily="34" charset="0"/>
                <a:ea typeface="Calibri" pitchFamily="34" charset="-122"/>
                <a:cs typeface="Calibri" pitchFamily="34" charset="-120"/>
              </a:rPr>
              <a:t>IAM Deny</a:t>
            </a:r>
            <a:endParaRPr lang="en-US" sz="950" dirty="0"/>
          </a:p>
        </p:txBody>
      </p:sp>
      <p:sp>
        <p:nvSpPr>
          <p:cNvPr id="22" name="Text 20"/>
          <p:cNvSpPr/>
          <p:nvPr/>
        </p:nvSpPr>
        <p:spPr>
          <a:xfrm>
            <a:off x="6830568" y="1406347"/>
            <a:ext cx="1865376" cy="261518"/>
          </a:xfrm>
          <a:prstGeom prst="rect">
            <a:avLst/>
          </a:prstGeom>
          <a:noFill/>
          <a:ln/>
        </p:spPr>
        <p:txBody>
          <a:bodyPr wrap="square" rtlCol="0" anchor="ctr"/>
          <a:lstStyle/>
          <a:p>
            <a:pPr algn="ctr" indent="0" marL="0">
              <a:buNone/>
            </a:pPr>
            <a:r>
              <a:rPr lang="en-US" sz="800" dirty="0">
                <a:solidFill>
                  <a:srgbClr val="6A7A8A"/>
                </a:solidFill>
                <a:latin typeface="Calibri" pitchFamily="34" charset="0"/>
                <a:ea typeface="Calibri" pitchFamily="34" charset="-122"/>
                <a:cs typeface="Calibri" pitchFamily="34" charset="-120"/>
              </a:rPr>
              <a:t>Explicit Deny &gt; Allow</a:t>
            </a:r>
            <a:endParaRPr lang="en-US" sz="800" dirty="0"/>
          </a:p>
        </p:txBody>
      </p:sp>
      <p:sp>
        <p:nvSpPr>
          <p:cNvPr id="23" name="Text 21"/>
          <p:cNvSpPr/>
          <p:nvPr/>
        </p:nvSpPr>
        <p:spPr>
          <a:xfrm>
            <a:off x="256032" y="1847088"/>
            <a:ext cx="8650224" cy="274320"/>
          </a:xfrm>
          <a:prstGeom prst="rect">
            <a:avLst/>
          </a:prstGeom>
          <a:noFill/>
          <a:ln/>
        </p:spPr>
        <p:txBody>
          <a:bodyPr wrap="square" rtlCol="0" anchor="ctr"/>
          <a:lstStyle/>
          <a:p>
            <a:pPr indent="0" marL="0">
              <a:buNone/>
            </a:pPr>
            <a:r>
              <a:rPr lang="en-US" sz="1200" b="1" dirty="0">
                <a:solidFill>
                  <a:srgbClr val="F0F4FF"/>
                </a:solidFill>
                <a:latin typeface="Calibri" pitchFamily="34" charset="0"/>
                <a:ea typeface="Calibri" pitchFamily="34" charset="-122"/>
                <a:cs typeface="Calibri" pitchFamily="34" charset="-120"/>
              </a:rPr>
              <a:t>IAM Components</a:t>
            </a:r>
            <a:endParaRPr lang="en-US" sz="1200" dirty="0"/>
          </a:p>
        </p:txBody>
      </p:sp>
      <p:sp>
        <p:nvSpPr>
          <p:cNvPr id="24" name="Shape 22"/>
          <p:cNvSpPr/>
          <p:nvPr/>
        </p:nvSpPr>
        <p:spPr>
          <a:xfrm>
            <a:off x="256032" y="2157984"/>
            <a:ext cx="1591056" cy="1298448"/>
          </a:xfrm>
          <a:prstGeom prst="rect">
            <a:avLst/>
          </a:prstGeom>
          <a:solidFill>
            <a:srgbClr val="1A0A00"/>
          </a:solidFill>
          <a:ln w="12700">
            <a:solidFill>
              <a:srgbClr val="FF6B6B">
                <a:alpha val="60000"/>
              </a:srgbClr>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256032" y="2157984"/>
            <a:ext cx="1591056" cy="347472"/>
          </a:xfrm>
          <a:prstGeom prst="rect">
            <a:avLst/>
          </a:prstGeom>
          <a:solidFill>
            <a:srgbClr val="FF6B6B">
              <a:alpha val="80000"/>
            </a:srgbClr>
          </a:solidFill>
          <a:ln w="12700">
            <a:solidFill>
              <a:srgbClr val="FF6B6B"/>
            </a:solidFill>
            <a:prstDash val="solid"/>
          </a:ln>
        </p:spPr>
      </p:sp>
      <p:sp>
        <p:nvSpPr>
          <p:cNvPr id="26" name="Text 24"/>
          <p:cNvSpPr/>
          <p:nvPr/>
        </p:nvSpPr>
        <p:spPr>
          <a:xfrm>
            <a:off x="329184" y="2176272"/>
            <a:ext cx="1444752" cy="310896"/>
          </a:xfrm>
          <a:prstGeom prst="rect">
            <a:avLst/>
          </a:prstGeom>
          <a:noFill/>
          <a:ln/>
        </p:spPr>
        <p:txBody>
          <a:bodyPr wrap="square" rtlCol="0" anchor="ctr"/>
          <a:lstStyle/>
          <a:p>
            <a:pPr algn="ctr" indent="0" marL="0">
              <a:buNone/>
            </a:pPr>
            <a:r>
              <a:rPr lang="en-US" sz="950" b="1" dirty="0">
                <a:solidFill>
                  <a:srgbClr val="060608"/>
                </a:solidFill>
                <a:latin typeface="Calibri" pitchFamily="34" charset="0"/>
                <a:ea typeface="Calibri" pitchFamily="34" charset="-122"/>
                <a:cs typeface="Calibri" pitchFamily="34" charset="-120"/>
              </a:rPr>
              <a:t>Root Account</a:t>
            </a:r>
            <a:endParaRPr lang="en-US" sz="950" dirty="0"/>
          </a:p>
        </p:txBody>
      </p:sp>
      <p:sp>
        <p:nvSpPr>
          <p:cNvPr id="27" name="Text 25"/>
          <p:cNvSpPr/>
          <p:nvPr/>
        </p:nvSpPr>
        <p:spPr>
          <a:xfrm>
            <a:off x="347472" y="2542032"/>
            <a:ext cx="1408176" cy="85953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NEVER daily use</a:t>
            </a:r>
            <a:endParaRPr lang="en-US" sz="850" dirty="0"/>
          </a:p>
          <a:p>
            <a:pPr indent="0" marL="0">
              <a:buNone/>
            </a:pPr>
            <a:r>
              <a:rPr lang="en-US" sz="850" dirty="0">
                <a:solidFill>
                  <a:srgbClr val="6A7A8A"/>
                </a:solidFill>
                <a:latin typeface="Calibri" pitchFamily="34" charset="0"/>
                <a:ea typeface="Calibri" pitchFamily="34" charset="-122"/>
                <a:cs typeface="Calibri" pitchFamily="34" charset="-120"/>
              </a:rPr>
              <a:t>Enable MFA now</a:t>
            </a:r>
            <a:endParaRPr lang="en-US" sz="850" dirty="0"/>
          </a:p>
          <a:p>
            <a:pPr indent="0" marL="0">
              <a:buNone/>
            </a:pPr>
            <a:r>
              <a:rPr lang="en-US" sz="850" dirty="0">
                <a:solidFill>
                  <a:srgbClr val="6A7A8A"/>
                </a:solidFill>
                <a:latin typeface="Calibri" pitchFamily="34" charset="0"/>
                <a:ea typeface="Calibri" pitchFamily="34" charset="-122"/>
                <a:cs typeface="Calibri" pitchFamily="34" charset="-120"/>
              </a:rPr>
              <a:t>No access keys ever</a:t>
            </a:r>
            <a:endParaRPr lang="en-US" sz="850" dirty="0"/>
          </a:p>
        </p:txBody>
      </p:sp>
      <p:sp>
        <p:nvSpPr>
          <p:cNvPr id="28" name="Shape 26"/>
          <p:cNvSpPr/>
          <p:nvPr/>
        </p:nvSpPr>
        <p:spPr>
          <a:xfrm>
            <a:off x="1993392" y="2157984"/>
            <a:ext cx="1591056" cy="1298448"/>
          </a:xfrm>
          <a:prstGeom prst="rect">
            <a:avLst/>
          </a:prstGeom>
          <a:solidFill>
            <a:srgbClr val="1A0A00"/>
          </a:solidFill>
          <a:ln w="12700">
            <a:solidFill>
              <a:srgbClr val="00D4FF">
                <a:alpha val="60000"/>
              </a:srgbClr>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1993392" y="2157984"/>
            <a:ext cx="1591056" cy="347472"/>
          </a:xfrm>
          <a:prstGeom prst="rect">
            <a:avLst/>
          </a:prstGeom>
          <a:solidFill>
            <a:srgbClr val="00D4FF">
              <a:alpha val="80000"/>
            </a:srgbClr>
          </a:solidFill>
          <a:ln w="12700">
            <a:solidFill>
              <a:srgbClr val="00D4FF"/>
            </a:solidFill>
            <a:prstDash val="solid"/>
          </a:ln>
        </p:spPr>
      </p:sp>
      <p:sp>
        <p:nvSpPr>
          <p:cNvPr id="30" name="Text 28"/>
          <p:cNvSpPr/>
          <p:nvPr/>
        </p:nvSpPr>
        <p:spPr>
          <a:xfrm>
            <a:off x="2066544" y="2176272"/>
            <a:ext cx="1444752" cy="310896"/>
          </a:xfrm>
          <a:prstGeom prst="rect">
            <a:avLst/>
          </a:prstGeom>
          <a:noFill/>
          <a:ln/>
        </p:spPr>
        <p:txBody>
          <a:bodyPr wrap="square" rtlCol="0" anchor="ctr"/>
          <a:lstStyle/>
          <a:p>
            <a:pPr algn="ctr" indent="0" marL="0">
              <a:buNone/>
            </a:pPr>
            <a:r>
              <a:rPr lang="en-US" sz="950" b="1" dirty="0">
                <a:solidFill>
                  <a:srgbClr val="060608"/>
                </a:solidFill>
                <a:latin typeface="Calibri" pitchFamily="34" charset="0"/>
                <a:ea typeface="Calibri" pitchFamily="34" charset="-122"/>
                <a:cs typeface="Calibri" pitchFamily="34" charset="-120"/>
              </a:rPr>
              <a:t>IAM User</a:t>
            </a:r>
            <a:endParaRPr lang="en-US" sz="950" dirty="0"/>
          </a:p>
        </p:txBody>
      </p:sp>
      <p:sp>
        <p:nvSpPr>
          <p:cNvPr id="31" name="Text 29"/>
          <p:cNvSpPr/>
          <p:nvPr/>
        </p:nvSpPr>
        <p:spPr>
          <a:xfrm>
            <a:off x="2084832" y="2542032"/>
            <a:ext cx="1408176" cy="85953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Named identity</a:t>
            </a:r>
            <a:endParaRPr lang="en-US" sz="850" dirty="0"/>
          </a:p>
          <a:p>
            <a:pPr indent="0" marL="0">
              <a:buNone/>
            </a:pPr>
            <a:r>
              <a:rPr lang="en-US" sz="850" dirty="0">
                <a:solidFill>
                  <a:srgbClr val="6A7A8A"/>
                </a:solidFill>
                <a:latin typeface="Calibri" pitchFamily="34" charset="0"/>
                <a:ea typeface="Calibri" pitchFamily="34" charset="-122"/>
                <a:cs typeface="Calibri" pitchFamily="34" charset="-120"/>
              </a:rPr>
              <a:t>Long-term creds</a:t>
            </a:r>
            <a:endParaRPr lang="en-US" sz="850" dirty="0"/>
          </a:p>
          <a:p>
            <a:pPr indent="0" marL="0">
              <a:buNone/>
            </a:pPr>
            <a:r>
              <a:rPr lang="en-US" sz="850" dirty="0">
                <a:solidFill>
                  <a:srgbClr val="6A7A8A"/>
                </a:solidFill>
                <a:latin typeface="Calibri" pitchFamily="34" charset="0"/>
                <a:ea typeface="Calibri" pitchFamily="34" charset="-122"/>
                <a:cs typeface="Calibri" pitchFamily="34" charset="-120"/>
              </a:rPr>
              <a:t>1 per human</a:t>
            </a:r>
            <a:endParaRPr lang="en-US" sz="850" dirty="0"/>
          </a:p>
        </p:txBody>
      </p:sp>
      <p:sp>
        <p:nvSpPr>
          <p:cNvPr id="32" name="Shape 30"/>
          <p:cNvSpPr/>
          <p:nvPr/>
        </p:nvSpPr>
        <p:spPr>
          <a:xfrm>
            <a:off x="3730752" y="2157984"/>
            <a:ext cx="1591056" cy="1298448"/>
          </a:xfrm>
          <a:prstGeom prst="rect">
            <a:avLst/>
          </a:prstGeom>
          <a:solidFill>
            <a:srgbClr val="1A0A00"/>
          </a:solidFill>
          <a:ln w="12700">
            <a:solidFill>
              <a:srgbClr val="FFD166">
                <a:alpha val="60000"/>
              </a:srgbClr>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3730752" y="2157984"/>
            <a:ext cx="1591056" cy="347472"/>
          </a:xfrm>
          <a:prstGeom prst="rect">
            <a:avLst/>
          </a:prstGeom>
          <a:solidFill>
            <a:srgbClr val="FFD166">
              <a:alpha val="80000"/>
            </a:srgbClr>
          </a:solidFill>
          <a:ln w="12700">
            <a:solidFill>
              <a:srgbClr val="FFD166"/>
            </a:solidFill>
            <a:prstDash val="solid"/>
          </a:ln>
        </p:spPr>
      </p:sp>
      <p:sp>
        <p:nvSpPr>
          <p:cNvPr id="34" name="Text 32"/>
          <p:cNvSpPr/>
          <p:nvPr/>
        </p:nvSpPr>
        <p:spPr>
          <a:xfrm>
            <a:off x="3803904" y="2176272"/>
            <a:ext cx="1444752" cy="310896"/>
          </a:xfrm>
          <a:prstGeom prst="rect">
            <a:avLst/>
          </a:prstGeom>
          <a:noFill/>
          <a:ln/>
        </p:spPr>
        <p:txBody>
          <a:bodyPr wrap="square" rtlCol="0" anchor="ctr"/>
          <a:lstStyle/>
          <a:p>
            <a:pPr algn="ctr" indent="0" marL="0">
              <a:buNone/>
            </a:pPr>
            <a:r>
              <a:rPr lang="en-US" sz="950" b="1" dirty="0">
                <a:solidFill>
                  <a:srgbClr val="060608"/>
                </a:solidFill>
                <a:latin typeface="Calibri" pitchFamily="34" charset="0"/>
                <a:ea typeface="Calibri" pitchFamily="34" charset="-122"/>
                <a:cs typeface="Calibri" pitchFamily="34" charset="-120"/>
              </a:rPr>
              <a:t>IAM Group</a:t>
            </a:r>
            <a:endParaRPr lang="en-US" sz="950" dirty="0"/>
          </a:p>
        </p:txBody>
      </p:sp>
      <p:sp>
        <p:nvSpPr>
          <p:cNvPr id="35" name="Text 33"/>
          <p:cNvSpPr/>
          <p:nvPr/>
        </p:nvSpPr>
        <p:spPr>
          <a:xfrm>
            <a:off x="3822192" y="2542032"/>
            <a:ext cx="1408176" cy="85953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Shared policies</a:t>
            </a:r>
            <a:endParaRPr lang="en-US" sz="850" dirty="0"/>
          </a:p>
          <a:p>
            <a:pPr indent="0" marL="0">
              <a:buNone/>
            </a:pPr>
            <a:r>
              <a:rPr lang="en-US" sz="850" dirty="0">
                <a:solidFill>
                  <a:srgbClr val="6A7A8A"/>
                </a:solidFill>
                <a:latin typeface="Calibri" pitchFamily="34" charset="0"/>
                <a:ea typeface="Calibri" pitchFamily="34" charset="-122"/>
                <a:cs typeface="Calibri" pitchFamily="34" charset="-120"/>
              </a:rPr>
              <a:t>Devs/Admins/RO</a:t>
            </a:r>
            <a:endParaRPr lang="en-US" sz="850" dirty="0"/>
          </a:p>
          <a:p>
            <a:pPr indent="0" marL="0">
              <a:buNone/>
            </a:pPr>
            <a:r>
              <a:rPr lang="en-US" sz="850" dirty="0">
                <a:solidFill>
                  <a:srgbClr val="6A7A8A"/>
                </a:solidFill>
                <a:latin typeface="Calibri" pitchFamily="34" charset="0"/>
                <a:ea typeface="Calibri" pitchFamily="34" charset="-122"/>
                <a:cs typeface="Calibri" pitchFamily="34" charset="-120"/>
              </a:rPr>
              <a:t>Assign users here</a:t>
            </a:r>
            <a:endParaRPr lang="en-US" sz="850" dirty="0"/>
          </a:p>
        </p:txBody>
      </p:sp>
      <p:sp>
        <p:nvSpPr>
          <p:cNvPr id="36" name="Shape 34"/>
          <p:cNvSpPr/>
          <p:nvPr/>
        </p:nvSpPr>
        <p:spPr>
          <a:xfrm>
            <a:off x="5468112" y="2157984"/>
            <a:ext cx="1591056" cy="1298448"/>
          </a:xfrm>
          <a:prstGeom prst="rect">
            <a:avLst/>
          </a:prstGeom>
          <a:solidFill>
            <a:srgbClr val="1A0A00"/>
          </a:solidFill>
          <a:ln w="12700">
            <a:solidFill>
              <a:srgbClr val="00FF88">
                <a:alpha val="60000"/>
              </a:srgbClr>
            </a:solidFill>
            <a:prstDash val="solid"/>
          </a:ln>
          <a:effectLst>
            <a:outerShdw sx="100000" sy="100000" kx="0" ky="0" algn="bl" rotWithShape="0" blurRad="101600" dist="38100" dir="8100000">
              <a:srgbClr val="000000">
                <a:alpha val="18000"/>
              </a:srgbClr>
            </a:outerShdw>
          </a:effectLst>
        </p:spPr>
      </p:sp>
      <p:sp>
        <p:nvSpPr>
          <p:cNvPr id="37" name="Shape 35"/>
          <p:cNvSpPr/>
          <p:nvPr/>
        </p:nvSpPr>
        <p:spPr>
          <a:xfrm>
            <a:off x="5468112" y="2157984"/>
            <a:ext cx="1591056" cy="347472"/>
          </a:xfrm>
          <a:prstGeom prst="rect">
            <a:avLst/>
          </a:prstGeom>
          <a:solidFill>
            <a:srgbClr val="00FF88">
              <a:alpha val="80000"/>
            </a:srgbClr>
          </a:solidFill>
          <a:ln w="12700">
            <a:solidFill>
              <a:srgbClr val="00FF88"/>
            </a:solidFill>
            <a:prstDash val="solid"/>
          </a:ln>
        </p:spPr>
      </p:sp>
      <p:sp>
        <p:nvSpPr>
          <p:cNvPr id="38" name="Text 36"/>
          <p:cNvSpPr/>
          <p:nvPr/>
        </p:nvSpPr>
        <p:spPr>
          <a:xfrm>
            <a:off x="5541264" y="2176272"/>
            <a:ext cx="1444752" cy="310896"/>
          </a:xfrm>
          <a:prstGeom prst="rect">
            <a:avLst/>
          </a:prstGeom>
          <a:noFill/>
          <a:ln/>
        </p:spPr>
        <p:txBody>
          <a:bodyPr wrap="square" rtlCol="0" anchor="ctr"/>
          <a:lstStyle/>
          <a:p>
            <a:pPr algn="ctr" indent="0" marL="0">
              <a:buNone/>
            </a:pPr>
            <a:r>
              <a:rPr lang="en-US" sz="950" b="1" dirty="0">
                <a:solidFill>
                  <a:srgbClr val="060608"/>
                </a:solidFill>
                <a:latin typeface="Calibri" pitchFamily="34" charset="0"/>
                <a:ea typeface="Calibri" pitchFamily="34" charset="-122"/>
                <a:cs typeface="Calibri" pitchFamily="34" charset="-120"/>
              </a:rPr>
              <a:t>IAM Role</a:t>
            </a:r>
            <a:endParaRPr lang="en-US" sz="950" dirty="0"/>
          </a:p>
        </p:txBody>
      </p:sp>
      <p:sp>
        <p:nvSpPr>
          <p:cNvPr id="39" name="Text 37"/>
          <p:cNvSpPr/>
          <p:nvPr/>
        </p:nvSpPr>
        <p:spPr>
          <a:xfrm>
            <a:off x="5559552" y="2542032"/>
            <a:ext cx="1408176" cy="85953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EC2/Lambda/services</a:t>
            </a:r>
            <a:endParaRPr lang="en-US" sz="850" dirty="0"/>
          </a:p>
          <a:p>
            <a:pPr indent="0" marL="0">
              <a:buNone/>
            </a:pPr>
            <a:r>
              <a:rPr lang="en-US" sz="850" dirty="0">
                <a:solidFill>
                  <a:srgbClr val="6A7A8A"/>
                </a:solidFill>
                <a:latin typeface="Calibri" pitchFamily="34" charset="0"/>
                <a:ea typeface="Calibri" pitchFamily="34" charset="-122"/>
                <a:cs typeface="Calibri" pitchFamily="34" charset="-120"/>
              </a:rPr>
              <a:t>Temp credentials</a:t>
            </a:r>
            <a:endParaRPr lang="en-US" sz="850" dirty="0"/>
          </a:p>
          <a:p>
            <a:pPr indent="0" marL="0">
              <a:buNone/>
            </a:pPr>
            <a:r>
              <a:rPr lang="en-US" sz="850" dirty="0">
                <a:solidFill>
                  <a:srgbClr val="6A7A8A"/>
                </a:solidFill>
                <a:latin typeface="Calibri" pitchFamily="34" charset="0"/>
                <a:ea typeface="Calibri" pitchFamily="34" charset="-122"/>
                <a:cs typeface="Calibri" pitchFamily="34" charset="-120"/>
              </a:rPr>
              <a:t>No keys on server</a:t>
            </a:r>
            <a:endParaRPr lang="en-US" sz="850" dirty="0"/>
          </a:p>
        </p:txBody>
      </p:sp>
      <p:sp>
        <p:nvSpPr>
          <p:cNvPr id="40" name="Shape 38"/>
          <p:cNvSpPr/>
          <p:nvPr/>
        </p:nvSpPr>
        <p:spPr>
          <a:xfrm>
            <a:off x="7205472" y="2157984"/>
            <a:ext cx="1591056" cy="1298448"/>
          </a:xfrm>
          <a:prstGeom prst="rect">
            <a:avLst/>
          </a:prstGeom>
          <a:solidFill>
            <a:srgbClr val="1A0A00"/>
          </a:solidFill>
          <a:ln w="12700">
            <a:solidFill>
              <a:srgbClr val="B85C00">
                <a:alpha val="60000"/>
              </a:srgbClr>
            </a:solidFill>
            <a:prstDash val="solid"/>
          </a:ln>
          <a:effectLst>
            <a:outerShdw sx="100000" sy="100000" kx="0" ky="0" algn="bl" rotWithShape="0" blurRad="101600" dist="38100" dir="8100000">
              <a:srgbClr val="000000">
                <a:alpha val="18000"/>
              </a:srgbClr>
            </a:outerShdw>
          </a:effectLst>
        </p:spPr>
      </p:sp>
      <p:sp>
        <p:nvSpPr>
          <p:cNvPr id="41" name="Shape 39"/>
          <p:cNvSpPr/>
          <p:nvPr/>
        </p:nvSpPr>
        <p:spPr>
          <a:xfrm>
            <a:off x="7205472" y="2157984"/>
            <a:ext cx="1591056" cy="347472"/>
          </a:xfrm>
          <a:prstGeom prst="rect">
            <a:avLst/>
          </a:prstGeom>
          <a:solidFill>
            <a:srgbClr val="B85C00">
              <a:alpha val="80000"/>
            </a:srgbClr>
          </a:solidFill>
          <a:ln w="12700">
            <a:solidFill>
              <a:srgbClr val="B85C00"/>
            </a:solidFill>
            <a:prstDash val="solid"/>
          </a:ln>
        </p:spPr>
      </p:sp>
      <p:sp>
        <p:nvSpPr>
          <p:cNvPr id="42" name="Text 40"/>
          <p:cNvSpPr/>
          <p:nvPr/>
        </p:nvSpPr>
        <p:spPr>
          <a:xfrm>
            <a:off x="7278624" y="2176272"/>
            <a:ext cx="1444752" cy="310896"/>
          </a:xfrm>
          <a:prstGeom prst="rect">
            <a:avLst/>
          </a:prstGeom>
          <a:noFill/>
          <a:ln/>
        </p:spPr>
        <p:txBody>
          <a:bodyPr wrap="square" rtlCol="0" anchor="ctr"/>
          <a:lstStyle/>
          <a:p>
            <a:pPr algn="ctr" indent="0" marL="0">
              <a:buNone/>
            </a:pPr>
            <a:r>
              <a:rPr lang="en-US" sz="950" b="1" dirty="0">
                <a:solidFill>
                  <a:srgbClr val="060608"/>
                </a:solidFill>
                <a:latin typeface="Calibri" pitchFamily="34" charset="0"/>
                <a:ea typeface="Calibri" pitchFamily="34" charset="-122"/>
                <a:cs typeface="Calibri" pitchFamily="34" charset="-120"/>
              </a:rPr>
              <a:t>IAM Policy</a:t>
            </a:r>
            <a:endParaRPr lang="en-US" sz="950" dirty="0"/>
          </a:p>
        </p:txBody>
      </p:sp>
      <p:sp>
        <p:nvSpPr>
          <p:cNvPr id="43" name="Text 41"/>
          <p:cNvSpPr/>
          <p:nvPr/>
        </p:nvSpPr>
        <p:spPr>
          <a:xfrm>
            <a:off x="7296912" y="2542032"/>
            <a:ext cx="1408176" cy="85953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JSON Effect/Action</a:t>
            </a:r>
            <a:endParaRPr lang="en-US" sz="850" dirty="0"/>
          </a:p>
          <a:p>
            <a:pPr indent="0" marL="0">
              <a:buNone/>
            </a:pPr>
            <a:r>
              <a:rPr lang="en-US" sz="850" dirty="0">
                <a:solidFill>
                  <a:srgbClr val="6A7A8A"/>
                </a:solidFill>
                <a:latin typeface="Calibri" pitchFamily="34" charset="0"/>
                <a:ea typeface="Calibri" pitchFamily="34" charset="-122"/>
                <a:cs typeface="Calibri" pitchFamily="34" charset="-120"/>
              </a:rPr>
              <a:t>Resource/Condition</a:t>
            </a:r>
            <a:endParaRPr lang="en-US" sz="850" dirty="0"/>
          </a:p>
          <a:p>
            <a:pPr indent="0" marL="0">
              <a:buNone/>
            </a:pPr>
            <a:r>
              <a:rPr lang="en-US" sz="850" dirty="0">
                <a:solidFill>
                  <a:srgbClr val="6A7A8A"/>
                </a:solidFill>
                <a:latin typeface="Calibri" pitchFamily="34" charset="0"/>
                <a:ea typeface="Calibri" pitchFamily="34" charset="-122"/>
                <a:cs typeface="Calibri" pitchFamily="34" charset="-120"/>
              </a:rPr>
              <a:t>Least privilege</a:t>
            </a:r>
            <a:endParaRPr lang="en-US" sz="850" dirty="0"/>
          </a:p>
        </p:txBody>
      </p:sp>
      <p:sp>
        <p:nvSpPr>
          <p:cNvPr id="44" name="Shape 42"/>
          <p:cNvSpPr/>
          <p:nvPr/>
        </p:nvSpPr>
        <p:spPr>
          <a:xfrm>
            <a:off x="256032" y="3566160"/>
            <a:ext cx="4297680" cy="530352"/>
          </a:xfrm>
          <a:prstGeom prst="rect">
            <a:avLst/>
          </a:prstGeom>
          <a:solidFill>
            <a:srgbClr val="180808"/>
          </a:solidFill>
          <a:ln w="12700">
            <a:solidFill>
              <a:srgbClr val="FF6B6B"/>
            </a:solidFill>
            <a:prstDash val="solid"/>
          </a:ln>
        </p:spPr>
      </p:sp>
      <p:sp>
        <p:nvSpPr>
          <p:cNvPr id="45" name="Shape 43"/>
          <p:cNvSpPr/>
          <p:nvPr/>
        </p:nvSpPr>
        <p:spPr>
          <a:xfrm>
            <a:off x="256032" y="3566160"/>
            <a:ext cx="54864" cy="530352"/>
          </a:xfrm>
          <a:prstGeom prst="rect">
            <a:avLst/>
          </a:prstGeom>
          <a:solidFill>
            <a:srgbClr val="FF6B6B"/>
          </a:solidFill>
          <a:ln w="12700">
            <a:solidFill>
              <a:srgbClr val="FF6B6B"/>
            </a:solidFill>
            <a:prstDash val="solid"/>
          </a:ln>
        </p:spPr>
      </p:sp>
      <p:sp>
        <p:nvSpPr>
          <p:cNvPr id="46" name="Text 44"/>
          <p:cNvSpPr/>
          <p:nvPr/>
        </p:nvSpPr>
        <p:spPr>
          <a:xfrm>
            <a:off x="384048" y="3602736"/>
            <a:ext cx="1280160" cy="201168"/>
          </a:xfrm>
          <a:prstGeom prst="rect">
            <a:avLst/>
          </a:prstGeom>
          <a:noFill/>
          <a:ln/>
        </p:spPr>
        <p:txBody>
          <a:bodyPr wrap="square" rtlCol="0" anchor="ctr"/>
          <a:lstStyle/>
          <a:p>
            <a:pPr indent="0" marL="0">
              <a:buNone/>
            </a:pPr>
            <a:r>
              <a:rPr lang="en-US" sz="800" b="1" dirty="0">
                <a:solidFill>
                  <a:srgbClr val="FF6B6B"/>
                </a:solidFill>
                <a:latin typeface="Calibri" pitchFamily="34" charset="0"/>
                <a:ea typeface="Calibri" pitchFamily="34" charset="-122"/>
                <a:cs typeface="Calibri" pitchFamily="34" charset="-120"/>
              </a:rPr>
              <a:t>⚠ EXAM TRAP</a:t>
            </a:r>
            <a:endParaRPr lang="en-US" sz="800" dirty="0"/>
          </a:p>
        </p:txBody>
      </p:sp>
      <p:sp>
        <p:nvSpPr>
          <p:cNvPr id="47" name="Text 45"/>
          <p:cNvSpPr/>
          <p:nvPr/>
        </p:nvSpPr>
        <p:spPr>
          <a:xfrm>
            <a:off x="384048" y="3794760"/>
            <a:ext cx="4078224"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RDS Multi-AZ standby serves read traffic (wrong!)</a:t>
            </a:r>
            <a:endParaRPr lang="en-US" sz="900" dirty="0"/>
          </a:p>
        </p:txBody>
      </p:sp>
      <p:sp>
        <p:nvSpPr>
          <p:cNvPr id="48" name="Text 46"/>
          <p:cNvSpPr/>
          <p:nvPr/>
        </p:nvSpPr>
        <p:spPr>
          <a:xfrm>
            <a:off x="1719072" y="3602736"/>
            <a:ext cx="2743200" cy="201168"/>
          </a:xfrm>
          <a:prstGeom prst="rect">
            <a:avLst/>
          </a:prstGeom>
          <a:noFill/>
          <a:ln/>
        </p:spPr>
        <p:txBody>
          <a:bodyPr wrap="square" rtlCol="0" anchor="ctr"/>
          <a:lstStyle/>
          <a:p>
            <a:pPr indent="0" marL="0">
              <a:buNone/>
            </a:pPr>
            <a:r>
              <a:rPr lang="en-US" sz="850" b="1" dirty="0">
                <a:solidFill>
                  <a:srgbClr val="00FF88"/>
                </a:solidFill>
                <a:latin typeface="Calibri" pitchFamily="34" charset="0"/>
                <a:ea typeface="Calibri" pitchFamily="34" charset="-122"/>
                <a:cs typeface="Calibri" pitchFamily="34" charset="-120"/>
              </a:rPr>
              <a:t>✓ Standby exists ONLY for failover. For read scaling → use Read Replicas (separate feature). Standby = invisible unless primary fails.</a:t>
            </a:r>
            <a:endParaRPr lang="en-US" sz="850" dirty="0"/>
          </a:p>
        </p:txBody>
      </p:sp>
      <p:sp>
        <p:nvSpPr>
          <p:cNvPr id="49" name="Shape 47"/>
          <p:cNvSpPr/>
          <p:nvPr/>
        </p:nvSpPr>
        <p:spPr>
          <a:xfrm>
            <a:off x="4736592" y="3566160"/>
            <a:ext cx="4169664" cy="530352"/>
          </a:xfrm>
          <a:prstGeom prst="rect">
            <a:avLst/>
          </a:prstGeom>
          <a:solidFill>
            <a:srgbClr val="180808"/>
          </a:solidFill>
          <a:ln w="12700">
            <a:solidFill>
              <a:srgbClr val="FF6B6B"/>
            </a:solidFill>
            <a:prstDash val="solid"/>
          </a:ln>
        </p:spPr>
      </p:sp>
      <p:sp>
        <p:nvSpPr>
          <p:cNvPr id="50" name="Shape 48"/>
          <p:cNvSpPr/>
          <p:nvPr/>
        </p:nvSpPr>
        <p:spPr>
          <a:xfrm>
            <a:off x="4736592" y="3566160"/>
            <a:ext cx="54864" cy="530352"/>
          </a:xfrm>
          <a:prstGeom prst="rect">
            <a:avLst/>
          </a:prstGeom>
          <a:solidFill>
            <a:srgbClr val="FF6B6B"/>
          </a:solidFill>
          <a:ln w="12700">
            <a:solidFill>
              <a:srgbClr val="FF6B6B"/>
            </a:solidFill>
            <a:prstDash val="solid"/>
          </a:ln>
        </p:spPr>
      </p:sp>
      <p:sp>
        <p:nvSpPr>
          <p:cNvPr id="51" name="Text 49"/>
          <p:cNvSpPr/>
          <p:nvPr/>
        </p:nvSpPr>
        <p:spPr>
          <a:xfrm>
            <a:off x="4864608" y="3602736"/>
            <a:ext cx="1280160" cy="201168"/>
          </a:xfrm>
          <a:prstGeom prst="rect">
            <a:avLst/>
          </a:prstGeom>
          <a:noFill/>
          <a:ln/>
        </p:spPr>
        <p:txBody>
          <a:bodyPr wrap="square" rtlCol="0" anchor="ctr"/>
          <a:lstStyle/>
          <a:p>
            <a:pPr indent="0" marL="0">
              <a:buNone/>
            </a:pPr>
            <a:r>
              <a:rPr lang="en-US" sz="800" b="1" dirty="0">
                <a:solidFill>
                  <a:srgbClr val="FF6B6B"/>
                </a:solidFill>
                <a:latin typeface="Calibri" pitchFamily="34" charset="0"/>
                <a:ea typeface="Calibri" pitchFamily="34" charset="-122"/>
                <a:cs typeface="Calibri" pitchFamily="34" charset="-120"/>
              </a:rPr>
              <a:t>⚠ EXAM TRAP</a:t>
            </a:r>
            <a:endParaRPr lang="en-US" sz="800" dirty="0"/>
          </a:p>
        </p:txBody>
      </p:sp>
      <p:sp>
        <p:nvSpPr>
          <p:cNvPr id="52" name="Text 50"/>
          <p:cNvSpPr/>
          <p:nvPr/>
        </p:nvSpPr>
        <p:spPr>
          <a:xfrm>
            <a:off x="4864608" y="3794760"/>
            <a:ext cx="3950208"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Store AWS access keys in EC2 environment variables (wrong!)</a:t>
            </a:r>
            <a:endParaRPr lang="en-US" sz="900" dirty="0"/>
          </a:p>
        </p:txBody>
      </p:sp>
      <p:sp>
        <p:nvSpPr>
          <p:cNvPr id="53" name="Text 51"/>
          <p:cNvSpPr/>
          <p:nvPr/>
        </p:nvSpPr>
        <p:spPr>
          <a:xfrm>
            <a:off x="6199632" y="3602736"/>
            <a:ext cx="2615184" cy="201168"/>
          </a:xfrm>
          <a:prstGeom prst="rect">
            <a:avLst/>
          </a:prstGeom>
          <a:noFill/>
          <a:ln/>
        </p:spPr>
        <p:txBody>
          <a:bodyPr wrap="square" rtlCol="0" anchor="ctr"/>
          <a:lstStyle/>
          <a:p>
            <a:pPr indent="0" marL="0">
              <a:buNone/>
            </a:pPr>
            <a:r>
              <a:rPr lang="en-US" sz="850" b="1" dirty="0">
                <a:solidFill>
                  <a:srgbClr val="00FF88"/>
                </a:solidFill>
                <a:latin typeface="Calibri" pitchFamily="34" charset="0"/>
                <a:ea typeface="Calibri" pitchFamily="34" charset="-122"/>
                <a:cs typeface="Calibri" pitchFamily="34" charset="-120"/>
              </a:rPr>
              <a:t>✓ Attach an IAM Role to the EC2 instance. Temporary credentials rotate automatically. Keys in env vars can be stolen.</a:t>
            </a:r>
            <a:endParaRPr lang="en-US" sz="850" dirty="0"/>
          </a:p>
        </p:txBody>
      </p:sp>
      <p:sp>
        <p:nvSpPr>
          <p:cNvPr id="54" name="Text 52"/>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0A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C00"/>
          </a:solidFill>
          <a:ln w="12700">
            <a:solidFill>
              <a:srgbClr val="B85C00"/>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B85C00">
              <a:alpha val="80000"/>
            </a:srgbClr>
          </a:solidFill>
          <a:ln w="12700">
            <a:solidFill>
              <a:srgbClr val="B85C00"/>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4</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Module 4 — Quick Quiz</a:t>
            </a:r>
            <a:endParaRPr lang="en-US" sz="1600" dirty="0"/>
          </a:p>
        </p:txBody>
      </p:sp>
      <p:sp>
        <p:nvSpPr>
          <p:cNvPr id="7" name="Shape 5"/>
          <p:cNvSpPr/>
          <p:nvPr/>
        </p:nvSpPr>
        <p:spPr>
          <a:xfrm>
            <a:off x="256032" y="530352"/>
            <a:ext cx="4160520" cy="1024128"/>
          </a:xfrm>
          <a:prstGeom prst="rect">
            <a:avLst/>
          </a:prstGeom>
          <a:solidFill>
            <a:srgbClr val="0A0A16"/>
          </a:solidFill>
          <a:ln w="12700">
            <a:solidFill>
              <a:srgbClr val="B85C00">
                <a:alpha val="60000"/>
              </a:srgbClr>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56032" y="530352"/>
            <a:ext cx="4160520" cy="36576"/>
          </a:xfrm>
          <a:prstGeom prst="rect">
            <a:avLst/>
          </a:prstGeom>
          <a:solidFill>
            <a:srgbClr val="B85C00"/>
          </a:solidFill>
          <a:ln w="12700">
            <a:solidFill>
              <a:srgbClr val="B85C00"/>
            </a:solidFill>
            <a:prstDash val="solid"/>
          </a:ln>
        </p:spPr>
      </p:sp>
      <p:sp>
        <p:nvSpPr>
          <p:cNvPr id="9" name="Text 7"/>
          <p:cNvSpPr/>
          <p:nvPr/>
        </p:nvSpPr>
        <p:spPr>
          <a:xfrm>
            <a:off x="329184" y="603504"/>
            <a:ext cx="256032" cy="274320"/>
          </a:xfrm>
          <a:prstGeom prst="rect">
            <a:avLst/>
          </a:prstGeom>
          <a:noFill/>
          <a:ln/>
        </p:spPr>
        <p:txBody>
          <a:bodyPr wrap="square" rtlCol="0" anchor="ctr"/>
          <a:lstStyle/>
          <a:p>
            <a:pPr indent="0" marL="0">
              <a:buNone/>
            </a:pPr>
            <a:r>
              <a:rPr lang="en-US" sz="1100" b="1" dirty="0">
                <a:solidFill>
                  <a:srgbClr val="B85C00"/>
                </a:solidFill>
                <a:latin typeface="Arial Black" pitchFamily="34" charset="0"/>
                <a:ea typeface="Arial Black" pitchFamily="34" charset="-122"/>
                <a:cs typeface="Arial Black" pitchFamily="34" charset="-120"/>
              </a:rPr>
              <a:t>Q</a:t>
            </a:r>
            <a:endParaRPr lang="en-US" sz="1100" dirty="0"/>
          </a:p>
        </p:txBody>
      </p:sp>
      <p:sp>
        <p:nvSpPr>
          <p:cNvPr id="10" name="Text 8"/>
          <p:cNvSpPr/>
          <p:nvPr/>
        </p:nvSpPr>
        <p:spPr>
          <a:xfrm>
            <a:off x="621792"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EC2 instance family should you use for a CPU-intensive batch job?</a:t>
            </a:r>
            <a:endParaRPr lang="en-US" sz="1000" dirty="0"/>
          </a:p>
        </p:txBody>
      </p:sp>
      <p:sp>
        <p:nvSpPr>
          <p:cNvPr id="11" name="Shape 9"/>
          <p:cNvSpPr/>
          <p:nvPr/>
        </p:nvSpPr>
        <p:spPr>
          <a:xfrm>
            <a:off x="347472" y="987552"/>
            <a:ext cx="3977640" cy="36576"/>
          </a:xfrm>
          <a:prstGeom prst="rect">
            <a:avLst/>
          </a:prstGeom>
          <a:solidFill>
            <a:srgbClr val="B85C00">
              <a:alpha val="30000"/>
            </a:srgbClr>
          </a:solidFill>
          <a:ln w="12700">
            <a:solidFill>
              <a:srgbClr val="B85C00">
                <a:alpha val="30000"/>
              </a:srgbClr>
            </a:solidFill>
            <a:prstDash val="solid"/>
          </a:ln>
        </p:spPr>
      </p:sp>
      <p:sp>
        <p:nvSpPr>
          <p:cNvPr id="12" name="Text 10"/>
          <p:cNvSpPr/>
          <p:nvPr/>
        </p:nvSpPr>
        <p:spPr>
          <a:xfrm>
            <a:off x="347472" y="1060704"/>
            <a:ext cx="3977640" cy="402336"/>
          </a:xfrm>
          <a:prstGeom prst="rect">
            <a:avLst/>
          </a:prstGeom>
          <a:noFill/>
          <a:ln/>
        </p:spPr>
        <p:txBody>
          <a:bodyPr wrap="square" rtlCol="0" anchor="ctr"/>
          <a:lstStyle/>
          <a:p>
            <a:pPr indent="0" marL="0">
              <a:buNone/>
            </a:pPr>
            <a:r>
              <a:rPr lang="en-US" sz="950" dirty="0">
                <a:solidFill>
                  <a:srgbClr val="B85C00"/>
                </a:solidFill>
                <a:latin typeface="Calibri" pitchFamily="34" charset="0"/>
                <a:ea typeface="Calibri" pitchFamily="34" charset="-122"/>
                <a:cs typeface="Calibri" pitchFamily="34" charset="-120"/>
              </a:rPr>
              <a:t>A  C-series (Compute Optimised) — e.g. c5.xlarge. C = CPU priority. R = RAM priority. T = burstable general purpose. M = balanced general purpose.</a:t>
            </a:r>
            <a:endParaRPr lang="en-US" sz="950" dirty="0"/>
          </a:p>
        </p:txBody>
      </p:sp>
      <p:sp>
        <p:nvSpPr>
          <p:cNvPr id="13" name="Shape 11"/>
          <p:cNvSpPr/>
          <p:nvPr/>
        </p:nvSpPr>
        <p:spPr>
          <a:xfrm>
            <a:off x="4727448" y="530352"/>
            <a:ext cx="4160520" cy="1024128"/>
          </a:xfrm>
          <a:prstGeom prst="rect">
            <a:avLst/>
          </a:prstGeom>
          <a:solidFill>
            <a:srgbClr val="0A0A16"/>
          </a:solidFill>
          <a:ln w="12700">
            <a:solidFill>
              <a:srgbClr val="B85C00">
                <a:alpha val="60000"/>
              </a:srgbClr>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727448" y="530352"/>
            <a:ext cx="4160520" cy="36576"/>
          </a:xfrm>
          <a:prstGeom prst="rect">
            <a:avLst/>
          </a:prstGeom>
          <a:solidFill>
            <a:srgbClr val="B85C00"/>
          </a:solidFill>
          <a:ln w="12700">
            <a:solidFill>
              <a:srgbClr val="B85C00"/>
            </a:solidFill>
            <a:prstDash val="solid"/>
          </a:ln>
        </p:spPr>
      </p:sp>
      <p:sp>
        <p:nvSpPr>
          <p:cNvPr id="15" name="Text 13"/>
          <p:cNvSpPr/>
          <p:nvPr/>
        </p:nvSpPr>
        <p:spPr>
          <a:xfrm>
            <a:off x="4800600" y="603504"/>
            <a:ext cx="256032" cy="274320"/>
          </a:xfrm>
          <a:prstGeom prst="rect">
            <a:avLst/>
          </a:prstGeom>
          <a:noFill/>
          <a:ln/>
        </p:spPr>
        <p:txBody>
          <a:bodyPr wrap="square" rtlCol="0" anchor="ctr"/>
          <a:lstStyle/>
          <a:p>
            <a:pPr indent="0" marL="0">
              <a:buNone/>
            </a:pPr>
            <a:r>
              <a:rPr lang="en-US" sz="1100" b="1" dirty="0">
                <a:solidFill>
                  <a:srgbClr val="B85C00"/>
                </a:solidFill>
                <a:latin typeface="Arial Black" pitchFamily="34" charset="0"/>
                <a:ea typeface="Arial Black" pitchFamily="34" charset="-122"/>
                <a:cs typeface="Arial Black" pitchFamily="34" charset="-120"/>
              </a:rPr>
              <a:t>Q</a:t>
            </a:r>
            <a:endParaRPr lang="en-US" sz="1100" dirty="0"/>
          </a:p>
        </p:txBody>
      </p:sp>
      <p:sp>
        <p:nvSpPr>
          <p:cNvPr id="16" name="Text 14"/>
          <p:cNvSpPr/>
          <p:nvPr/>
        </p:nvSpPr>
        <p:spPr>
          <a:xfrm>
            <a:off x="5093208"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A healthcare company stores patient scans from 7 years ago, accessed twice a year. Which S3 class?</a:t>
            </a:r>
            <a:endParaRPr lang="en-US" sz="1000" dirty="0"/>
          </a:p>
        </p:txBody>
      </p:sp>
      <p:sp>
        <p:nvSpPr>
          <p:cNvPr id="17" name="Shape 15"/>
          <p:cNvSpPr/>
          <p:nvPr/>
        </p:nvSpPr>
        <p:spPr>
          <a:xfrm>
            <a:off x="4818888" y="987552"/>
            <a:ext cx="3977640" cy="36576"/>
          </a:xfrm>
          <a:prstGeom prst="rect">
            <a:avLst/>
          </a:prstGeom>
          <a:solidFill>
            <a:srgbClr val="B85C00">
              <a:alpha val="30000"/>
            </a:srgbClr>
          </a:solidFill>
          <a:ln w="12700">
            <a:solidFill>
              <a:srgbClr val="B85C00">
                <a:alpha val="30000"/>
              </a:srgbClr>
            </a:solidFill>
            <a:prstDash val="solid"/>
          </a:ln>
        </p:spPr>
      </p:sp>
      <p:sp>
        <p:nvSpPr>
          <p:cNvPr id="18" name="Text 16"/>
          <p:cNvSpPr/>
          <p:nvPr/>
        </p:nvSpPr>
        <p:spPr>
          <a:xfrm>
            <a:off x="4818888" y="1060704"/>
            <a:ext cx="3977640" cy="402336"/>
          </a:xfrm>
          <a:prstGeom prst="rect">
            <a:avLst/>
          </a:prstGeom>
          <a:noFill/>
          <a:ln/>
        </p:spPr>
        <p:txBody>
          <a:bodyPr wrap="square" rtlCol="0" anchor="ctr"/>
          <a:lstStyle/>
          <a:p>
            <a:pPr indent="0" marL="0">
              <a:buNone/>
            </a:pPr>
            <a:r>
              <a:rPr lang="en-US" sz="950" dirty="0">
                <a:solidFill>
                  <a:srgbClr val="B85C00"/>
                </a:solidFill>
                <a:latin typeface="Calibri" pitchFamily="34" charset="0"/>
                <a:ea typeface="Calibri" pitchFamily="34" charset="-122"/>
                <a:cs typeface="Calibri" pitchFamily="34" charset="-120"/>
              </a:rPr>
              <a:t>A  S3 Glacier Instant Retrieval — low cost ($0.004/GB), millisecond retrieval, 90-day minimum. Satisfies POPIA data retention requirements.</a:t>
            </a:r>
            <a:endParaRPr lang="en-US" sz="950" dirty="0"/>
          </a:p>
        </p:txBody>
      </p:sp>
      <p:sp>
        <p:nvSpPr>
          <p:cNvPr id="19" name="Shape 17"/>
          <p:cNvSpPr/>
          <p:nvPr/>
        </p:nvSpPr>
        <p:spPr>
          <a:xfrm>
            <a:off x="256032" y="1664208"/>
            <a:ext cx="4160520" cy="1024128"/>
          </a:xfrm>
          <a:prstGeom prst="rect">
            <a:avLst/>
          </a:prstGeom>
          <a:solidFill>
            <a:srgbClr val="0A0A16"/>
          </a:solidFill>
          <a:ln w="12700">
            <a:solidFill>
              <a:srgbClr val="B85C00">
                <a:alpha val="60000"/>
              </a:srgbClr>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56032" y="1664208"/>
            <a:ext cx="4160520" cy="36576"/>
          </a:xfrm>
          <a:prstGeom prst="rect">
            <a:avLst/>
          </a:prstGeom>
          <a:solidFill>
            <a:srgbClr val="B85C00"/>
          </a:solidFill>
          <a:ln w="12700">
            <a:solidFill>
              <a:srgbClr val="B85C00"/>
            </a:solidFill>
            <a:prstDash val="solid"/>
          </a:ln>
        </p:spPr>
      </p:sp>
      <p:sp>
        <p:nvSpPr>
          <p:cNvPr id="21" name="Text 19"/>
          <p:cNvSpPr/>
          <p:nvPr/>
        </p:nvSpPr>
        <p:spPr>
          <a:xfrm>
            <a:off x="329184" y="1737360"/>
            <a:ext cx="256032" cy="274320"/>
          </a:xfrm>
          <a:prstGeom prst="rect">
            <a:avLst/>
          </a:prstGeom>
          <a:noFill/>
          <a:ln/>
        </p:spPr>
        <p:txBody>
          <a:bodyPr wrap="square" rtlCol="0" anchor="ctr"/>
          <a:lstStyle/>
          <a:p>
            <a:pPr indent="0" marL="0">
              <a:buNone/>
            </a:pPr>
            <a:r>
              <a:rPr lang="en-US" sz="1100" b="1" dirty="0">
                <a:solidFill>
                  <a:srgbClr val="B85C00"/>
                </a:solidFill>
                <a:latin typeface="Arial Black" pitchFamily="34" charset="0"/>
                <a:ea typeface="Arial Black" pitchFamily="34" charset="-122"/>
                <a:cs typeface="Arial Black" pitchFamily="34" charset="-120"/>
              </a:rPr>
              <a:t>Q</a:t>
            </a:r>
            <a:endParaRPr lang="en-US" sz="1100" dirty="0"/>
          </a:p>
        </p:txBody>
      </p:sp>
      <p:sp>
        <p:nvSpPr>
          <p:cNvPr id="22" name="Text 20"/>
          <p:cNvSpPr/>
          <p:nvPr/>
        </p:nvSpPr>
        <p:spPr>
          <a:xfrm>
            <a:off x="621792"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Your RDS primary database fails. How long before Multi-AZ restores service?</a:t>
            </a:r>
            <a:endParaRPr lang="en-US" sz="1000" dirty="0"/>
          </a:p>
        </p:txBody>
      </p:sp>
      <p:sp>
        <p:nvSpPr>
          <p:cNvPr id="23" name="Shape 21"/>
          <p:cNvSpPr/>
          <p:nvPr/>
        </p:nvSpPr>
        <p:spPr>
          <a:xfrm>
            <a:off x="347472" y="2121408"/>
            <a:ext cx="3977640" cy="36576"/>
          </a:xfrm>
          <a:prstGeom prst="rect">
            <a:avLst/>
          </a:prstGeom>
          <a:solidFill>
            <a:srgbClr val="B85C00">
              <a:alpha val="30000"/>
            </a:srgbClr>
          </a:solidFill>
          <a:ln w="12700">
            <a:solidFill>
              <a:srgbClr val="B85C00">
                <a:alpha val="30000"/>
              </a:srgbClr>
            </a:solidFill>
            <a:prstDash val="solid"/>
          </a:ln>
        </p:spPr>
      </p:sp>
      <p:sp>
        <p:nvSpPr>
          <p:cNvPr id="24" name="Text 22"/>
          <p:cNvSpPr/>
          <p:nvPr/>
        </p:nvSpPr>
        <p:spPr>
          <a:xfrm>
            <a:off x="347472" y="2194560"/>
            <a:ext cx="3977640" cy="402336"/>
          </a:xfrm>
          <a:prstGeom prst="rect">
            <a:avLst/>
          </a:prstGeom>
          <a:noFill/>
          <a:ln/>
        </p:spPr>
        <p:txBody>
          <a:bodyPr wrap="square" rtlCol="0" anchor="ctr"/>
          <a:lstStyle/>
          <a:p>
            <a:pPr indent="0" marL="0">
              <a:buNone/>
            </a:pPr>
            <a:r>
              <a:rPr lang="en-US" sz="950" dirty="0">
                <a:solidFill>
                  <a:srgbClr val="B85C00"/>
                </a:solidFill>
                <a:latin typeface="Calibri" pitchFamily="34" charset="0"/>
                <a:ea typeface="Calibri" pitchFamily="34" charset="-122"/>
                <a:cs typeface="Calibri" pitchFamily="34" charset="-120"/>
              </a:rPr>
              <a:t>A  60–120 seconds. AWS detects the failure, promotes the standby to primary, updates the DNS endpoint. Application reconnects to the same endpoint.</a:t>
            </a:r>
            <a:endParaRPr lang="en-US" sz="950" dirty="0"/>
          </a:p>
        </p:txBody>
      </p:sp>
      <p:sp>
        <p:nvSpPr>
          <p:cNvPr id="25" name="Shape 23"/>
          <p:cNvSpPr/>
          <p:nvPr/>
        </p:nvSpPr>
        <p:spPr>
          <a:xfrm>
            <a:off x="4727448" y="1664208"/>
            <a:ext cx="4160520" cy="1024128"/>
          </a:xfrm>
          <a:prstGeom prst="rect">
            <a:avLst/>
          </a:prstGeom>
          <a:solidFill>
            <a:srgbClr val="0A0A16"/>
          </a:solidFill>
          <a:ln w="12700">
            <a:solidFill>
              <a:srgbClr val="B85C00">
                <a:alpha val="60000"/>
              </a:srgbClr>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727448" y="1664208"/>
            <a:ext cx="4160520" cy="36576"/>
          </a:xfrm>
          <a:prstGeom prst="rect">
            <a:avLst/>
          </a:prstGeom>
          <a:solidFill>
            <a:srgbClr val="B85C00"/>
          </a:solidFill>
          <a:ln w="12700">
            <a:solidFill>
              <a:srgbClr val="B85C00"/>
            </a:solidFill>
            <a:prstDash val="solid"/>
          </a:ln>
        </p:spPr>
      </p:sp>
      <p:sp>
        <p:nvSpPr>
          <p:cNvPr id="27" name="Text 25"/>
          <p:cNvSpPr/>
          <p:nvPr/>
        </p:nvSpPr>
        <p:spPr>
          <a:xfrm>
            <a:off x="4800600" y="1737360"/>
            <a:ext cx="256032" cy="274320"/>
          </a:xfrm>
          <a:prstGeom prst="rect">
            <a:avLst/>
          </a:prstGeom>
          <a:noFill/>
          <a:ln/>
        </p:spPr>
        <p:txBody>
          <a:bodyPr wrap="square" rtlCol="0" anchor="ctr"/>
          <a:lstStyle/>
          <a:p>
            <a:pPr indent="0" marL="0">
              <a:buNone/>
            </a:pPr>
            <a:r>
              <a:rPr lang="en-US" sz="1100" b="1" dirty="0">
                <a:solidFill>
                  <a:srgbClr val="B85C00"/>
                </a:solidFill>
                <a:latin typeface="Arial Black" pitchFamily="34" charset="0"/>
                <a:ea typeface="Arial Black" pitchFamily="34" charset="-122"/>
                <a:cs typeface="Arial Black" pitchFamily="34" charset="-120"/>
              </a:rPr>
              <a:t>Q</a:t>
            </a:r>
            <a:endParaRPr lang="en-US" sz="1100" dirty="0"/>
          </a:p>
        </p:txBody>
      </p:sp>
      <p:sp>
        <p:nvSpPr>
          <p:cNvPr id="28" name="Text 26"/>
          <p:cNvSpPr/>
          <p:nvPr/>
        </p:nvSpPr>
        <p:spPr>
          <a:xfrm>
            <a:off x="5093208"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An EC2 web server needs to read from S3. What is the most secure approach?</a:t>
            </a:r>
            <a:endParaRPr lang="en-US" sz="1000" dirty="0"/>
          </a:p>
        </p:txBody>
      </p:sp>
      <p:sp>
        <p:nvSpPr>
          <p:cNvPr id="29" name="Shape 27"/>
          <p:cNvSpPr/>
          <p:nvPr/>
        </p:nvSpPr>
        <p:spPr>
          <a:xfrm>
            <a:off x="4818888" y="2121408"/>
            <a:ext cx="3977640" cy="36576"/>
          </a:xfrm>
          <a:prstGeom prst="rect">
            <a:avLst/>
          </a:prstGeom>
          <a:solidFill>
            <a:srgbClr val="B85C00">
              <a:alpha val="30000"/>
            </a:srgbClr>
          </a:solidFill>
          <a:ln w="12700">
            <a:solidFill>
              <a:srgbClr val="B85C00">
                <a:alpha val="30000"/>
              </a:srgbClr>
            </a:solidFill>
            <a:prstDash val="solid"/>
          </a:ln>
        </p:spPr>
      </p:sp>
      <p:sp>
        <p:nvSpPr>
          <p:cNvPr id="30" name="Text 28"/>
          <p:cNvSpPr/>
          <p:nvPr/>
        </p:nvSpPr>
        <p:spPr>
          <a:xfrm>
            <a:off x="4818888" y="2194560"/>
            <a:ext cx="3977640" cy="402336"/>
          </a:xfrm>
          <a:prstGeom prst="rect">
            <a:avLst/>
          </a:prstGeom>
          <a:noFill/>
          <a:ln/>
        </p:spPr>
        <p:txBody>
          <a:bodyPr wrap="square" rtlCol="0" anchor="ctr"/>
          <a:lstStyle/>
          <a:p>
            <a:pPr indent="0" marL="0">
              <a:buNone/>
            </a:pPr>
            <a:r>
              <a:rPr lang="en-US" sz="950" dirty="0">
                <a:solidFill>
                  <a:srgbClr val="B85C00"/>
                </a:solidFill>
                <a:latin typeface="Calibri" pitchFamily="34" charset="0"/>
                <a:ea typeface="Calibri" pitchFamily="34" charset="-122"/>
                <a:cs typeface="Calibri" pitchFamily="34" charset="-120"/>
              </a:rPr>
              <a:t>A  Attach an IAM Role to the EC2 instance with s3:GetObject permission on the specific bucket ARN only. Never store access keys on the instance.</a:t>
            </a:r>
            <a:endParaRPr lang="en-US" sz="950" dirty="0"/>
          </a:p>
        </p:txBody>
      </p:sp>
      <p:sp>
        <p:nvSpPr>
          <p:cNvPr id="31" name="Shape 29"/>
          <p:cNvSpPr/>
          <p:nvPr/>
        </p:nvSpPr>
        <p:spPr>
          <a:xfrm>
            <a:off x="256032" y="2798064"/>
            <a:ext cx="4160520" cy="1024128"/>
          </a:xfrm>
          <a:prstGeom prst="rect">
            <a:avLst/>
          </a:prstGeom>
          <a:solidFill>
            <a:srgbClr val="0A0A16"/>
          </a:solidFill>
          <a:ln w="12700">
            <a:solidFill>
              <a:srgbClr val="B85C00">
                <a:alpha val="60000"/>
              </a:srgbClr>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256032" y="2798064"/>
            <a:ext cx="4160520" cy="36576"/>
          </a:xfrm>
          <a:prstGeom prst="rect">
            <a:avLst/>
          </a:prstGeom>
          <a:solidFill>
            <a:srgbClr val="B85C00"/>
          </a:solidFill>
          <a:ln w="12700">
            <a:solidFill>
              <a:srgbClr val="B85C00"/>
            </a:solidFill>
            <a:prstDash val="solid"/>
          </a:ln>
        </p:spPr>
      </p:sp>
      <p:sp>
        <p:nvSpPr>
          <p:cNvPr id="33" name="Text 31"/>
          <p:cNvSpPr/>
          <p:nvPr/>
        </p:nvSpPr>
        <p:spPr>
          <a:xfrm>
            <a:off x="329184" y="2871216"/>
            <a:ext cx="256032" cy="274320"/>
          </a:xfrm>
          <a:prstGeom prst="rect">
            <a:avLst/>
          </a:prstGeom>
          <a:noFill/>
          <a:ln/>
        </p:spPr>
        <p:txBody>
          <a:bodyPr wrap="square" rtlCol="0" anchor="ctr"/>
          <a:lstStyle/>
          <a:p>
            <a:pPr indent="0" marL="0">
              <a:buNone/>
            </a:pPr>
            <a:r>
              <a:rPr lang="en-US" sz="1100" b="1" dirty="0">
                <a:solidFill>
                  <a:srgbClr val="B85C00"/>
                </a:solidFill>
                <a:latin typeface="Arial Black" pitchFamily="34" charset="0"/>
                <a:ea typeface="Arial Black" pitchFamily="34" charset="-122"/>
                <a:cs typeface="Arial Black" pitchFamily="34" charset="-120"/>
              </a:rPr>
              <a:t>Q</a:t>
            </a:r>
            <a:endParaRPr lang="en-US" sz="1100" dirty="0"/>
          </a:p>
        </p:txBody>
      </p:sp>
      <p:sp>
        <p:nvSpPr>
          <p:cNvPr id="34" name="Text 32"/>
          <p:cNvSpPr/>
          <p:nvPr/>
        </p:nvSpPr>
        <p:spPr>
          <a:xfrm>
            <a:off x="621792"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Your unencrypted RDS instance needs to be encrypted for POPIA compliance. What do you do?</a:t>
            </a:r>
            <a:endParaRPr lang="en-US" sz="1000" dirty="0"/>
          </a:p>
        </p:txBody>
      </p:sp>
      <p:sp>
        <p:nvSpPr>
          <p:cNvPr id="35" name="Shape 33"/>
          <p:cNvSpPr/>
          <p:nvPr/>
        </p:nvSpPr>
        <p:spPr>
          <a:xfrm>
            <a:off x="347472" y="3255264"/>
            <a:ext cx="3977640" cy="36576"/>
          </a:xfrm>
          <a:prstGeom prst="rect">
            <a:avLst/>
          </a:prstGeom>
          <a:solidFill>
            <a:srgbClr val="B85C00">
              <a:alpha val="30000"/>
            </a:srgbClr>
          </a:solidFill>
          <a:ln w="12700">
            <a:solidFill>
              <a:srgbClr val="B85C00">
                <a:alpha val="30000"/>
              </a:srgbClr>
            </a:solidFill>
            <a:prstDash val="solid"/>
          </a:ln>
        </p:spPr>
      </p:sp>
      <p:sp>
        <p:nvSpPr>
          <p:cNvPr id="36" name="Text 34"/>
          <p:cNvSpPr/>
          <p:nvPr/>
        </p:nvSpPr>
        <p:spPr>
          <a:xfrm>
            <a:off x="347472" y="3328416"/>
            <a:ext cx="3977640" cy="402336"/>
          </a:xfrm>
          <a:prstGeom prst="rect">
            <a:avLst/>
          </a:prstGeom>
          <a:noFill/>
          <a:ln/>
        </p:spPr>
        <p:txBody>
          <a:bodyPr wrap="square" rtlCol="0" anchor="ctr"/>
          <a:lstStyle/>
          <a:p>
            <a:pPr indent="0" marL="0">
              <a:buNone/>
            </a:pPr>
            <a:r>
              <a:rPr lang="en-US" sz="950" dirty="0">
                <a:solidFill>
                  <a:srgbClr val="B85C00"/>
                </a:solidFill>
                <a:latin typeface="Calibri" pitchFamily="34" charset="0"/>
                <a:ea typeface="Calibri" pitchFamily="34" charset="-122"/>
                <a:cs typeface="Calibri" pitchFamily="34" charset="-120"/>
              </a:rPr>
              <a:t>A  RDS encryption cannot be added to an existing instance. Take a snapshot → copy the snapshot with KMS key specified → restore a new encrypted instance → update the connection string → delete the old instance.</a:t>
            </a:r>
            <a:endParaRPr lang="en-US" sz="950" dirty="0"/>
          </a:p>
        </p:txBody>
      </p:sp>
      <p:sp>
        <p:nvSpPr>
          <p:cNvPr id="37" name="Shape 35"/>
          <p:cNvSpPr/>
          <p:nvPr/>
        </p:nvSpPr>
        <p:spPr>
          <a:xfrm>
            <a:off x="4727448" y="2798064"/>
            <a:ext cx="4160520" cy="1024128"/>
          </a:xfrm>
          <a:prstGeom prst="rect">
            <a:avLst/>
          </a:prstGeom>
          <a:solidFill>
            <a:srgbClr val="0A0A16"/>
          </a:solidFill>
          <a:ln w="12700">
            <a:solidFill>
              <a:srgbClr val="B85C00">
                <a:alpha val="60000"/>
              </a:srgbClr>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4727448" y="2798064"/>
            <a:ext cx="4160520" cy="36576"/>
          </a:xfrm>
          <a:prstGeom prst="rect">
            <a:avLst/>
          </a:prstGeom>
          <a:solidFill>
            <a:srgbClr val="B85C00"/>
          </a:solidFill>
          <a:ln w="12700">
            <a:solidFill>
              <a:srgbClr val="B85C00"/>
            </a:solidFill>
            <a:prstDash val="solid"/>
          </a:ln>
        </p:spPr>
      </p:sp>
      <p:sp>
        <p:nvSpPr>
          <p:cNvPr id="39" name="Text 37"/>
          <p:cNvSpPr/>
          <p:nvPr/>
        </p:nvSpPr>
        <p:spPr>
          <a:xfrm>
            <a:off x="4800600" y="2871216"/>
            <a:ext cx="256032" cy="274320"/>
          </a:xfrm>
          <a:prstGeom prst="rect">
            <a:avLst/>
          </a:prstGeom>
          <a:noFill/>
          <a:ln/>
        </p:spPr>
        <p:txBody>
          <a:bodyPr wrap="square" rtlCol="0" anchor="ctr"/>
          <a:lstStyle/>
          <a:p>
            <a:pPr indent="0" marL="0">
              <a:buNone/>
            </a:pPr>
            <a:r>
              <a:rPr lang="en-US" sz="1100" b="1" dirty="0">
                <a:solidFill>
                  <a:srgbClr val="B85C00"/>
                </a:solidFill>
                <a:latin typeface="Arial Black" pitchFamily="34" charset="0"/>
                <a:ea typeface="Arial Black" pitchFamily="34" charset="-122"/>
                <a:cs typeface="Arial Black" pitchFamily="34" charset="-120"/>
              </a:rPr>
              <a:t>Q</a:t>
            </a:r>
            <a:endParaRPr lang="en-US" sz="1100" dirty="0"/>
          </a:p>
        </p:txBody>
      </p:sp>
      <p:sp>
        <p:nvSpPr>
          <p:cNvPr id="40" name="Text 38"/>
          <p:cNvSpPr/>
          <p:nvPr/>
        </p:nvSpPr>
        <p:spPr>
          <a:xfrm>
            <a:off x="5093208"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An IAM policy has both Allow and Explicit Deny for the same action. What is the result?</a:t>
            </a:r>
            <a:endParaRPr lang="en-US" sz="1000" dirty="0"/>
          </a:p>
        </p:txBody>
      </p:sp>
      <p:sp>
        <p:nvSpPr>
          <p:cNvPr id="41" name="Shape 39"/>
          <p:cNvSpPr/>
          <p:nvPr/>
        </p:nvSpPr>
        <p:spPr>
          <a:xfrm>
            <a:off x="4818888" y="3255264"/>
            <a:ext cx="3977640" cy="36576"/>
          </a:xfrm>
          <a:prstGeom prst="rect">
            <a:avLst/>
          </a:prstGeom>
          <a:solidFill>
            <a:srgbClr val="B85C00">
              <a:alpha val="30000"/>
            </a:srgbClr>
          </a:solidFill>
          <a:ln w="12700">
            <a:solidFill>
              <a:srgbClr val="B85C00">
                <a:alpha val="30000"/>
              </a:srgbClr>
            </a:solidFill>
            <a:prstDash val="solid"/>
          </a:ln>
        </p:spPr>
      </p:sp>
      <p:sp>
        <p:nvSpPr>
          <p:cNvPr id="42" name="Text 40"/>
          <p:cNvSpPr/>
          <p:nvPr/>
        </p:nvSpPr>
        <p:spPr>
          <a:xfrm>
            <a:off x="4818888" y="3328416"/>
            <a:ext cx="3977640" cy="402336"/>
          </a:xfrm>
          <a:prstGeom prst="rect">
            <a:avLst/>
          </a:prstGeom>
          <a:noFill/>
          <a:ln/>
        </p:spPr>
        <p:txBody>
          <a:bodyPr wrap="square" rtlCol="0" anchor="ctr"/>
          <a:lstStyle/>
          <a:p>
            <a:pPr indent="0" marL="0">
              <a:buNone/>
            </a:pPr>
            <a:r>
              <a:rPr lang="en-US" sz="950" dirty="0">
                <a:solidFill>
                  <a:srgbClr val="B85C00"/>
                </a:solidFill>
                <a:latin typeface="Calibri" pitchFamily="34" charset="0"/>
                <a:ea typeface="Calibri" pitchFamily="34" charset="-122"/>
                <a:cs typeface="Calibri" pitchFamily="34" charset="-120"/>
              </a:rPr>
              <a:t>A  Explicit Deny ALWAYS wins — regardless of any other Allow statements in any attached policy. The action is denied.</a:t>
            </a:r>
            <a:endParaRPr lang="en-US" sz="950" dirty="0"/>
          </a:p>
        </p:txBody>
      </p:sp>
      <p:sp>
        <p:nvSpPr>
          <p:cNvPr id="43" name="Text 41"/>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0E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3C3489"/>
          </a:solidFill>
          <a:ln w="12700">
            <a:solidFill>
              <a:srgbClr val="3C3489"/>
            </a:solidFill>
            <a:prstDash val="solid"/>
          </a:ln>
        </p:spPr>
      </p:sp>
      <p:sp>
        <p:nvSpPr>
          <p:cNvPr id="3" name="Shape 1"/>
          <p:cNvSpPr/>
          <p:nvPr/>
        </p:nvSpPr>
        <p:spPr>
          <a:xfrm>
            <a:off x="73152" y="0"/>
            <a:ext cx="9070848" cy="36576"/>
          </a:xfrm>
          <a:prstGeom prst="rect">
            <a:avLst/>
          </a:prstGeom>
          <a:solidFill>
            <a:srgbClr val="3C3489"/>
          </a:solidFill>
          <a:ln w="12700">
            <a:solidFill>
              <a:srgbClr val="3C3489"/>
            </a:solidFill>
            <a:prstDash val="solid"/>
          </a:ln>
        </p:spPr>
      </p:sp>
      <p:sp>
        <p:nvSpPr>
          <p:cNvPr id="4" name="Shape 2"/>
          <p:cNvSpPr/>
          <p:nvPr/>
        </p:nvSpPr>
        <p:spPr>
          <a:xfrm>
            <a:off x="0" y="5106924"/>
            <a:ext cx="9144000" cy="36576"/>
          </a:xfrm>
          <a:prstGeom prst="rect">
            <a:avLst/>
          </a:prstGeom>
          <a:solidFill>
            <a:srgbClr val="D4AF37"/>
          </a:solidFill>
          <a:ln w="12700">
            <a:solidFill>
              <a:srgbClr val="D4AF37"/>
            </a:solidFill>
            <a:prstDash val="solid"/>
          </a:ln>
        </p:spPr>
      </p:sp>
      <p:sp>
        <p:nvSpPr>
          <p:cNvPr id="5" name="Text 3"/>
          <p:cNvSpPr/>
          <p:nvPr/>
        </p:nvSpPr>
        <p:spPr>
          <a:xfrm>
            <a:off x="274320" y="274320"/>
            <a:ext cx="2560320" cy="2011680"/>
          </a:xfrm>
          <a:prstGeom prst="rect">
            <a:avLst/>
          </a:prstGeom>
          <a:noFill/>
          <a:ln/>
        </p:spPr>
        <p:txBody>
          <a:bodyPr wrap="square" rtlCol="0" anchor="ctr"/>
          <a:lstStyle/>
          <a:p>
            <a:pPr indent="0" marL="0">
              <a:buNone/>
            </a:pPr>
            <a:r>
              <a:rPr lang="en-US" sz="14000" b="1" dirty="0">
                <a:solidFill>
                  <a:srgbClr val="3C3489">
                    <a:alpha val="25000"/>
                  </a:srgbClr>
                </a:solidFill>
                <a:latin typeface="Arial Black" pitchFamily="34" charset="0"/>
                <a:ea typeface="Arial Black" pitchFamily="34" charset="-122"/>
                <a:cs typeface="Arial Black" pitchFamily="34" charset="-120"/>
              </a:rPr>
              <a:t>05</a:t>
            </a:r>
            <a:endParaRPr lang="en-US" sz="14000" dirty="0"/>
          </a:p>
        </p:txBody>
      </p:sp>
      <p:sp>
        <p:nvSpPr>
          <p:cNvPr id="6" name="Text 4"/>
          <p:cNvSpPr/>
          <p:nvPr/>
        </p:nvSpPr>
        <p:spPr>
          <a:xfrm>
            <a:off x="2926080" y="822960"/>
            <a:ext cx="5943600" cy="347472"/>
          </a:xfrm>
          <a:prstGeom prst="rect">
            <a:avLst/>
          </a:prstGeom>
          <a:noFill/>
          <a:ln/>
        </p:spPr>
        <p:txBody>
          <a:bodyPr wrap="square" rtlCol="0" anchor="ctr"/>
          <a:lstStyle/>
          <a:p>
            <a:pPr indent="0" marL="0">
              <a:buNone/>
            </a:pPr>
            <a:r>
              <a:rPr lang="en-US" sz="1200" b="1" spc="300" kern="0" dirty="0">
                <a:solidFill>
                  <a:srgbClr val="3C3489"/>
                </a:solidFill>
                <a:latin typeface="Calibri" pitchFamily="34" charset="0"/>
                <a:ea typeface="Calibri" pitchFamily="34" charset="-122"/>
                <a:cs typeface="Calibri" pitchFamily="34" charset="-120"/>
              </a:rPr>
              <a:t>MODULE 5</a:t>
            </a:r>
            <a:endParaRPr lang="en-US" sz="1200" dirty="0"/>
          </a:p>
        </p:txBody>
      </p:sp>
      <p:sp>
        <p:nvSpPr>
          <p:cNvPr id="7" name="Text 5"/>
          <p:cNvSpPr/>
          <p:nvPr/>
        </p:nvSpPr>
        <p:spPr>
          <a:xfrm>
            <a:off x="2926080" y="1234440"/>
            <a:ext cx="5943600" cy="640080"/>
          </a:xfrm>
          <a:prstGeom prst="rect">
            <a:avLst/>
          </a:prstGeom>
          <a:noFill/>
          <a:ln/>
        </p:spPr>
        <p:txBody>
          <a:bodyPr wrap="square" rtlCol="0" anchor="ctr"/>
          <a:lstStyle/>
          <a:p>
            <a:pPr indent="0" marL="0">
              <a:buNone/>
            </a:pPr>
            <a:r>
              <a:rPr lang="en-US" sz="3400" b="1" dirty="0">
                <a:solidFill>
                  <a:srgbClr val="F0F4FF"/>
                </a:solidFill>
                <a:latin typeface="Calibri" pitchFamily="34" charset="0"/>
                <a:ea typeface="Calibri" pitchFamily="34" charset="-122"/>
                <a:cs typeface="Calibri" pitchFamily="34" charset="-120"/>
              </a:rPr>
              <a:t>Cloud Security</a:t>
            </a:r>
            <a:endParaRPr lang="en-US" sz="3400" dirty="0"/>
          </a:p>
        </p:txBody>
      </p:sp>
      <p:sp>
        <p:nvSpPr>
          <p:cNvPr id="8" name="Text 6"/>
          <p:cNvSpPr/>
          <p:nvPr/>
        </p:nvSpPr>
        <p:spPr>
          <a:xfrm>
            <a:off x="2926080" y="1901952"/>
            <a:ext cx="5943600" cy="438912"/>
          </a:xfrm>
          <a:prstGeom prst="rect">
            <a:avLst/>
          </a:prstGeom>
          <a:noFill/>
          <a:ln/>
        </p:spPr>
        <p:txBody>
          <a:bodyPr wrap="square" rtlCol="0" anchor="ctr"/>
          <a:lstStyle/>
          <a:p>
            <a:pPr indent="0" marL="0">
              <a:buNone/>
            </a:pPr>
            <a:r>
              <a:rPr lang="en-US" sz="1800" i="1" dirty="0">
                <a:solidFill>
                  <a:srgbClr val="3C3489"/>
                </a:solidFill>
                <a:latin typeface="Calibri" pitchFamily="34" charset="0"/>
                <a:ea typeface="Calibri" pitchFamily="34" charset="-122"/>
                <a:cs typeface="Calibri" pitchFamily="34" charset="-120"/>
              </a:rPr>
              <a:t>Shared Responsibility · KMS · POPIA · IR · Well-Architected</a:t>
            </a:r>
            <a:endParaRPr lang="en-US" sz="1800" dirty="0"/>
          </a:p>
        </p:txBody>
      </p:sp>
      <p:sp>
        <p:nvSpPr>
          <p:cNvPr id="9" name="Text 7"/>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Deck</a:t>
            </a:r>
            <a:endParaRPr lang="en-US" sz="900" dirty="0"/>
          </a:p>
        </p:txBody>
      </p:sp>
      <p:sp>
        <p:nvSpPr>
          <p:cNvPr id="10" name="Shape 8"/>
          <p:cNvSpPr/>
          <p:nvPr/>
        </p:nvSpPr>
        <p:spPr>
          <a:xfrm>
            <a:off x="2926080" y="2468880"/>
            <a:ext cx="54864" cy="274320"/>
          </a:xfrm>
          <a:prstGeom prst="rect">
            <a:avLst/>
          </a:prstGeom>
          <a:solidFill>
            <a:srgbClr val="3C3489"/>
          </a:solidFill>
          <a:ln w="12700">
            <a:solidFill>
              <a:srgbClr val="3C3489"/>
            </a:solidFill>
            <a:prstDash val="solid"/>
          </a:ln>
        </p:spPr>
      </p:sp>
      <p:sp>
        <p:nvSpPr>
          <p:cNvPr id="11" name="Text 9"/>
          <p:cNvSpPr/>
          <p:nvPr/>
        </p:nvSpPr>
        <p:spPr>
          <a:xfrm>
            <a:off x="3090672" y="246888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AWS secures the cloud — YOU secure what is IN the cloud</a:t>
            </a:r>
            <a:endParaRPr lang="en-US" sz="1000" dirty="0"/>
          </a:p>
        </p:txBody>
      </p:sp>
      <p:sp>
        <p:nvSpPr>
          <p:cNvPr id="12" name="Shape 10"/>
          <p:cNvSpPr/>
          <p:nvPr/>
        </p:nvSpPr>
        <p:spPr>
          <a:xfrm>
            <a:off x="2926080" y="2816352"/>
            <a:ext cx="54864" cy="274320"/>
          </a:xfrm>
          <a:prstGeom prst="rect">
            <a:avLst/>
          </a:prstGeom>
          <a:solidFill>
            <a:srgbClr val="3C3489"/>
          </a:solidFill>
          <a:ln w="12700">
            <a:solidFill>
              <a:srgbClr val="3C3489"/>
            </a:solidFill>
            <a:prstDash val="solid"/>
          </a:ln>
        </p:spPr>
      </p:sp>
      <p:sp>
        <p:nvSpPr>
          <p:cNvPr id="13" name="Text 11"/>
          <p:cNvSpPr/>
          <p:nvPr/>
        </p:nvSpPr>
        <p:spPr>
          <a:xfrm>
            <a:off x="3090672" y="2816352"/>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SSE-KMS = customer CMK + full CloudTrail audit per decrypt</a:t>
            </a:r>
            <a:endParaRPr lang="en-US" sz="1000" dirty="0"/>
          </a:p>
        </p:txBody>
      </p:sp>
      <p:sp>
        <p:nvSpPr>
          <p:cNvPr id="14" name="Shape 12"/>
          <p:cNvSpPr/>
          <p:nvPr/>
        </p:nvSpPr>
        <p:spPr>
          <a:xfrm>
            <a:off x="2926080" y="3163824"/>
            <a:ext cx="54864" cy="274320"/>
          </a:xfrm>
          <a:prstGeom prst="rect">
            <a:avLst/>
          </a:prstGeom>
          <a:solidFill>
            <a:srgbClr val="3C3489"/>
          </a:solidFill>
          <a:ln w="12700">
            <a:solidFill>
              <a:srgbClr val="3C3489"/>
            </a:solidFill>
            <a:prstDash val="solid"/>
          </a:ln>
        </p:spPr>
      </p:sp>
      <p:sp>
        <p:nvSpPr>
          <p:cNvPr id="15" name="Text 13"/>
          <p:cNvSpPr/>
          <p:nvPr/>
        </p:nvSpPr>
        <p:spPr>
          <a:xfrm>
            <a:off x="3090672" y="3163824"/>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POPIA Condition 7 = Security safeguards — encryption is not optional</a:t>
            </a:r>
            <a:endParaRPr lang="en-US" sz="1000" dirty="0"/>
          </a:p>
        </p:txBody>
      </p:sp>
      <p:sp>
        <p:nvSpPr>
          <p:cNvPr id="16" name="Shape 14"/>
          <p:cNvSpPr/>
          <p:nvPr/>
        </p:nvSpPr>
        <p:spPr>
          <a:xfrm>
            <a:off x="2926080" y="3511296"/>
            <a:ext cx="54864" cy="274320"/>
          </a:xfrm>
          <a:prstGeom prst="rect">
            <a:avLst/>
          </a:prstGeom>
          <a:solidFill>
            <a:srgbClr val="3C3489"/>
          </a:solidFill>
          <a:ln w="12700">
            <a:solidFill>
              <a:srgbClr val="3C3489"/>
            </a:solidFill>
            <a:prstDash val="solid"/>
          </a:ln>
        </p:spPr>
      </p:sp>
      <p:sp>
        <p:nvSpPr>
          <p:cNvPr id="17" name="Text 15"/>
          <p:cNvSpPr/>
          <p:nvPr/>
        </p:nvSpPr>
        <p:spPr>
          <a:xfrm>
            <a:off x="3090672" y="3511296"/>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CloudTrail: who/what/when/where for every API call — enable multi-region</a:t>
            </a:r>
            <a:endParaRPr lang="en-US" sz="1000" dirty="0"/>
          </a:p>
        </p:txBody>
      </p:sp>
      <p:sp>
        <p:nvSpPr>
          <p:cNvPr id="18" name="Shape 16"/>
          <p:cNvSpPr/>
          <p:nvPr/>
        </p:nvSpPr>
        <p:spPr>
          <a:xfrm>
            <a:off x="2926080" y="3858768"/>
            <a:ext cx="54864" cy="274320"/>
          </a:xfrm>
          <a:prstGeom prst="rect">
            <a:avLst/>
          </a:prstGeom>
          <a:solidFill>
            <a:srgbClr val="3C3489"/>
          </a:solidFill>
          <a:ln w="12700">
            <a:solidFill>
              <a:srgbClr val="3C3489"/>
            </a:solidFill>
            <a:prstDash val="solid"/>
          </a:ln>
        </p:spPr>
      </p:sp>
      <p:sp>
        <p:nvSpPr>
          <p:cNvPr id="19" name="Text 17"/>
          <p:cNvSpPr/>
          <p:nvPr/>
        </p:nvSpPr>
        <p:spPr>
          <a:xfrm>
            <a:off x="3090672" y="3858768"/>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IR Phase 3 Contain: EBS snapshot BEFORE terminating compromised instance</a:t>
            </a:r>
            <a:endParaRPr lang="en-US" sz="1000" dirty="0"/>
          </a:p>
        </p:txBody>
      </p:sp>
      <p:sp>
        <p:nvSpPr>
          <p:cNvPr id="20" name="Shape 18"/>
          <p:cNvSpPr/>
          <p:nvPr/>
        </p:nvSpPr>
        <p:spPr>
          <a:xfrm>
            <a:off x="2926080" y="4206240"/>
            <a:ext cx="54864" cy="274320"/>
          </a:xfrm>
          <a:prstGeom prst="rect">
            <a:avLst/>
          </a:prstGeom>
          <a:solidFill>
            <a:srgbClr val="3C3489"/>
          </a:solidFill>
          <a:ln w="12700">
            <a:solidFill>
              <a:srgbClr val="3C3489"/>
            </a:solidFill>
            <a:prstDash val="solid"/>
          </a:ln>
        </p:spPr>
      </p:sp>
      <p:sp>
        <p:nvSpPr>
          <p:cNvPr id="21" name="Text 19"/>
          <p:cNvSpPr/>
          <p:nvPr/>
        </p:nvSpPr>
        <p:spPr>
          <a:xfrm>
            <a:off x="3090672" y="420624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72-hour breach notification to the Information Regulator under POPIA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0E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C3489"/>
          </a:solidFill>
          <a:ln w="12700">
            <a:solidFill>
              <a:srgbClr val="3C3489"/>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3C3489">
              <a:alpha val="80000"/>
            </a:srgbClr>
          </a:solidFill>
          <a:ln w="12700">
            <a:solidFill>
              <a:srgbClr val="3C3489"/>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5</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POPIA 8 Conditions &amp; IR 6 Phases</a:t>
            </a:r>
            <a:endParaRPr lang="en-US" sz="1600" dirty="0"/>
          </a:p>
        </p:txBody>
      </p:sp>
      <p:sp>
        <p:nvSpPr>
          <p:cNvPr id="7" name="Text 5"/>
          <p:cNvSpPr/>
          <p:nvPr/>
        </p:nvSpPr>
        <p:spPr>
          <a:xfrm>
            <a:off x="256032" y="512064"/>
            <a:ext cx="4206240" cy="256032"/>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POPIA — 8 Conditions</a:t>
            </a:r>
            <a:endParaRPr lang="en-US" sz="1100" dirty="0"/>
          </a:p>
        </p:txBody>
      </p:sp>
      <p:sp>
        <p:nvSpPr>
          <p:cNvPr id="8" name="Shape 6"/>
          <p:cNvSpPr/>
          <p:nvPr/>
        </p:nvSpPr>
        <p:spPr>
          <a:xfrm>
            <a:off x="256032" y="804672"/>
            <a:ext cx="4206240" cy="384048"/>
          </a:xfrm>
          <a:prstGeom prst="rect">
            <a:avLst/>
          </a:prstGeom>
          <a:solidFill>
            <a:srgbClr val="181530"/>
          </a:solidFill>
          <a:ln w="12700">
            <a:solidFill>
              <a:srgbClr val="2A2540"/>
            </a:solidFill>
            <a:prstDash val="solid"/>
          </a:ln>
        </p:spPr>
      </p:sp>
      <p:sp>
        <p:nvSpPr>
          <p:cNvPr id="9" name="Shape 7"/>
          <p:cNvSpPr/>
          <p:nvPr/>
        </p:nvSpPr>
        <p:spPr>
          <a:xfrm>
            <a:off x="256032" y="804672"/>
            <a:ext cx="347472" cy="384048"/>
          </a:xfrm>
          <a:prstGeom prst="rect">
            <a:avLst/>
          </a:prstGeom>
          <a:solidFill>
            <a:srgbClr val="00D4FF">
              <a:alpha val="40000"/>
            </a:srgbClr>
          </a:solidFill>
          <a:ln w="12700">
            <a:solidFill>
              <a:srgbClr val="00D4FF">
                <a:alpha val="50000"/>
              </a:srgbClr>
            </a:solidFill>
            <a:prstDash val="solid"/>
          </a:ln>
        </p:spPr>
      </p:sp>
      <p:sp>
        <p:nvSpPr>
          <p:cNvPr id="10" name="Text 8"/>
          <p:cNvSpPr/>
          <p:nvPr/>
        </p:nvSpPr>
        <p:spPr>
          <a:xfrm>
            <a:off x="256032" y="804672"/>
            <a:ext cx="347472" cy="384048"/>
          </a:xfrm>
          <a:prstGeom prst="rect">
            <a:avLst/>
          </a:prstGeom>
          <a:noFill/>
          <a:ln/>
        </p:spPr>
        <p:txBody>
          <a:bodyPr wrap="square" rtlCol="0" anchor="ctr"/>
          <a:lstStyle/>
          <a:p>
            <a:pPr algn="ctr" indent="0" marL="0">
              <a:buNone/>
            </a:pPr>
            <a:r>
              <a:rPr lang="en-US" sz="1400" b="1" dirty="0">
                <a:solidFill>
                  <a:srgbClr val="00D4FF"/>
                </a:solidFill>
                <a:latin typeface="Arial Black" pitchFamily="34" charset="0"/>
                <a:ea typeface="Arial Black" pitchFamily="34" charset="-122"/>
                <a:cs typeface="Arial Black" pitchFamily="34" charset="-120"/>
              </a:rPr>
              <a:t>1</a:t>
            </a:r>
            <a:endParaRPr lang="en-US" sz="1400" dirty="0"/>
          </a:p>
        </p:txBody>
      </p:sp>
      <p:sp>
        <p:nvSpPr>
          <p:cNvPr id="11" name="Text 9"/>
          <p:cNvSpPr/>
          <p:nvPr/>
        </p:nvSpPr>
        <p:spPr>
          <a:xfrm>
            <a:off x="658368" y="804672"/>
            <a:ext cx="1188720" cy="384048"/>
          </a:xfrm>
          <a:prstGeom prst="rect">
            <a:avLst/>
          </a:prstGeom>
          <a:noFill/>
          <a:ln/>
        </p:spPr>
        <p:txBody>
          <a:bodyPr wrap="square" rtlCol="0" anchor="ctr"/>
          <a:lstStyle/>
          <a:p>
            <a:pPr indent="0" marL="0">
              <a:buNone/>
            </a:pPr>
            <a:r>
              <a:rPr lang="en-US" sz="900" b="1" dirty="0">
                <a:solidFill>
                  <a:srgbClr val="F0F4FF"/>
                </a:solidFill>
                <a:latin typeface="Calibri" pitchFamily="34" charset="0"/>
                <a:ea typeface="Calibri" pitchFamily="34" charset="-122"/>
                <a:cs typeface="Calibri" pitchFamily="34" charset="-120"/>
              </a:rPr>
              <a:t>Accountability</a:t>
            </a:r>
            <a:endParaRPr lang="en-US" sz="900" dirty="0"/>
          </a:p>
        </p:txBody>
      </p:sp>
      <p:sp>
        <p:nvSpPr>
          <p:cNvPr id="12" name="Text 10"/>
          <p:cNvSpPr/>
          <p:nvPr/>
        </p:nvSpPr>
        <p:spPr>
          <a:xfrm>
            <a:off x="1901952" y="804672"/>
            <a:ext cx="2487168" cy="384048"/>
          </a:xfrm>
          <a:prstGeom prst="rect">
            <a:avLst/>
          </a:prstGeom>
          <a:noFill/>
          <a:ln/>
        </p:spPr>
        <p:txBody>
          <a:bodyPr wrap="square" rtlCol="0" anchor="ctr"/>
          <a:lstStyle/>
          <a:p>
            <a:pPr indent="0" marL="0">
              <a:buNone/>
            </a:pPr>
            <a:r>
              <a:rPr lang="en-US" sz="850" i="1" dirty="0">
                <a:solidFill>
                  <a:srgbClr val="00D4FF"/>
                </a:solidFill>
                <a:latin typeface="Calibri" pitchFamily="34" charset="0"/>
                <a:ea typeface="Calibri" pitchFamily="34" charset="-122"/>
                <a:cs typeface="Calibri" pitchFamily="34" charset="-120"/>
              </a:rPr>
              <a:t>CloudTrail audit evidence</a:t>
            </a:r>
            <a:endParaRPr lang="en-US" sz="850" dirty="0"/>
          </a:p>
        </p:txBody>
      </p:sp>
      <p:sp>
        <p:nvSpPr>
          <p:cNvPr id="13" name="Shape 11"/>
          <p:cNvSpPr/>
          <p:nvPr/>
        </p:nvSpPr>
        <p:spPr>
          <a:xfrm>
            <a:off x="256032" y="1225296"/>
            <a:ext cx="4206240" cy="384048"/>
          </a:xfrm>
          <a:prstGeom prst="rect">
            <a:avLst/>
          </a:prstGeom>
          <a:solidFill>
            <a:srgbClr val="100E28"/>
          </a:solidFill>
          <a:ln w="12700">
            <a:solidFill>
              <a:srgbClr val="2A2540"/>
            </a:solidFill>
            <a:prstDash val="solid"/>
          </a:ln>
        </p:spPr>
      </p:sp>
      <p:sp>
        <p:nvSpPr>
          <p:cNvPr id="14" name="Shape 12"/>
          <p:cNvSpPr/>
          <p:nvPr/>
        </p:nvSpPr>
        <p:spPr>
          <a:xfrm>
            <a:off x="256032" y="1225296"/>
            <a:ext cx="347472" cy="384048"/>
          </a:xfrm>
          <a:prstGeom prst="rect">
            <a:avLst/>
          </a:prstGeom>
          <a:solidFill>
            <a:srgbClr val="00CC77">
              <a:alpha val="40000"/>
            </a:srgbClr>
          </a:solidFill>
          <a:ln w="12700">
            <a:solidFill>
              <a:srgbClr val="00CC77">
                <a:alpha val="50000"/>
              </a:srgbClr>
            </a:solidFill>
            <a:prstDash val="solid"/>
          </a:ln>
        </p:spPr>
      </p:sp>
      <p:sp>
        <p:nvSpPr>
          <p:cNvPr id="15" name="Text 13"/>
          <p:cNvSpPr/>
          <p:nvPr/>
        </p:nvSpPr>
        <p:spPr>
          <a:xfrm>
            <a:off x="256032" y="1225296"/>
            <a:ext cx="347472" cy="384048"/>
          </a:xfrm>
          <a:prstGeom prst="rect">
            <a:avLst/>
          </a:prstGeom>
          <a:noFill/>
          <a:ln/>
        </p:spPr>
        <p:txBody>
          <a:bodyPr wrap="square" rtlCol="0" anchor="ctr"/>
          <a:lstStyle/>
          <a:p>
            <a:pPr algn="ctr" indent="0" marL="0">
              <a:buNone/>
            </a:pPr>
            <a:r>
              <a:rPr lang="en-US" sz="1400" b="1" dirty="0">
                <a:solidFill>
                  <a:srgbClr val="00CC77"/>
                </a:solidFill>
                <a:latin typeface="Arial Black" pitchFamily="34" charset="0"/>
                <a:ea typeface="Arial Black" pitchFamily="34" charset="-122"/>
                <a:cs typeface="Arial Black" pitchFamily="34" charset="-120"/>
              </a:rPr>
              <a:t>2</a:t>
            </a:r>
            <a:endParaRPr lang="en-US" sz="1400" dirty="0"/>
          </a:p>
        </p:txBody>
      </p:sp>
      <p:sp>
        <p:nvSpPr>
          <p:cNvPr id="16" name="Text 14"/>
          <p:cNvSpPr/>
          <p:nvPr/>
        </p:nvSpPr>
        <p:spPr>
          <a:xfrm>
            <a:off x="658368" y="1225296"/>
            <a:ext cx="1188720" cy="384048"/>
          </a:xfrm>
          <a:prstGeom prst="rect">
            <a:avLst/>
          </a:prstGeom>
          <a:noFill/>
          <a:ln/>
        </p:spPr>
        <p:txBody>
          <a:bodyPr wrap="square" rtlCol="0" anchor="ctr"/>
          <a:lstStyle/>
          <a:p>
            <a:pPr indent="0" marL="0">
              <a:buNone/>
            </a:pPr>
            <a:r>
              <a:rPr lang="en-US" sz="900" b="1" dirty="0">
                <a:solidFill>
                  <a:srgbClr val="F0F4FF"/>
                </a:solidFill>
                <a:latin typeface="Calibri" pitchFamily="34" charset="0"/>
                <a:ea typeface="Calibri" pitchFamily="34" charset="-122"/>
                <a:cs typeface="Calibri" pitchFamily="34" charset="-120"/>
              </a:rPr>
              <a:t>Processing limitation</a:t>
            </a:r>
            <a:endParaRPr lang="en-US" sz="900" dirty="0"/>
          </a:p>
        </p:txBody>
      </p:sp>
      <p:sp>
        <p:nvSpPr>
          <p:cNvPr id="17" name="Text 15"/>
          <p:cNvSpPr/>
          <p:nvPr/>
        </p:nvSpPr>
        <p:spPr>
          <a:xfrm>
            <a:off x="1901952" y="1225296"/>
            <a:ext cx="2487168" cy="384048"/>
          </a:xfrm>
          <a:prstGeom prst="rect">
            <a:avLst/>
          </a:prstGeom>
          <a:noFill/>
          <a:ln/>
        </p:spPr>
        <p:txBody>
          <a:bodyPr wrap="square" rtlCol="0" anchor="ctr"/>
          <a:lstStyle/>
          <a:p>
            <a:pPr indent="0" marL="0">
              <a:buNone/>
            </a:pPr>
            <a:r>
              <a:rPr lang="en-US" sz="850" i="1" dirty="0">
                <a:solidFill>
                  <a:srgbClr val="00CC77"/>
                </a:solidFill>
                <a:latin typeface="Calibri" pitchFamily="34" charset="0"/>
                <a:ea typeface="Calibri" pitchFamily="34" charset="-122"/>
                <a:cs typeface="Calibri" pitchFamily="34" charset="-120"/>
              </a:rPr>
              <a:t>IAM least-privilege on PII</a:t>
            </a:r>
            <a:endParaRPr lang="en-US" sz="850" dirty="0"/>
          </a:p>
        </p:txBody>
      </p:sp>
      <p:sp>
        <p:nvSpPr>
          <p:cNvPr id="18" name="Shape 16"/>
          <p:cNvSpPr/>
          <p:nvPr/>
        </p:nvSpPr>
        <p:spPr>
          <a:xfrm>
            <a:off x="256032" y="1645920"/>
            <a:ext cx="4206240" cy="384048"/>
          </a:xfrm>
          <a:prstGeom prst="rect">
            <a:avLst/>
          </a:prstGeom>
          <a:solidFill>
            <a:srgbClr val="181530"/>
          </a:solidFill>
          <a:ln w="12700">
            <a:solidFill>
              <a:srgbClr val="2A2540"/>
            </a:solidFill>
            <a:prstDash val="solid"/>
          </a:ln>
        </p:spPr>
      </p:sp>
      <p:sp>
        <p:nvSpPr>
          <p:cNvPr id="19" name="Shape 17"/>
          <p:cNvSpPr/>
          <p:nvPr/>
        </p:nvSpPr>
        <p:spPr>
          <a:xfrm>
            <a:off x="256032" y="1645920"/>
            <a:ext cx="347472" cy="384048"/>
          </a:xfrm>
          <a:prstGeom prst="rect">
            <a:avLst/>
          </a:prstGeom>
          <a:solidFill>
            <a:srgbClr val="B388FF">
              <a:alpha val="40000"/>
            </a:srgbClr>
          </a:solidFill>
          <a:ln w="12700">
            <a:solidFill>
              <a:srgbClr val="B388FF">
                <a:alpha val="50000"/>
              </a:srgbClr>
            </a:solidFill>
            <a:prstDash val="solid"/>
          </a:ln>
        </p:spPr>
      </p:sp>
      <p:sp>
        <p:nvSpPr>
          <p:cNvPr id="20" name="Text 18"/>
          <p:cNvSpPr/>
          <p:nvPr/>
        </p:nvSpPr>
        <p:spPr>
          <a:xfrm>
            <a:off x="256032" y="1645920"/>
            <a:ext cx="347472" cy="384048"/>
          </a:xfrm>
          <a:prstGeom prst="rect">
            <a:avLst/>
          </a:prstGeom>
          <a:noFill/>
          <a:ln/>
        </p:spPr>
        <p:txBody>
          <a:bodyPr wrap="square" rtlCol="0" anchor="ctr"/>
          <a:lstStyle/>
          <a:p>
            <a:pPr algn="ctr" indent="0" marL="0">
              <a:buNone/>
            </a:pPr>
            <a:r>
              <a:rPr lang="en-US" sz="1400" b="1" dirty="0">
                <a:solidFill>
                  <a:srgbClr val="B388FF"/>
                </a:solidFill>
                <a:latin typeface="Arial Black" pitchFamily="34" charset="0"/>
                <a:ea typeface="Arial Black" pitchFamily="34" charset="-122"/>
                <a:cs typeface="Arial Black" pitchFamily="34" charset="-120"/>
              </a:rPr>
              <a:t>3</a:t>
            </a:r>
            <a:endParaRPr lang="en-US" sz="1400" dirty="0"/>
          </a:p>
        </p:txBody>
      </p:sp>
      <p:sp>
        <p:nvSpPr>
          <p:cNvPr id="21" name="Text 19"/>
          <p:cNvSpPr/>
          <p:nvPr/>
        </p:nvSpPr>
        <p:spPr>
          <a:xfrm>
            <a:off x="658368" y="1645920"/>
            <a:ext cx="1188720" cy="384048"/>
          </a:xfrm>
          <a:prstGeom prst="rect">
            <a:avLst/>
          </a:prstGeom>
          <a:noFill/>
          <a:ln/>
        </p:spPr>
        <p:txBody>
          <a:bodyPr wrap="square" rtlCol="0" anchor="ctr"/>
          <a:lstStyle/>
          <a:p>
            <a:pPr indent="0" marL="0">
              <a:buNone/>
            </a:pPr>
            <a:r>
              <a:rPr lang="en-US" sz="900" b="1" dirty="0">
                <a:solidFill>
                  <a:srgbClr val="F0F4FF"/>
                </a:solidFill>
                <a:latin typeface="Calibri" pitchFamily="34" charset="0"/>
                <a:ea typeface="Calibri" pitchFamily="34" charset="-122"/>
                <a:cs typeface="Calibri" pitchFamily="34" charset="-120"/>
              </a:rPr>
              <a:t>Purpose specification</a:t>
            </a:r>
            <a:endParaRPr lang="en-US" sz="900" dirty="0"/>
          </a:p>
        </p:txBody>
      </p:sp>
      <p:sp>
        <p:nvSpPr>
          <p:cNvPr id="22" name="Text 20"/>
          <p:cNvSpPr/>
          <p:nvPr/>
        </p:nvSpPr>
        <p:spPr>
          <a:xfrm>
            <a:off x="1901952" y="1645920"/>
            <a:ext cx="2487168" cy="384048"/>
          </a:xfrm>
          <a:prstGeom prst="rect">
            <a:avLst/>
          </a:prstGeom>
          <a:noFill/>
          <a:ln/>
        </p:spPr>
        <p:txBody>
          <a:bodyPr wrap="square" rtlCol="0" anchor="ctr"/>
          <a:lstStyle/>
          <a:p>
            <a:pPr indent="0" marL="0">
              <a:buNone/>
            </a:pPr>
            <a:r>
              <a:rPr lang="en-US" sz="850" i="1" dirty="0">
                <a:solidFill>
                  <a:srgbClr val="B388FF"/>
                </a:solidFill>
                <a:latin typeface="Calibri" pitchFamily="34" charset="0"/>
                <a:ea typeface="Calibri" pitchFamily="34" charset="-122"/>
                <a:cs typeface="Calibri" pitchFamily="34" charset="-120"/>
              </a:rPr>
              <a:t>Data classification tags</a:t>
            </a:r>
            <a:endParaRPr lang="en-US" sz="850" dirty="0"/>
          </a:p>
        </p:txBody>
      </p:sp>
      <p:sp>
        <p:nvSpPr>
          <p:cNvPr id="23" name="Shape 21"/>
          <p:cNvSpPr/>
          <p:nvPr/>
        </p:nvSpPr>
        <p:spPr>
          <a:xfrm>
            <a:off x="256032" y="2066544"/>
            <a:ext cx="4206240" cy="384048"/>
          </a:xfrm>
          <a:prstGeom prst="rect">
            <a:avLst/>
          </a:prstGeom>
          <a:solidFill>
            <a:srgbClr val="100E28"/>
          </a:solidFill>
          <a:ln w="12700">
            <a:solidFill>
              <a:srgbClr val="2A2540"/>
            </a:solidFill>
            <a:prstDash val="solid"/>
          </a:ln>
        </p:spPr>
      </p:sp>
      <p:sp>
        <p:nvSpPr>
          <p:cNvPr id="24" name="Shape 22"/>
          <p:cNvSpPr/>
          <p:nvPr/>
        </p:nvSpPr>
        <p:spPr>
          <a:xfrm>
            <a:off x="256032" y="2066544"/>
            <a:ext cx="347472" cy="384048"/>
          </a:xfrm>
          <a:prstGeom prst="rect">
            <a:avLst/>
          </a:prstGeom>
          <a:solidFill>
            <a:srgbClr val="FFD166">
              <a:alpha val="40000"/>
            </a:srgbClr>
          </a:solidFill>
          <a:ln w="12700">
            <a:solidFill>
              <a:srgbClr val="FFD166">
                <a:alpha val="50000"/>
              </a:srgbClr>
            </a:solidFill>
            <a:prstDash val="solid"/>
          </a:ln>
        </p:spPr>
      </p:sp>
      <p:sp>
        <p:nvSpPr>
          <p:cNvPr id="25" name="Text 23"/>
          <p:cNvSpPr/>
          <p:nvPr/>
        </p:nvSpPr>
        <p:spPr>
          <a:xfrm>
            <a:off x="256032" y="2066544"/>
            <a:ext cx="347472" cy="384048"/>
          </a:xfrm>
          <a:prstGeom prst="rect">
            <a:avLst/>
          </a:prstGeom>
          <a:noFill/>
          <a:ln/>
        </p:spPr>
        <p:txBody>
          <a:bodyPr wrap="square" rtlCol="0" anchor="ctr"/>
          <a:lstStyle/>
          <a:p>
            <a:pPr algn="ctr" indent="0" marL="0">
              <a:buNone/>
            </a:pPr>
            <a:r>
              <a:rPr lang="en-US" sz="1400" b="1" dirty="0">
                <a:solidFill>
                  <a:srgbClr val="FFD166"/>
                </a:solidFill>
                <a:latin typeface="Arial Black" pitchFamily="34" charset="0"/>
                <a:ea typeface="Arial Black" pitchFamily="34" charset="-122"/>
                <a:cs typeface="Arial Black" pitchFamily="34" charset="-120"/>
              </a:rPr>
              <a:t>4</a:t>
            </a:r>
            <a:endParaRPr lang="en-US" sz="1400" dirty="0"/>
          </a:p>
        </p:txBody>
      </p:sp>
      <p:sp>
        <p:nvSpPr>
          <p:cNvPr id="26" name="Text 24"/>
          <p:cNvSpPr/>
          <p:nvPr/>
        </p:nvSpPr>
        <p:spPr>
          <a:xfrm>
            <a:off x="658368" y="2066544"/>
            <a:ext cx="1188720" cy="384048"/>
          </a:xfrm>
          <a:prstGeom prst="rect">
            <a:avLst/>
          </a:prstGeom>
          <a:noFill/>
          <a:ln/>
        </p:spPr>
        <p:txBody>
          <a:bodyPr wrap="square" rtlCol="0" anchor="ctr"/>
          <a:lstStyle/>
          <a:p>
            <a:pPr indent="0" marL="0">
              <a:buNone/>
            </a:pPr>
            <a:r>
              <a:rPr lang="en-US" sz="900" b="1" dirty="0">
                <a:solidFill>
                  <a:srgbClr val="F0F4FF"/>
                </a:solidFill>
                <a:latin typeface="Calibri" pitchFamily="34" charset="0"/>
                <a:ea typeface="Calibri" pitchFamily="34" charset="-122"/>
                <a:cs typeface="Calibri" pitchFamily="34" charset="-120"/>
              </a:rPr>
              <a:t>Further processing</a:t>
            </a:r>
            <a:endParaRPr lang="en-US" sz="900" dirty="0"/>
          </a:p>
        </p:txBody>
      </p:sp>
      <p:sp>
        <p:nvSpPr>
          <p:cNvPr id="27" name="Text 25"/>
          <p:cNvSpPr/>
          <p:nvPr/>
        </p:nvSpPr>
        <p:spPr>
          <a:xfrm>
            <a:off x="1901952" y="2066544"/>
            <a:ext cx="2487168" cy="384048"/>
          </a:xfrm>
          <a:prstGeom prst="rect">
            <a:avLst/>
          </a:prstGeom>
          <a:noFill/>
          <a:ln/>
        </p:spPr>
        <p:txBody>
          <a:bodyPr wrap="square" rtlCol="0" anchor="ctr"/>
          <a:lstStyle/>
          <a:p>
            <a:pPr indent="0" marL="0">
              <a:buNone/>
            </a:pPr>
            <a:r>
              <a:rPr lang="en-US" sz="850" i="1" dirty="0">
                <a:solidFill>
                  <a:srgbClr val="FFD166"/>
                </a:solidFill>
                <a:latin typeface="Calibri" pitchFamily="34" charset="0"/>
                <a:ea typeface="Calibri" pitchFamily="34" charset="-122"/>
                <a:cs typeface="Calibri" pitchFamily="34" charset="-120"/>
              </a:rPr>
              <a:t>S3 bucket policies restrict use</a:t>
            </a:r>
            <a:endParaRPr lang="en-US" sz="850" dirty="0"/>
          </a:p>
        </p:txBody>
      </p:sp>
      <p:sp>
        <p:nvSpPr>
          <p:cNvPr id="28" name="Shape 26"/>
          <p:cNvSpPr/>
          <p:nvPr/>
        </p:nvSpPr>
        <p:spPr>
          <a:xfrm>
            <a:off x="256032" y="2487168"/>
            <a:ext cx="4206240" cy="384048"/>
          </a:xfrm>
          <a:prstGeom prst="rect">
            <a:avLst/>
          </a:prstGeom>
          <a:solidFill>
            <a:srgbClr val="181530"/>
          </a:solidFill>
          <a:ln w="12700">
            <a:solidFill>
              <a:srgbClr val="2A2540"/>
            </a:solidFill>
            <a:prstDash val="solid"/>
          </a:ln>
        </p:spPr>
      </p:sp>
      <p:sp>
        <p:nvSpPr>
          <p:cNvPr id="29" name="Shape 27"/>
          <p:cNvSpPr/>
          <p:nvPr/>
        </p:nvSpPr>
        <p:spPr>
          <a:xfrm>
            <a:off x="256032" y="2487168"/>
            <a:ext cx="347472" cy="384048"/>
          </a:xfrm>
          <a:prstGeom prst="rect">
            <a:avLst/>
          </a:prstGeom>
          <a:solidFill>
            <a:srgbClr val="FF6B35">
              <a:alpha val="40000"/>
            </a:srgbClr>
          </a:solidFill>
          <a:ln w="12700">
            <a:solidFill>
              <a:srgbClr val="FF6B35">
                <a:alpha val="50000"/>
              </a:srgbClr>
            </a:solidFill>
            <a:prstDash val="solid"/>
          </a:ln>
        </p:spPr>
      </p:sp>
      <p:sp>
        <p:nvSpPr>
          <p:cNvPr id="30" name="Text 28"/>
          <p:cNvSpPr/>
          <p:nvPr/>
        </p:nvSpPr>
        <p:spPr>
          <a:xfrm>
            <a:off x="256032" y="2487168"/>
            <a:ext cx="347472" cy="384048"/>
          </a:xfrm>
          <a:prstGeom prst="rect">
            <a:avLst/>
          </a:prstGeom>
          <a:noFill/>
          <a:ln/>
        </p:spPr>
        <p:txBody>
          <a:bodyPr wrap="square" rtlCol="0" anchor="ctr"/>
          <a:lstStyle/>
          <a:p>
            <a:pPr algn="ctr" indent="0" marL="0">
              <a:buNone/>
            </a:pPr>
            <a:r>
              <a:rPr lang="en-US" sz="1400" b="1" dirty="0">
                <a:solidFill>
                  <a:srgbClr val="FF6B35"/>
                </a:solidFill>
                <a:latin typeface="Arial Black" pitchFamily="34" charset="0"/>
                <a:ea typeface="Arial Black" pitchFamily="34" charset="-122"/>
                <a:cs typeface="Arial Black" pitchFamily="34" charset="-120"/>
              </a:rPr>
              <a:t>5</a:t>
            </a:r>
            <a:endParaRPr lang="en-US" sz="1400" dirty="0"/>
          </a:p>
        </p:txBody>
      </p:sp>
      <p:sp>
        <p:nvSpPr>
          <p:cNvPr id="31" name="Text 29"/>
          <p:cNvSpPr/>
          <p:nvPr/>
        </p:nvSpPr>
        <p:spPr>
          <a:xfrm>
            <a:off x="658368" y="2487168"/>
            <a:ext cx="1188720" cy="384048"/>
          </a:xfrm>
          <a:prstGeom prst="rect">
            <a:avLst/>
          </a:prstGeom>
          <a:noFill/>
          <a:ln/>
        </p:spPr>
        <p:txBody>
          <a:bodyPr wrap="square" rtlCol="0" anchor="ctr"/>
          <a:lstStyle/>
          <a:p>
            <a:pPr indent="0" marL="0">
              <a:buNone/>
            </a:pPr>
            <a:r>
              <a:rPr lang="en-US" sz="900" b="1" dirty="0">
                <a:solidFill>
                  <a:srgbClr val="F0F4FF"/>
                </a:solidFill>
                <a:latin typeface="Calibri" pitchFamily="34" charset="0"/>
                <a:ea typeface="Calibri" pitchFamily="34" charset="-122"/>
                <a:cs typeface="Calibri" pitchFamily="34" charset="-120"/>
              </a:rPr>
              <a:t>Information quality</a:t>
            </a:r>
            <a:endParaRPr lang="en-US" sz="900" dirty="0"/>
          </a:p>
        </p:txBody>
      </p:sp>
      <p:sp>
        <p:nvSpPr>
          <p:cNvPr id="32" name="Text 30"/>
          <p:cNvSpPr/>
          <p:nvPr/>
        </p:nvSpPr>
        <p:spPr>
          <a:xfrm>
            <a:off x="1901952" y="2487168"/>
            <a:ext cx="2487168" cy="384048"/>
          </a:xfrm>
          <a:prstGeom prst="rect">
            <a:avLst/>
          </a:prstGeom>
          <a:noFill/>
          <a:ln/>
        </p:spPr>
        <p:txBody>
          <a:bodyPr wrap="square" rtlCol="0" anchor="ctr"/>
          <a:lstStyle/>
          <a:p>
            <a:pPr indent="0" marL="0">
              <a:buNone/>
            </a:pPr>
            <a:r>
              <a:rPr lang="en-US" sz="850" i="1" dirty="0">
                <a:solidFill>
                  <a:srgbClr val="FF6B35"/>
                </a:solidFill>
                <a:latin typeface="Calibri" pitchFamily="34" charset="0"/>
                <a:ea typeface="Calibri" pitchFamily="34" charset="-122"/>
                <a:cs typeface="Calibri" pitchFamily="34" charset="-120"/>
              </a:rPr>
              <a:t>Automated backups + audit logs</a:t>
            </a:r>
            <a:endParaRPr lang="en-US" sz="850" dirty="0"/>
          </a:p>
        </p:txBody>
      </p:sp>
      <p:sp>
        <p:nvSpPr>
          <p:cNvPr id="33" name="Shape 31"/>
          <p:cNvSpPr/>
          <p:nvPr/>
        </p:nvSpPr>
        <p:spPr>
          <a:xfrm>
            <a:off x="256032" y="2907792"/>
            <a:ext cx="4206240" cy="384048"/>
          </a:xfrm>
          <a:prstGeom prst="rect">
            <a:avLst/>
          </a:prstGeom>
          <a:solidFill>
            <a:srgbClr val="100E28"/>
          </a:solidFill>
          <a:ln w="12700">
            <a:solidFill>
              <a:srgbClr val="2A2540"/>
            </a:solidFill>
            <a:prstDash val="solid"/>
          </a:ln>
        </p:spPr>
      </p:sp>
      <p:sp>
        <p:nvSpPr>
          <p:cNvPr id="34" name="Shape 32"/>
          <p:cNvSpPr/>
          <p:nvPr/>
        </p:nvSpPr>
        <p:spPr>
          <a:xfrm>
            <a:off x="256032" y="2907792"/>
            <a:ext cx="347472" cy="384048"/>
          </a:xfrm>
          <a:prstGeom prst="rect">
            <a:avLst/>
          </a:prstGeom>
          <a:solidFill>
            <a:srgbClr val="06FFC8">
              <a:alpha val="40000"/>
            </a:srgbClr>
          </a:solidFill>
          <a:ln w="12700">
            <a:solidFill>
              <a:srgbClr val="06FFC8">
                <a:alpha val="50000"/>
              </a:srgbClr>
            </a:solidFill>
            <a:prstDash val="solid"/>
          </a:ln>
        </p:spPr>
      </p:sp>
      <p:sp>
        <p:nvSpPr>
          <p:cNvPr id="35" name="Text 33"/>
          <p:cNvSpPr/>
          <p:nvPr/>
        </p:nvSpPr>
        <p:spPr>
          <a:xfrm>
            <a:off x="256032" y="2907792"/>
            <a:ext cx="347472" cy="384048"/>
          </a:xfrm>
          <a:prstGeom prst="rect">
            <a:avLst/>
          </a:prstGeom>
          <a:noFill/>
          <a:ln/>
        </p:spPr>
        <p:txBody>
          <a:bodyPr wrap="square" rtlCol="0" anchor="ctr"/>
          <a:lstStyle/>
          <a:p>
            <a:pPr algn="ctr" indent="0" marL="0">
              <a:buNone/>
            </a:pPr>
            <a:r>
              <a:rPr lang="en-US" sz="1400" b="1" dirty="0">
                <a:solidFill>
                  <a:srgbClr val="06FFC8"/>
                </a:solidFill>
                <a:latin typeface="Arial Black" pitchFamily="34" charset="0"/>
                <a:ea typeface="Arial Black" pitchFamily="34" charset="-122"/>
                <a:cs typeface="Arial Black" pitchFamily="34" charset="-120"/>
              </a:rPr>
              <a:t>6</a:t>
            </a:r>
            <a:endParaRPr lang="en-US" sz="1400" dirty="0"/>
          </a:p>
        </p:txBody>
      </p:sp>
      <p:sp>
        <p:nvSpPr>
          <p:cNvPr id="36" name="Text 34"/>
          <p:cNvSpPr/>
          <p:nvPr/>
        </p:nvSpPr>
        <p:spPr>
          <a:xfrm>
            <a:off x="658368" y="2907792"/>
            <a:ext cx="1188720" cy="384048"/>
          </a:xfrm>
          <a:prstGeom prst="rect">
            <a:avLst/>
          </a:prstGeom>
          <a:noFill/>
          <a:ln/>
        </p:spPr>
        <p:txBody>
          <a:bodyPr wrap="square" rtlCol="0" anchor="ctr"/>
          <a:lstStyle/>
          <a:p>
            <a:pPr indent="0" marL="0">
              <a:buNone/>
            </a:pPr>
            <a:r>
              <a:rPr lang="en-US" sz="900" b="1" dirty="0">
                <a:solidFill>
                  <a:srgbClr val="F0F4FF"/>
                </a:solidFill>
                <a:latin typeface="Calibri" pitchFamily="34" charset="0"/>
                <a:ea typeface="Calibri" pitchFamily="34" charset="-122"/>
                <a:cs typeface="Calibri" pitchFamily="34" charset="-120"/>
              </a:rPr>
              <a:t>Openness</a:t>
            </a:r>
            <a:endParaRPr lang="en-US" sz="900" dirty="0"/>
          </a:p>
        </p:txBody>
      </p:sp>
      <p:sp>
        <p:nvSpPr>
          <p:cNvPr id="37" name="Text 35"/>
          <p:cNvSpPr/>
          <p:nvPr/>
        </p:nvSpPr>
        <p:spPr>
          <a:xfrm>
            <a:off x="1901952" y="2907792"/>
            <a:ext cx="2487168" cy="384048"/>
          </a:xfrm>
          <a:prstGeom prst="rect">
            <a:avLst/>
          </a:prstGeom>
          <a:noFill/>
          <a:ln/>
        </p:spPr>
        <p:txBody>
          <a:bodyPr wrap="square" rtlCol="0" anchor="ctr"/>
          <a:lstStyle/>
          <a:p>
            <a:pPr indent="0" marL="0">
              <a:buNone/>
            </a:pPr>
            <a:r>
              <a:rPr lang="en-US" sz="850" i="1" dirty="0">
                <a:solidFill>
                  <a:srgbClr val="06FFC8"/>
                </a:solidFill>
                <a:latin typeface="Calibri" pitchFamily="34" charset="0"/>
                <a:ea typeface="Calibri" pitchFamily="34" charset="-122"/>
                <a:cs typeface="Calibri" pitchFamily="34" charset="-120"/>
              </a:rPr>
              <a:t>Privacy notice on S3 website</a:t>
            </a:r>
            <a:endParaRPr lang="en-US" sz="850" dirty="0"/>
          </a:p>
        </p:txBody>
      </p:sp>
      <p:sp>
        <p:nvSpPr>
          <p:cNvPr id="38" name="Shape 36"/>
          <p:cNvSpPr/>
          <p:nvPr/>
        </p:nvSpPr>
        <p:spPr>
          <a:xfrm>
            <a:off x="256032" y="3328416"/>
            <a:ext cx="4206240" cy="384048"/>
          </a:xfrm>
          <a:prstGeom prst="rect">
            <a:avLst/>
          </a:prstGeom>
          <a:solidFill>
            <a:srgbClr val="181530"/>
          </a:solidFill>
          <a:ln w="12700">
            <a:solidFill>
              <a:srgbClr val="2A2540"/>
            </a:solidFill>
            <a:prstDash val="solid"/>
          </a:ln>
        </p:spPr>
      </p:sp>
      <p:sp>
        <p:nvSpPr>
          <p:cNvPr id="39" name="Shape 37"/>
          <p:cNvSpPr/>
          <p:nvPr/>
        </p:nvSpPr>
        <p:spPr>
          <a:xfrm>
            <a:off x="256032" y="3328416"/>
            <a:ext cx="347472" cy="384048"/>
          </a:xfrm>
          <a:prstGeom prst="rect">
            <a:avLst/>
          </a:prstGeom>
          <a:solidFill>
            <a:srgbClr val="FF6B6B">
              <a:alpha val="40000"/>
            </a:srgbClr>
          </a:solidFill>
          <a:ln w="12700">
            <a:solidFill>
              <a:srgbClr val="FF6B6B">
                <a:alpha val="50000"/>
              </a:srgbClr>
            </a:solidFill>
            <a:prstDash val="solid"/>
          </a:ln>
        </p:spPr>
      </p:sp>
      <p:sp>
        <p:nvSpPr>
          <p:cNvPr id="40" name="Text 38"/>
          <p:cNvSpPr/>
          <p:nvPr/>
        </p:nvSpPr>
        <p:spPr>
          <a:xfrm>
            <a:off x="256032" y="3328416"/>
            <a:ext cx="347472" cy="384048"/>
          </a:xfrm>
          <a:prstGeom prst="rect">
            <a:avLst/>
          </a:prstGeom>
          <a:noFill/>
          <a:ln/>
        </p:spPr>
        <p:txBody>
          <a:bodyPr wrap="square" rtlCol="0" anchor="ctr"/>
          <a:lstStyle/>
          <a:p>
            <a:pPr algn="ctr" indent="0" marL="0">
              <a:buNone/>
            </a:pPr>
            <a:r>
              <a:rPr lang="en-US" sz="1400" b="1" dirty="0">
                <a:solidFill>
                  <a:srgbClr val="FF6B6B"/>
                </a:solidFill>
                <a:latin typeface="Arial Black" pitchFamily="34" charset="0"/>
                <a:ea typeface="Arial Black" pitchFamily="34" charset="-122"/>
                <a:cs typeface="Arial Black" pitchFamily="34" charset="-120"/>
              </a:rPr>
              <a:t>7</a:t>
            </a:r>
            <a:endParaRPr lang="en-US" sz="1400" dirty="0"/>
          </a:p>
        </p:txBody>
      </p:sp>
      <p:sp>
        <p:nvSpPr>
          <p:cNvPr id="41" name="Text 39"/>
          <p:cNvSpPr/>
          <p:nvPr/>
        </p:nvSpPr>
        <p:spPr>
          <a:xfrm>
            <a:off x="658368" y="3328416"/>
            <a:ext cx="1188720" cy="384048"/>
          </a:xfrm>
          <a:prstGeom prst="rect">
            <a:avLst/>
          </a:prstGeom>
          <a:noFill/>
          <a:ln/>
        </p:spPr>
        <p:txBody>
          <a:bodyPr wrap="square" rtlCol="0" anchor="ctr"/>
          <a:lstStyle/>
          <a:p>
            <a:pPr indent="0" marL="0">
              <a:buNone/>
            </a:pPr>
            <a:r>
              <a:rPr lang="en-US" sz="900" b="1" dirty="0">
                <a:solidFill>
                  <a:srgbClr val="F0F4FF"/>
                </a:solidFill>
                <a:latin typeface="Calibri" pitchFamily="34" charset="0"/>
                <a:ea typeface="Calibri" pitchFamily="34" charset="-122"/>
                <a:cs typeface="Calibri" pitchFamily="34" charset="-120"/>
              </a:rPr>
              <a:t>Security safeguards</a:t>
            </a:r>
            <a:endParaRPr lang="en-US" sz="900" dirty="0"/>
          </a:p>
        </p:txBody>
      </p:sp>
      <p:sp>
        <p:nvSpPr>
          <p:cNvPr id="42" name="Text 40"/>
          <p:cNvSpPr/>
          <p:nvPr/>
        </p:nvSpPr>
        <p:spPr>
          <a:xfrm>
            <a:off x="1901952" y="3328416"/>
            <a:ext cx="2487168" cy="384048"/>
          </a:xfrm>
          <a:prstGeom prst="rect">
            <a:avLst/>
          </a:prstGeom>
          <a:noFill/>
          <a:ln/>
        </p:spPr>
        <p:txBody>
          <a:bodyPr wrap="square" rtlCol="0" anchor="ctr"/>
          <a:lstStyle/>
          <a:p>
            <a:pPr indent="0" marL="0">
              <a:buNone/>
            </a:pPr>
            <a:r>
              <a:rPr lang="en-US" sz="850" i="1" dirty="0">
                <a:solidFill>
                  <a:srgbClr val="FF6B6B"/>
                </a:solidFill>
                <a:latin typeface="Calibri" pitchFamily="34" charset="0"/>
                <a:ea typeface="Calibri" pitchFamily="34" charset="-122"/>
                <a:cs typeface="Calibri" pitchFamily="34" charset="-120"/>
              </a:rPr>
              <a:t>KMS · TLS · MFA · SGs · GuardDuty</a:t>
            </a:r>
            <a:endParaRPr lang="en-US" sz="850" dirty="0"/>
          </a:p>
        </p:txBody>
      </p:sp>
      <p:sp>
        <p:nvSpPr>
          <p:cNvPr id="43" name="Shape 41"/>
          <p:cNvSpPr/>
          <p:nvPr/>
        </p:nvSpPr>
        <p:spPr>
          <a:xfrm>
            <a:off x="256032" y="3749040"/>
            <a:ext cx="4206240" cy="384048"/>
          </a:xfrm>
          <a:prstGeom prst="rect">
            <a:avLst/>
          </a:prstGeom>
          <a:solidFill>
            <a:srgbClr val="100E28"/>
          </a:solidFill>
          <a:ln w="12700">
            <a:solidFill>
              <a:srgbClr val="2A2540"/>
            </a:solidFill>
            <a:prstDash val="solid"/>
          </a:ln>
        </p:spPr>
      </p:sp>
      <p:sp>
        <p:nvSpPr>
          <p:cNvPr id="44" name="Shape 42"/>
          <p:cNvSpPr/>
          <p:nvPr/>
        </p:nvSpPr>
        <p:spPr>
          <a:xfrm>
            <a:off x="256032" y="3749040"/>
            <a:ext cx="347472" cy="384048"/>
          </a:xfrm>
          <a:prstGeom prst="rect">
            <a:avLst/>
          </a:prstGeom>
          <a:solidFill>
            <a:srgbClr val="00FF88">
              <a:alpha val="40000"/>
            </a:srgbClr>
          </a:solidFill>
          <a:ln w="12700">
            <a:solidFill>
              <a:srgbClr val="00FF88">
                <a:alpha val="50000"/>
              </a:srgbClr>
            </a:solidFill>
            <a:prstDash val="solid"/>
          </a:ln>
        </p:spPr>
      </p:sp>
      <p:sp>
        <p:nvSpPr>
          <p:cNvPr id="45" name="Text 43"/>
          <p:cNvSpPr/>
          <p:nvPr/>
        </p:nvSpPr>
        <p:spPr>
          <a:xfrm>
            <a:off x="256032" y="3749040"/>
            <a:ext cx="347472" cy="384048"/>
          </a:xfrm>
          <a:prstGeom prst="rect">
            <a:avLst/>
          </a:prstGeom>
          <a:noFill/>
          <a:ln/>
        </p:spPr>
        <p:txBody>
          <a:bodyPr wrap="square" rtlCol="0" anchor="ctr"/>
          <a:lstStyle/>
          <a:p>
            <a:pPr algn="ctr" indent="0" marL="0">
              <a:buNone/>
            </a:pPr>
            <a:r>
              <a:rPr lang="en-US" sz="1400" b="1" dirty="0">
                <a:solidFill>
                  <a:srgbClr val="00FF88"/>
                </a:solidFill>
                <a:latin typeface="Arial Black" pitchFamily="34" charset="0"/>
                <a:ea typeface="Arial Black" pitchFamily="34" charset="-122"/>
                <a:cs typeface="Arial Black" pitchFamily="34" charset="-120"/>
              </a:rPr>
              <a:t>8</a:t>
            </a:r>
            <a:endParaRPr lang="en-US" sz="1400" dirty="0"/>
          </a:p>
        </p:txBody>
      </p:sp>
      <p:sp>
        <p:nvSpPr>
          <p:cNvPr id="46" name="Text 44"/>
          <p:cNvSpPr/>
          <p:nvPr/>
        </p:nvSpPr>
        <p:spPr>
          <a:xfrm>
            <a:off x="658368" y="3749040"/>
            <a:ext cx="1188720" cy="384048"/>
          </a:xfrm>
          <a:prstGeom prst="rect">
            <a:avLst/>
          </a:prstGeom>
          <a:noFill/>
          <a:ln/>
        </p:spPr>
        <p:txBody>
          <a:bodyPr wrap="square" rtlCol="0" anchor="ctr"/>
          <a:lstStyle/>
          <a:p>
            <a:pPr indent="0" marL="0">
              <a:buNone/>
            </a:pPr>
            <a:r>
              <a:rPr lang="en-US" sz="900" b="1" dirty="0">
                <a:solidFill>
                  <a:srgbClr val="F0F4FF"/>
                </a:solidFill>
                <a:latin typeface="Calibri" pitchFamily="34" charset="0"/>
                <a:ea typeface="Calibri" pitchFamily="34" charset="-122"/>
                <a:cs typeface="Calibri" pitchFamily="34" charset="-120"/>
              </a:rPr>
              <a:t>Data subject participation</a:t>
            </a:r>
            <a:endParaRPr lang="en-US" sz="900" dirty="0"/>
          </a:p>
        </p:txBody>
      </p:sp>
      <p:sp>
        <p:nvSpPr>
          <p:cNvPr id="47" name="Text 45"/>
          <p:cNvSpPr/>
          <p:nvPr/>
        </p:nvSpPr>
        <p:spPr>
          <a:xfrm>
            <a:off x="1901952" y="3749040"/>
            <a:ext cx="2487168" cy="384048"/>
          </a:xfrm>
          <a:prstGeom prst="rect">
            <a:avLst/>
          </a:prstGeom>
          <a:noFill/>
          <a:ln/>
        </p:spPr>
        <p:txBody>
          <a:bodyPr wrap="square" rtlCol="0" anchor="ctr"/>
          <a:lstStyle/>
          <a:p>
            <a:pPr indent="0" marL="0">
              <a:buNone/>
            </a:pPr>
            <a:r>
              <a:rPr lang="en-US" sz="850" i="1" dirty="0">
                <a:solidFill>
                  <a:srgbClr val="00FF88"/>
                </a:solidFill>
                <a:latin typeface="Calibri" pitchFamily="34" charset="0"/>
                <a:ea typeface="Calibri" pitchFamily="34" charset="-122"/>
                <a:cs typeface="Calibri" pitchFamily="34" charset="-120"/>
              </a:rPr>
              <a:t>App: export/correct/delete features</a:t>
            </a:r>
            <a:endParaRPr lang="en-US" sz="850" dirty="0"/>
          </a:p>
        </p:txBody>
      </p:sp>
      <p:sp>
        <p:nvSpPr>
          <p:cNvPr id="48" name="Text 46"/>
          <p:cNvSpPr/>
          <p:nvPr/>
        </p:nvSpPr>
        <p:spPr>
          <a:xfrm>
            <a:off x="4736592" y="512064"/>
            <a:ext cx="4160520" cy="256032"/>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IR 6 Phases</a:t>
            </a:r>
            <a:endParaRPr lang="en-US" sz="1100" dirty="0"/>
          </a:p>
        </p:txBody>
      </p:sp>
      <p:sp>
        <p:nvSpPr>
          <p:cNvPr id="49" name="Shape 47"/>
          <p:cNvSpPr/>
          <p:nvPr/>
        </p:nvSpPr>
        <p:spPr>
          <a:xfrm>
            <a:off x="4736592" y="804672"/>
            <a:ext cx="4160520" cy="512064"/>
          </a:xfrm>
          <a:prstGeom prst="rect">
            <a:avLst/>
          </a:prstGeom>
          <a:solidFill>
            <a:srgbClr val="12103A"/>
          </a:solidFill>
          <a:ln w="12700">
            <a:solidFill>
              <a:srgbClr val="1B4F8A">
                <a:alpha val="50000"/>
              </a:srgbClr>
            </a:solidFill>
            <a:prstDash val="solid"/>
          </a:ln>
          <a:effectLst>
            <a:outerShdw sx="100000" sy="100000" kx="0" ky="0" algn="bl" rotWithShape="0" blurRad="101600" dist="38100" dir="8100000">
              <a:srgbClr val="000000">
                <a:alpha val="18000"/>
              </a:srgbClr>
            </a:outerShdw>
          </a:effectLst>
        </p:spPr>
      </p:sp>
      <p:sp>
        <p:nvSpPr>
          <p:cNvPr id="50" name="Shape 48"/>
          <p:cNvSpPr/>
          <p:nvPr/>
        </p:nvSpPr>
        <p:spPr>
          <a:xfrm>
            <a:off x="4736592" y="804672"/>
            <a:ext cx="402336" cy="512064"/>
          </a:xfrm>
          <a:prstGeom prst="rect">
            <a:avLst/>
          </a:prstGeom>
          <a:solidFill>
            <a:srgbClr val="1B4F8A">
              <a:alpha val="75000"/>
            </a:srgbClr>
          </a:solidFill>
          <a:ln w="12700">
            <a:solidFill>
              <a:srgbClr val="1B4F8A">
                <a:alpha val="50000"/>
              </a:srgbClr>
            </a:solidFill>
            <a:prstDash val="solid"/>
          </a:ln>
        </p:spPr>
      </p:sp>
      <p:sp>
        <p:nvSpPr>
          <p:cNvPr id="51" name="Text 49"/>
          <p:cNvSpPr/>
          <p:nvPr/>
        </p:nvSpPr>
        <p:spPr>
          <a:xfrm>
            <a:off x="4736592" y="804672"/>
            <a:ext cx="402336" cy="512064"/>
          </a:xfrm>
          <a:prstGeom prst="rect">
            <a:avLst/>
          </a:prstGeom>
          <a:noFill/>
          <a:ln/>
        </p:spPr>
        <p:txBody>
          <a:bodyPr wrap="square" rtlCol="0" anchor="ctr"/>
          <a:lstStyle/>
          <a:p>
            <a:pPr algn="ctr" indent="0" marL="0">
              <a:buNone/>
            </a:pPr>
            <a:r>
              <a:rPr lang="en-US" sz="1600" b="1" dirty="0">
                <a:solidFill>
                  <a:srgbClr val="1B4F8A"/>
                </a:solidFill>
                <a:latin typeface="Arial Black" pitchFamily="34" charset="0"/>
                <a:ea typeface="Arial Black" pitchFamily="34" charset="-122"/>
                <a:cs typeface="Arial Black" pitchFamily="34" charset="-120"/>
              </a:rPr>
              <a:t>1</a:t>
            </a:r>
            <a:endParaRPr lang="en-US" sz="1600" dirty="0"/>
          </a:p>
        </p:txBody>
      </p:sp>
      <p:sp>
        <p:nvSpPr>
          <p:cNvPr id="52" name="Text 50"/>
          <p:cNvSpPr/>
          <p:nvPr/>
        </p:nvSpPr>
        <p:spPr>
          <a:xfrm>
            <a:off x="5175504" y="841248"/>
            <a:ext cx="960120" cy="237744"/>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Prepare</a:t>
            </a:r>
            <a:endParaRPr lang="en-US" sz="950" dirty="0"/>
          </a:p>
        </p:txBody>
      </p:sp>
      <p:sp>
        <p:nvSpPr>
          <p:cNvPr id="53" name="Text 51"/>
          <p:cNvSpPr/>
          <p:nvPr/>
        </p:nvSpPr>
        <p:spPr>
          <a:xfrm>
            <a:off x="5175504" y="1078992"/>
            <a:ext cx="3657600" cy="21945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Pre-stage forensic role, test runbook, enable GuardDuty</a:t>
            </a:r>
            <a:endParaRPr lang="en-US" sz="850" dirty="0"/>
          </a:p>
        </p:txBody>
      </p:sp>
      <p:sp>
        <p:nvSpPr>
          <p:cNvPr id="54" name="Shape 52"/>
          <p:cNvSpPr/>
          <p:nvPr/>
        </p:nvSpPr>
        <p:spPr>
          <a:xfrm>
            <a:off x="4736592" y="1371600"/>
            <a:ext cx="4160520" cy="512064"/>
          </a:xfrm>
          <a:prstGeom prst="rect">
            <a:avLst/>
          </a:prstGeom>
          <a:solidFill>
            <a:srgbClr val="12103A"/>
          </a:solidFill>
          <a:ln w="12700">
            <a:solidFill>
              <a:srgbClr val="0F6E56">
                <a:alpha val="50000"/>
              </a:srgbClr>
            </a:solidFill>
            <a:prstDash val="solid"/>
          </a:ln>
          <a:effectLst>
            <a:outerShdw sx="100000" sy="100000" kx="0" ky="0" algn="bl" rotWithShape="0" blurRad="101600" dist="38100" dir="8100000">
              <a:srgbClr val="000000">
                <a:alpha val="18000"/>
              </a:srgbClr>
            </a:outerShdw>
          </a:effectLst>
        </p:spPr>
      </p:sp>
      <p:sp>
        <p:nvSpPr>
          <p:cNvPr id="55" name="Shape 53"/>
          <p:cNvSpPr/>
          <p:nvPr/>
        </p:nvSpPr>
        <p:spPr>
          <a:xfrm>
            <a:off x="4736592" y="1371600"/>
            <a:ext cx="402336" cy="512064"/>
          </a:xfrm>
          <a:prstGeom prst="rect">
            <a:avLst/>
          </a:prstGeom>
          <a:solidFill>
            <a:srgbClr val="0F6E56">
              <a:alpha val="75000"/>
            </a:srgbClr>
          </a:solidFill>
          <a:ln w="12700">
            <a:solidFill>
              <a:srgbClr val="0F6E56">
                <a:alpha val="50000"/>
              </a:srgbClr>
            </a:solidFill>
            <a:prstDash val="solid"/>
          </a:ln>
        </p:spPr>
      </p:sp>
      <p:sp>
        <p:nvSpPr>
          <p:cNvPr id="56" name="Text 54"/>
          <p:cNvSpPr/>
          <p:nvPr/>
        </p:nvSpPr>
        <p:spPr>
          <a:xfrm>
            <a:off x="4736592" y="1371600"/>
            <a:ext cx="402336" cy="512064"/>
          </a:xfrm>
          <a:prstGeom prst="rect">
            <a:avLst/>
          </a:prstGeom>
          <a:noFill/>
          <a:ln/>
        </p:spPr>
        <p:txBody>
          <a:bodyPr wrap="square" rtlCol="0" anchor="ctr"/>
          <a:lstStyle/>
          <a:p>
            <a:pPr algn="ctr" indent="0" marL="0">
              <a:buNone/>
            </a:pPr>
            <a:r>
              <a:rPr lang="en-US" sz="1600" b="1" dirty="0">
                <a:solidFill>
                  <a:srgbClr val="0F6E56"/>
                </a:solidFill>
                <a:latin typeface="Arial Black" pitchFamily="34" charset="0"/>
                <a:ea typeface="Arial Black" pitchFamily="34" charset="-122"/>
                <a:cs typeface="Arial Black" pitchFamily="34" charset="-120"/>
              </a:rPr>
              <a:t>2</a:t>
            </a:r>
            <a:endParaRPr lang="en-US" sz="1600" dirty="0"/>
          </a:p>
        </p:txBody>
      </p:sp>
      <p:sp>
        <p:nvSpPr>
          <p:cNvPr id="57" name="Text 55"/>
          <p:cNvSpPr/>
          <p:nvPr/>
        </p:nvSpPr>
        <p:spPr>
          <a:xfrm>
            <a:off x="5175504" y="1408176"/>
            <a:ext cx="960120" cy="237744"/>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Identify</a:t>
            </a:r>
            <a:endParaRPr lang="en-US" sz="950" dirty="0"/>
          </a:p>
        </p:txBody>
      </p:sp>
      <p:sp>
        <p:nvSpPr>
          <p:cNvPr id="58" name="Text 56"/>
          <p:cNvSpPr/>
          <p:nvPr/>
        </p:nvSpPr>
        <p:spPr>
          <a:xfrm>
            <a:off x="5175504" y="1645920"/>
            <a:ext cx="3657600" cy="21945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GuardDuty alert, CloudTrail anomaly, billing spike</a:t>
            </a:r>
            <a:endParaRPr lang="en-US" sz="850" dirty="0"/>
          </a:p>
        </p:txBody>
      </p:sp>
      <p:sp>
        <p:nvSpPr>
          <p:cNvPr id="59" name="Shape 57"/>
          <p:cNvSpPr/>
          <p:nvPr/>
        </p:nvSpPr>
        <p:spPr>
          <a:xfrm>
            <a:off x="4736592" y="1938528"/>
            <a:ext cx="4160520" cy="512064"/>
          </a:xfrm>
          <a:prstGeom prst="rect">
            <a:avLst/>
          </a:prstGeom>
          <a:solidFill>
            <a:srgbClr val="12103A"/>
          </a:solidFill>
          <a:ln w="12700">
            <a:solidFill>
              <a:srgbClr val="993C1D">
                <a:alpha val="50000"/>
              </a:srgbClr>
            </a:solidFill>
            <a:prstDash val="solid"/>
          </a:ln>
          <a:effectLst>
            <a:outerShdw sx="100000" sy="100000" kx="0" ky="0" algn="bl" rotWithShape="0" blurRad="101600" dist="38100" dir="8100000">
              <a:srgbClr val="000000">
                <a:alpha val="18000"/>
              </a:srgbClr>
            </a:outerShdw>
          </a:effectLst>
        </p:spPr>
      </p:sp>
      <p:sp>
        <p:nvSpPr>
          <p:cNvPr id="60" name="Shape 58"/>
          <p:cNvSpPr/>
          <p:nvPr/>
        </p:nvSpPr>
        <p:spPr>
          <a:xfrm>
            <a:off x="4736592" y="1938528"/>
            <a:ext cx="402336" cy="512064"/>
          </a:xfrm>
          <a:prstGeom prst="rect">
            <a:avLst/>
          </a:prstGeom>
          <a:solidFill>
            <a:srgbClr val="993C1D">
              <a:alpha val="75000"/>
            </a:srgbClr>
          </a:solidFill>
          <a:ln w="12700">
            <a:solidFill>
              <a:srgbClr val="993C1D">
                <a:alpha val="50000"/>
              </a:srgbClr>
            </a:solidFill>
            <a:prstDash val="solid"/>
          </a:ln>
        </p:spPr>
      </p:sp>
      <p:sp>
        <p:nvSpPr>
          <p:cNvPr id="61" name="Text 59"/>
          <p:cNvSpPr/>
          <p:nvPr/>
        </p:nvSpPr>
        <p:spPr>
          <a:xfrm>
            <a:off x="4736592" y="1938528"/>
            <a:ext cx="402336" cy="512064"/>
          </a:xfrm>
          <a:prstGeom prst="rect">
            <a:avLst/>
          </a:prstGeom>
          <a:noFill/>
          <a:ln/>
        </p:spPr>
        <p:txBody>
          <a:bodyPr wrap="square" rtlCol="0" anchor="ctr"/>
          <a:lstStyle/>
          <a:p>
            <a:pPr algn="ctr" indent="0" marL="0">
              <a:buNone/>
            </a:pPr>
            <a:r>
              <a:rPr lang="en-US" sz="1600" b="1" dirty="0">
                <a:solidFill>
                  <a:srgbClr val="993C1D"/>
                </a:solidFill>
                <a:latin typeface="Arial Black" pitchFamily="34" charset="0"/>
                <a:ea typeface="Arial Black" pitchFamily="34" charset="-122"/>
                <a:cs typeface="Arial Black" pitchFamily="34" charset="-120"/>
              </a:rPr>
              <a:t>3</a:t>
            </a:r>
            <a:endParaRPr lang="en-US" sz="1600" dirty="0"/>
          </a:p>
        </p:txBody>
      </p:sp>
      <p:sp>
        <p:nvSpPr>
          <p:cNvPr id="62" name="Text 60"/>
          <p:cNvSpPr/>
          <p:nvPr/>
        </p:nvSpPr>
        <p:spPr>
          <a:xfrm>
            <a:off x="5175504" y="1975104"/>
            <a:ext cx="960120" cy="237744"/>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Contain</a:t>
            </a:r>
            <a:endParaRPr lang="en-US" sz="950" dirty="0"/>
          </a:p>
        </p:txBody>
      </p:sp>
      <p:sp>
        <p:nvSpPr>
          <p:cNvPr id="63" name="Text 61"/>
          <p:cNvSpPr/>
          <p:nvPr/>
        </p:nvSpPr>
        <p:spPr>
          <a:xfrm>
            <a:off x="5175504" y="2212848"/>
            <a:ext cx="3657600" cy="21945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Deny-all SG, revoke creds, EBS SNAPSHOT FIRST</a:t>
            </a:r>
            <a:endParaRPr lang="en-US" sz="850" dirty="0"/>
          </a:p>
        </p:txBody>
      </p:sp>
      <p:sp>
        <p:nvSpPr>
          <p:cNvPr id="64" name="Shape 62"/>
          <p:cNvSpPr/>
          <p:nvPr/>
        </p:nvSpPr>
        <p:spPr>
          <a:xfrm>
            <a:off x="4736592" y="2505456"/>
            <a:ext cx="4160520" cy="512064"/>
          </a:xfrm>
          <a:prstGeom prst="rect">
            <a:avLst/>
          </a:prstGeom>
          <a:solidFill>
            <a:srgbClr val="12103A"/>
          </a:solidFill>
          <a:ln w="12700">
            <a:solidFill>
              <a:srgbClr val="854F0B">
                <a:alpha val="50000"/>
              </a:srgbClr>
            </a:solidFill>
            <a:prstDash val="solid"/>
          </a:ln>
          <a:effectLst>
            <a:outerShdw sx="100000" sy="100000" kx="0" ky="0" algn="bl" rotWithShape="0" blurRad="101600" dist="38100" dir="8100000">
              <a:srgbClr val="000000">
                <a:alpha val="18000"/>
              </a:srgbClr>
            </a:outerShdw>
          </a:effectLst>
        </p:spPr>
      </p:sp>
      <p:sp>
        <p:nvSpPr>
          <p:cNvPr id="65" name="Shape 63"/>
          <p:cNvSpPr/>
          <p:nvPr/>
        </p:nvSpPr>
        <p:spPr>
          <a:xfrm>
            <a:off x="4736592" y="2505456"/>
            <a:ext cx="402336" cy="512064"/>
          </a:xfrm>
          <a:prstGeom prst="rect">
            <a:avLst/>
          </a:prstGeom>
          <a:solidFill>
            <a:srgbClr val="854F0B">
              <a:alpha val="75000"/>
            </a:srgbClr>
          </a:solidFill>
          <a:ln w="12700">
            <a:solidFill>
              <a:srgbClr val="854F0B">
                <a:alpha val="50000"/>
              </a:srgbClr>
            </a:solidFill>
            <a:prstDash val="solid"/>
          </a:ln>
        </p:spPr>
      </p:sp>
      <p:sp>
        <p:nvSpPr>
          <p:cNvPr id="66" name="Text 64"/>
          <p:cNvSpPr/>
          <p:nvPr/>
        </p:nvSpPr>
        <p:spPr>
          <a:xfrm>
            <a:off x="4736592" y="2505456"/>
            <a:ext cx="402336" cy="512064"/>
          </a:xfrm>
          <a:prstGeom prst="rect">
            <a:avLst/>
          </a:prstGeom>
          <a:noFill/>
          <a:ln/>
        </p:spPr>
        <p:txBody>
          <a:bodyPr wrap="square" rtlCol="0" anchor="ctr"/>
          <a:lstStyle/>
          <a:p>
            <a:pPr algn="ctr" indent="0" marL="0">
              <a:buNone/>
            </a:pPr>
            <a:r>
              <a:rPr lang="en-US" sz="1600" b="1" dirty="0">
                <a:solidFill>
                  <a:srgbClr val="854F0B"/>
                </a:solidFill>
                <a:latin typeface="Arial Black" pitchFamily="34" charset="0"/>
                <a:ea typeface="Arial Black" pitchFamily="34" charset="-122"/>
                <a:cs typeface="Arial Black" pitchFamily="34" charset="-120"/>
              </a:rPr>
              <a:t>4</a:t>
            </a:r>
            <a:endParaRPr lang="en-US" sz="1600" dirty="0"/>
          </a:p>
        </p:txBody>
      </p:sp>
      <p:sp>
        <p:nvSpPr>
          <p:cNvPr id="67" name="Text 65"/>
          <p:cNvSpPr/>
          <p:nvPr/>
        </p:nvSpPr>
        <p:spPr>
          <a:xfrm>
            <a:off x="5175504" y="2542032"/>
            <a:ext cx="960120" cy="237744"/>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Eradicate</a:t>
            </a:r>
            <a:endParaRPr lang="en-US" sz="950" dirty="0"/>
          </a:p>
        </p:txBody>
      </p:sp>
      <p:sp>
        <p:nvSpPr>
          <p:cNvPr id="68" name="Text 66"/>
          <p:cNvSpPr/>
          <p:nvPr/>
        </p:nvSpPr>
        <p:spPr>
          <a:xfrm>
            <a:off x="5175504" y="2779776"/>
            <a:ext cx="3657600" cy="21945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Terminate instance, delete attacker resources, patch</a:t>
            </a:r>
            <a:endParaRPr lang="en-US" sz="850" dirty="0"/>
          </a:p>
        </p:txBody>
      </p:sp>
      <p:sp>
        <p:nvSpPr>
          <p:cNvPr id="69" name="Shape 67"/>
          <p:cNvSpPr/>
          <p:nvPr/>
        </p:nvSpPr>
        <p:spPr>
          <a:xfrm>
            <a:off x="4736592" y="3072384"/>
            <a:ext cx="4160520" cy="512064"/>
          </a:xfrm>
          <a:prstGeom prst="rect">
            <a:avLst/>
          </a:prstGeom>
          <a:solidFill>
            <a:srgbClr val="12103A"/>
          </a:solidFill>
          <a:ln w="12700">
            <a:solidFill>
              <a:srgbClr val="085041">
                <a:alpha val="50000"/>
              </a:srgbClr>
            </a:solidFill>
            <a:prstDash val="solid"/>
          </a:ln>
          <a:effectLst>
            <a:outerShdw sx="100000" sy="100000" kx="0" ky="0" algn="bl" rotWithShape="0" blurRad="101600" dist="38100" dir="8100000">
              <a:srgbClr val="000000">
                <a:alpha val="18000"/>
              </a:srgbClr>
            </a:outerShdw>
          </a:effectLst>
        </p:spPr>
      </p:sp>
      <p:sp>
        <p:nvSpPr>
          <p:cNvPr id="70" name="Shape 68"/>
          <p:cNvSpPr/>
          <p:nvPr/>
        </p:nvSpPr>
        <p:spPr>
          <a:xfrm>
            <a:off x="4736592" y="3072384"/>
            <a:ext cx="402336" cy="512064"/>
          </a:xfrm>
          <a:prstGeom prst="rect">
            <a:avLst/>
          </a:prstGeom>
          <a:solidFill>
            <a:srgbClr val="085041">
              <a:alpha val="75000"/>
            </a:srgbClr>
          </a:solidFill>
          <a:ln w="12700">
            <a:solidFill>
              <a:srgbClr val="085041">
                <a:alpha val="50000"/>
              </a:srgbClr>
            </a:solidFill>
            <a:prstDash val="solid"/>
          </a:ln>
        </p:spPr>
      </p:sp>
      <p:sp>
        <p:nvSpPr>
          <p:cNvPr id="71" name="Text 69"/>
          <p:cNvSpPr/>
          <p:nvPr/>
        </p:nvSpPr>
        <p:spPr>
          <a:xfrm>
            <a:off x="4736592" y="3072384"/>
            <a:ext cx="402336" cy="512064"/>
          </a:xfrm>
          <a:prstGeom prst="rect">
            <a:avLst/>
          </a:prstGeom>
          <a:noFill/>
          <a:ln/>
        </p:spPr>
        <p:txBody>
          <a:bodyPr wrap="square" rtlCol="0" anchor="ctr"/>
          <a:lstStyle/>
          <a:p>
            <a:pPr algn="ctr" indent="0" marL="0">
              <a:buNone/>
            </a:pPr>
            <a:r>
              <a:rPr lang="en-US" sz="1600" b="1" dirty="0">
                <a:solidFill>
                  <a:srgbClr val="085041"/>
                </a:solidFill>
                <a:latin typeface="Arial Black" pitchFamily="34" charset="0"/>
                <a:ea typeface="Arial Black" pitchFamily="34" charset="-122"/>
                <a:cs typeface="Arial Black" pitchFamily="34" charset="-120"/>
              </a:rPr>
              <a:t>5</a:t>
            </a:r>
            <a:endParaRPr lang="en-US" sz="1600" dirty="0"/>
          </a:p>
        </p:txBody>
      </p:sp>
      <p:sp>
        <p:nvSpPr>
          <p:cNvPr id="72" name="Text 70"/>
          <p:cNvSpPr/>
          <p:nvPr/>
        </p:nvSpPr>
        <p:spPr>
          <a:xfrm>
            <a:off x="5175504" y="3108960"/>
            <a:ext cx="960120" cy="237744"/>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Recover</a:t>
            </a:r>
            <a:endParaRPr lang="en-US" sz="950" dirty="0"/>
          </a:p>
        </p:txBody>
      </p:sp>
      <p:sp>
        <p:nvSpPr>
          <p:cNvPr id="73" name="Text 71"/>
          <p:cNvSpPr/>
          <p:nvPr/>
        </p:nvSpPr>
        <p:spPr>
          <a:xfrm>
            <a:off x="5175504" y="3346704"/>
            <a:ext cx="3657600" cy="21945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Launch from clean AMI, restore backup, monitor 72hr</a:t>
            </a:r>
            <a:endParaRPr lang="en-US" sz="850" dirty="0"/>
          </a:p>
        </p:txBody>
      </p:sp>
      <p:sp>
        <p:nvSpPr>
          <p:cNvPr id="74" name="Shape 72"/>
          <p:cNvSpPr/>
          <p:nvPr/>
        </p:nvSpPr>
        <p:spPr>
          <a:xfrm>
            <a:off x="4736592" y="3639312"/>
            <a:ext cx="4160520" cy="512064"/>
          </a:xfrm>
          <a:prstGeom prst="rect">
            <a:avLst/>
          </a:prstGeom>
          <a:solidFill>
            <a:srgbClr val="12103A"/>
          </a:solidFill>
          <a:ln w="12700">
            <a:solidFill>
              <a:srgbClr val="3C3489">
                <a:alpha val="50000"/>
              </a:srgbClr>
            </a:solidFill>
            <a:prstDash val="solid"/>
          </a:ln>
          <a:effectLst>
            <a:outerShdw sx="100000" sy="100000" kx="0" ky="0" algn="bl" rotWithShape="0" blurRad="101600" dist="38100" dir="8100000">
              <a:srgbClr val="000000">
                <a:alpha val="18000"/>
              </a:srgbClr>
            </a:outerShdw>
          </a:effectLst>
        </p:spPr>
      </p:sp>
      <p:sp>
        <p:nvSpPr>
          <p:cNvPr id="75" name="Shape 73"/>
          <p:cNvSpPr/>
          <p:nvPr/>
        </p:nvSpPr>
        <p:spPr>
          <a:xfrm>
            <a:off x="4736592" y="3639312"/>
            <a:ext cx="402336" cy="512064"/>
          </a:xfrm>
          <a:prstGeom prst="rect">
            <a:avLst/>
          </a:prstGeom>
          <a:solidFill>
            <a:srgbClr val="3C3489">
              <a:alpha val="75000"/>
            </a:srgbClr>
          </a:solidFill>
          <a:ln w="12700">
            <a:solidFill>
              <a:srgbClr val="3C3489">
                <a:alpha val="50000"/>
              </a:srgbClr>
            </a:solidFill>
            <a:prstDash val="solid"/>
          </a:ln>
        </p:spPr>
      </p:sp>
      <p:sp>
        <p:nvSpPr>
          <p:cNvPr id="76" name="Text 74"/>
          <p:cNvSpPr/>
          <p:nvPr/>
        </p:nvSpPr>
        <p:spPr>
          <a:xfrm>
            <a:off x="4736592" y="3639312"/>
            <a:ext cx="402336" cy="512064"/>
          </a:xfrm>
          <a:prstGeom prst="rect">
            <a:avLst/>
          </a:prstGeom>
          <a:noFill/>
          <a:ln/>
        </p:spPr>
        <p:txBody>
          <a:bodyPr wrap="square" rtlCol="0" anchor="ctr"/>
          <a:lstStyle/>
          <a:p>
            <a:pPr algn="ctr" indent="0" marL="0">
              <a:buNone/>
            </a:pPr>
            <a:r>
              <a:rPr lang="en-US" sz="1600" b="1" dirty="0">
                <a:solidFill>
                  <a:srgbClr val="3C3489"/>
                </a:solidFill>
                <a:latin typeface="Arial Black" pitchFamily="34" charset="0"/>
                <a:ea typeface="Arial Black" pitchFamily="34" charset="-122"/>
                <a:cs typeface="Arial Black" pitchFamily="34" charset="-120"/>
              </a:rPr>
              <a:t>6</a:t>
            </a:r>
            <a:endParaRPr lang="en-US" sz="1600" dirty="0"/>
          </a:p>
        </p:txBody>
      </p:sp>
      <p:sp>
        <p:nvSpPr>
          <p:cNvPr id="77" name="Text 75"/>
          <p:cNvSpPr/>
          <p:nvPr/>
        </p:nvSpPr>
        <p:spPr>
          <a:xfrm>
            <a:off x="5175504" y="3675888"/>
            <a:ext cx="960120" cy="237744"/>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Lessons</a:t>
            </a:r>
            <a:endParaRPr lang="en-US" sz="950" dirty="0"/>
          </a:p>
          <a:p>
            <a:pPr indent="0" marL="0">
              <a:buNone/>
            </a:pPr>
            <a:r>
              <a:rPr lang="en-US" sz="950" b="1" dirty="0">
                <a:solidFill>
                  <a:srgbClr val="F0F4FF"/>
                </a:solidFill>
                <a:latin typeface="Calibri" pitchFamily="34" charset="0"/>
                <a:ea typeface="Calibri" pitchFamily="34" charset="-122"/>
                <a:cs typeface="Calibri" pitchFamily="34" charset="-120"/>
              </a:rPr>
              <a:t>Learned</a:t>
            </a:r>
            <a:endParaRPr lang="en-US" sz="950" dirty="0"/>
          </a:p>
        </p:txBody>
      </p:sp>
      <p:sp>
        <p:nvSpPr>
          <p:cNvPr id="78" name="Text 76"/>
          <p:cNvSpPr/>
          <p:nvPr/>
        </p:nvSpPr>
        <p:spPr>
          <a:xfrm>
            <a:off x="5175504" y="3913632"/>
            <a:ext cx="3657600" cy="21945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Blameless post-mortem, update runbooks, notify if POPIA</a:t>
            </a:r>
            <a:endParaRPr lang="en-US" sz="850" dirty="0"/>
          </a:p>
        </p:txBody>
      </p:sp>
      <p:sp>
        <p:nvSpPr>
          <p:cNvPr id="79" name="Text 77"/>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0E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C3489"/>
          </a:solidFill>
          <a:ln w="12700">
            <a:solidFill>
              <a:srgbClr val="3C3489"/>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3C3489">
              <a:alpha val="80000"/>
            </a:srgbClr>
          </a:solidFill>
          <a:ln w="12700">
            <a:solidFill>
              <a:srgbClr val="3C3489"/>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5</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Module 5 — Quick Quiz</a:t>
            </a:r>
            <a:endParaRPr lang="en-US" sz="1600" dirty="0"/>
          </a:p>
        </p:txBody>
      </p:sp>
      <p:sp>
        <p:nvSpPr>
          <p:cNvPr id="7" name="Shape 5"/>
          <p:cNvSpPr/>
          <p:nvPr/>
        </p:nvSpPr>
        <p:spPr>
          <a:xfrm>
            <a:off x="256032" y="530352"/>
            <a:ext cx="4160520" cy="1024128"/>
          </a:xfrm>
          <a:prstGeom prst="rect">
            <a:avLst/>
          </a:prstGeom>
          <a:solidFill>
            <a:srgbClr val="0A0A16"/>
          </a:solidFill>
          <a:ln w="12700">
            <a:solidFill>
              <a:srgbClr val="3C3489">
                <a:alpha val="60000"/>
              </a:srgbClr>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56032" y="530352"/>
            <a:ext cx="4160520" cy="36576"/>
          </a:xfrm>
          <a:prstGeom prst="rect">
            <a:avLst/>
          </a:prstGeom>
          <a:solidFill>
            <a:srgbClr val="3C3489"/>
          </a:solidFill>
          <a:ln w="12700">
            <a:solidFill>
              <a:srgbClr val="3C3489"/>
            </a:solidFill>
            <a:prstDash val="solid"/>
          </a:ln>
        </p:spPr>
      </p:sp>
      <p:sp>
        <p:nvSpPr>
          <p:cNvPr id="9" name="Text 7"/>
          <p:cNvSpPr/>
          <p:nvPr/>
        </p:nvSpPr>
        <p:spPr>
          <a:xfrm>
            <a:off x="329184" y="603504"/>
            <a:ext cx="256032" cy="274320"/>
          </a:xfrm>
          <a:prstGeom prst="rect">
            <a:avLst/>
          </a:prstGeom>
          <a:noFill/>
          <a:ln/>
        </p:spPr>
        <p:txBody>
          <a:bodyPr wrap="square" rtlCol="0" anchor="ctr"/>
          <a:lstStyle/>
          <a:p>
            <a:pPr indent="0" marL="0">
              <a:buNone/>
            </a:pPr>
            <a:r>
              <a:rPr lang="en-US" sz="1100" b="1" dirty="0">
                <a:solidFill>
                  <a:srgbClr val="3C3489"/>
                </a:solidFill>
                <a:latin typeface="Arial Black" pitchFamily="34" charset="0"/>
                <a:ea typeface="Arial Black" pitchFamily="34" charset="-122"/>
                <a:cs typeface="Arial Black" pitchFamily="34" charset="-120"/>
              </a:rPr>
              <a:t>Q</a:t>
            </a:r>
            <a:endParaRPr lang="en-US" sz="1100" dirty="0"/>
          </a:p>
        </p:txBody>
      </p:sp>
      <p:sp>
        <p:nvSpPr>
          <p:cNvPr id="10" name="Text 8"/>
          <p:cNvSpPr/>
          <p:nvPr/>
        </p:nvSpPr>
        <p:spPr>
          <a:xfrm>
            <a:off x="621792"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Under the Shared Responsibility Model, who patches the RDS database engine?</a:t>
            </a:r>
            <a:endParaRPr lang="en-US" sz="1000" dirty="0"/>
          </a:p>
        </p:txBody>
      </p:sp>
      <p:sp>
        <p:nvSpPr>
          <p:cNvPr id="11" name="Shape 9"/>
          <p:cNvSpPr/>
          <p:nvPr/>
        </p:nvSpPr>
        <p:spPr>
          <a:xfrm>
            <a:off x="347472" y="987552"/>
            <a:ext cx="3977640" cy="36576"/>
          </a:xfrm>
          <a:prstGeom prst="rect">
            <a:avLst/>
          </a:prstGeom>
          <a:solidFill>
            <a:srgbClr val="3C3489">
              <a:alpha val="30000"/>
            </a:srgbClr>
          </a:solidFill>
          <a:ln w="12700">
            <a:solidFill>
              <a:srgbClr val="3C3489">
                <a:alpha val="30000"/>
              </a:srgbClr>
            </a:solidFill>
            <a:prstDash val="solid"/>
          </a:ln>
        </p:spPr>
      </p:sp>
      <p:sp>
        <p:nvSpPr>
          <p:cNvPr id="12" name="Text 10"/>
          <p:cNvSpPr/>
          <p:nvPr/>
        </p:nvSpPr>
        <p:spPr>
          <a:xfrm>
            <a:off x="347472" y="1060704"/>
            <a:ext cx="3977640" cy="402336"/>
          </a:xfrm>
          <a:prstGeom prst="rect">
            <a:avLst/>
          </a:prstGeom>
          <a:noFill/>
          <a:ln/>
        </p:spPr>
        <p:txBody>
          <a:bodyPr wrap="square" rtlCol="0" anchor="ctr"/>
          <a:lstStyle/>
          <a:p>
            <a:pPr indent="0" marL="0">
              <a:buNone/>
            </a:pPr>
            <a:r>
              <a:rPr lang="en-US" sz="950" dirty="0">
                <a:solidFill>
                  <a:srgbClr val="3C3489"/>
                </a:solidFill>
                <a:latin typeface="Calibri" pitchFamily="34" charset="0"/>
                <a:ea typeface="Calibri" pitchFamily="34" charset="-122"/>
                <a:cs typeface="Calibri" pitchFamily="34" charset="-120"/>
              </a:rPr>
              <a:t>A  AWS patches the RDS engine automatically — this is the managed service model. YOU must patch the OS on your EC2 instances. The boundary is at the hypervisor.</a:t>
            </a:r>
            <a:endParaRPr lang="en-US" sz="950" dirty="0"/>
          </a:p>
        </p:txBody>
      </p:sp>
      <p:sp>
        <p:nvSpPr>
          <p:cNvPr id="13" name="Shape 11"/>
          <p:cNvSpPr/>
          <p:nvPr/>
        </p:nvSpPr>
        <p:spPr>
          <a:xfrm>
            <a:off x="4727448" y="530352"/>
            <a:ext cx="4160520" cy="1024128"/>
          </a:xfrm>
          <a:prstGeom prst="rect">
            <a:avLst/>
          </a:prstGeom>
          <a:solidFill>
            <a:srgbClr val="0A0A16"/>
          </a:solidFill>
          <a:ln w="12700">
            <a:solidFill>
              <a:srgbClr val="3C3489">
                <a:alpha val="60000"/>
              </a:srgbClr>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727448" y="530352"/>
            <a:ext cx="4160520" cy="36576"/>
          </a:xfrm>
          <a:prstGeom prst="rect">
            <a:avLst/>
          </a:prstGeom>
          <a:solidFill>
            <a:srgbClr val="3C3489"/>
          </a:solidFill>
          <a:ln w="12700">
            <a:solidFill>
              <a:srgbClr val="3C3489"/>
            </a:solidFill>
            <a:prstDash val="solid"/>
          </a:ln>
        </p:spPr>
      </p:sp>
      <p:sp>
        <p:nvSpPr>
          <p:cNvPr id="15" name="Text 13"/>
          <p:cNvSpPr/>
          <p:nvPr/>
        </p:nvSpPr>
        <p:spPr>
          <a:xfrm>
            <a:off x="4800600" y="603504"/>
            <a:ext cx="256032" cy="274320"/>
          </a:xfrm>
          <a:prstGeom prst="rect">
            <a:avLst/>
          </a:prstGeom>
          <a:noFill/>
          <a:ln/>
        </p:spPr>
        <p:txBody>
          <a:bodyPr wrap="square" rtlCol="0" anchor="ctr"/>
          <a:lstStyle/>
          <a:p>
            <a:pPr indent="0" marL="0">
              <a:buNone/>
            </a:pPr>
            <a:r>
              <a:rPr lang="en-US" sz="1100" b="1" dirty="0">
                <a:solidFill>
                  <a:srgbClr val="3C3489"/>
                </a:solidFill>
                <a:latin typeface="Arial Black" pitchFamily="34" charset="0"/>
                <a:ea typeface="Arial Black" pitchFamily="34" charset="-122"/>
                <a:cs typeface="Arial Black" pitchFamily="34" charset="-120"/>
              </a:rPr>
              <a:t>Q</a:t>
            </a:r>
            <a:endParaRPr lang="en-US" sz="1100" dirty="0"/>
          </a:p>
        </p:txBody>
      </p:sp>
      <p:sp>
        <p:nvSpPr>
          <p:cNvPr id="16" name="Text 14"/>
          <p:cNvSpPr/>
          <p:nvPr/>
        </p:nvSpPr>
        <p:spPr>
          <a:xfrm>
            <a:off x="5093208"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is the difference between SSE-S3 and SSE-KMS encryption for S3?</a:t>
            </a:r>
            <a:endParaRPr lang="en-US" sz="1000" dirty="0"/>
          </a:p>
        </p:txBody>
      </p:sp>
      <p:sp>
        <p:nvSpPr>
          <p:cNvPr id="17" name="Shape 15"/>
          <p:cNvSpPr/>
          <p:nvPr/>
        </p:nvSpPr>
        <p:spPr>
          <a:xfrm>
            <a:off x="4818888" y="987552"/>
            <a:ext cx="3977640" cy="36576"/>
          </a:xfrm>
          <a:prstGeom prst="rect">
            <a:avLst/>
          </a:prstGeom>
          <a:solidFill>
            <a:srgbClr val="3C3489">
              <a:alpha val="30000"/>
            </a:srgbClr>
          </a:solidFill>
          <a:ln w="12700">
            <a:solidFill>
              <a:srgbClr val="3C3489">
                <a:alpha val="30000"/>
              </a:srgbClr>
            </a:solidFill>
            <a:prstDash val="solid"/>
          </a:ln>
        </p:spPr>
      </p:sp>
      <p:sp>
        <p:nvSpPr>
          <p:cNvPr id="18" name="Text 16"/>
          <p:cNvSpPr/>
          <p:nvPr/>
        </p:nvSpPr>
        <p:spPr>
          <a:xfrm>
            <a:off x="4818888" y="1060704"/>
            <a:ext cx="3977640" cy="402336"/>
          </a:xfrm>
          <a:prstGeom prst="rect">
            <a:avLst/>
          </a:prstGeom>
          <a:noFill/>
          <a:ln/>
        </p:spPr>
        <p:txBody>
          <a:bodyPr wrap="square" rtlCol="0" anchor="ctr"/>
          <a:lstStyle/>
          <a:p>
            <a:pPr indent="0" marL="0">
              <a:buNone/>
            </a:pPr>
            <a:r>
              <a:rPr lang="en-US" sz="950" dirty="0">
                <a:solidFill>
                  <a:srgbClr val="3C3489"/>
                </a:solidFill>
                <a:latin typeface="Calibri" pitchFamily="34" charset="0"/>
                <a:ea typeface="Calibri" pitchFamily="34" charset="-122"/>
                <a:cs typeface="Calibri" pitchFamily="34" charset="-120"/>
              </a:rPr>
              <a:t>A  SSE-S3 uses AWS-managed keys with no per-object audit trail. SSE-KMS uses customer or AWS-managed CMK AND logs every encryption/decryption in CloudTrail — required for POPIA audit evidence.</a:t>
            </a:r>
            <a:endParaRPr lang="en-US" sz="950" dirty="0"/>
          </a:p>
        </p:txBody>
      </p:sp>
      <p:sp>
        <p:nvSpPr>
          <p:cNvPr id="19" name="Shape 17"/>
          <p:cNvSpPr/>
          <p:nvPr/>
        </p:nvSpPr>
        <p:spPr>
          <a:xfrm>
            <a:off x="256032" y="1664208"/>
            <a:ext cx="4160520" cy="1024128"/>
          </a:xfrm>
          <a:prstGeom prst="rect">
            <a:avLst/>
          </a:prstGeom>
          <a:solidFill>
            <a:srgbClr val="0A0A16"/>
          </a:solidFill>
          <a:ln w="12700">
            <a:solidFill>
              <a:srgbClr val="3C3489">
                <a:alpha val="60000"/>
              </a:srgbClr>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56032" y="1664208"/>
            <a:ext cx="4160520" cy="36576"/>
          </a:xfrm>
          <a:prstGeom prst="rect">
            <a:avLst/>
          </a:prstGeom>
          <a:solidFill>
            <a:srgbClr val="3C3489"/>
          </a:solidFill>
          <a:ln w="12700">
            <a:solidFill>
              <a:srgbClr val="3C3489"/>
            </a:solidFill>
            <a:prstDash val="solid"/>
          </a:ln>
        </p:spPr>
      </p:sp>
      <p:sp>
        <p:nvSpPr>
          <p:cNvPr id="21" name="Text 19"/>
          <p:cNvSpPr/>
          <p:nvPr/>
        </p:nvSpPr>
        <p:spPr>
          <a:xfrm>
            <a:off x="329184" y="1737360"/>
            <a:ext cx="256032" cy="274320"/>
          </a:xfrm>
          <a:prstGeom prst="rect">
            <a:avLst/>
          </a:prstGeom>
          <a:noFill/>
          <a:ln/>
        </p:spPr>
        <p:txBody>
          <a:bodyPr wrap="square" rtlCol="0" anchor="ctr"/>
          <a:lstStyle/>
          <a:p>
            <a:pPr indent="0" marL="0">
              <a:buNone/>
            </a:pPr>
            <a:r>
              <a:rPr lang="en-US" sz="1100" b="1" dirty="0">
                <a:solidFill>
                  <a:srgbClr val="3C3489"/>
                </a:solidFill>
                <a:latin typeface="Arial Black" pitchFamily="34" charset="0"/>
                <a:ea typeface="Arial Black" pitchFamily="34" charset="-122"/>
                <a:cs typeface="Arial Black" pitchFamily="34" charset="-120"/>
              </a:rPr>
              <a:t>Q</a:t>
            </a:r>
            <a:endParaRPr lang="en-US" sz="1100" dirty="0"/>
          </a:p>
        </p:txBody>
      </p:sp>
      <p:sp>
        <p:nvSpPr>
          <p:cNvPr id="22" name="Text 20"/>
          <p:cNvSpPr/>
          <p:nvPr/>
        </p:nvSpPr>
        <p:spPr>
          <a:xfrm>
            <a:off x="621792"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Which POPIA condition specifically requires encryption, MFA, and network security controls?</a:t>
            </a:r>
            <a:endParaRPr lang="en-US" sz="1000" dirty="0"/>
          </a:p>
        </p:txBody>
      </p:sp>
      <p:sp>
        <p:nvSpPr>
          <p:cNvPr id="23" name="Shape 21"/>
          <p:cNvSpPr/>
          <p:nvPr/>
        </p:nvSpPr>
        <p:spPr>
          <a:xfrm>
            <a:off x="347472" y="2121408"/>
            <a:ext cx="3977640" cy="36576"/>
          </a:xfrm>
          <a:prstGeom prst="rect">
            <a:avLst/>
          </a:prstGeom>
          <a:solidFill>
            <a:srgbClr val="3C3489">
              <a:alpha val="30000"/>
            </a:srgbClr>
          </a:solidFill>
          <a:ln w="12700">
            <a:solidFill>
              <a:srgbClr val="3C3489">
                <a:alpha val="30000"/>
              </a:srgbClr>
            </a:solidFill>
            <a:prstDash val="solid"/>
          </a:ln>
        </p:spPr>
      </p:sp>
      <p:sp>
        <p:nvSpPr>
          <p:cNvPr id="24" name="Text 22"/>
          <p:cNvSpPr/>
          <p:nvPr/>
        </p:nvSpPr>
        <p:spPr>
          <a:xfrm>
            <a:off x="347472" y="2194560"/>
            <a:ext cx="3977640" cy="402336"/>
          </a:xfrm>
          <a:prstGeom prst="rect">
            <a:avLst/>
          </a:prstGeom>
          <a:noFill/>
          <a:ln/>
        </p:spPr>
        <p:txBody>
          <a:bodyPr wrap="square" rtlCol="0" anchor="ctr"/>
          <a:lstStyle/>
          <a:p>
            <a:pPr indent="0" marL="0">
              <a:buNone/>
            </a:pPr>
            <a:r>
              <a:rPr lang="en-US" sz="950" dirty="0">
                <a:solidFill>
                  <a:srgbClr val="3C3489"/>
                </a:solidFill>
                <a:latin typeface="Calibri" pitchFamily="34" charset="0"/>
                <a:ea typeface="Calibri" pitchFamily="34" charset="-122"/>
                <a:cs typeface="Calibri" pitchFamily="34" charset="-120"/>
              </a:rPr>
              <a:t>A  Condition 7 — Security safeguards. It requires both technical AND organisational measures to prevent unauthorised access to personal information.</a:t>
            </a:r>
            <a:endParaRPr lang="en-US" sz="950" dirty="0"/>
          </a:p>
        </p:txBody>
      </p:sp>
      <p:sp>
        <p:nvSpPr>
          <p:cNvPr id="25" name="Shape 23"/>
          <p:cNvSpPr/>
          <p:nvPr/>
        </p:nvSpPr>
        <p:spPr>
          <a:xfrm>
            <a:off x="4727448" y="1664208"/>
            <a:ext cx="4160520" cy="1024128"/>
          </a:xfrm>
          <a:prstGeom prst="rect">
            <a:avLst/>
          </a:prstGeom>
          <a:solidFill>
            <a:srgbClr val="0A0A16"/>
          </a:solidFill>
          <a:ln w="12700">
            <a:solidFill>
              <a:srgbClr val="3C3489">
                <a:alpha val="60000"/>
              </a:srgbClr>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727448" y="1664208"/>
            <a:ext cx="4160520" cy="36576"/>
          </a:xfrm>
          <a:prstGeom prst="rect">
            <a:avLst/>
          </a:prstGeom>
          <a:solidFill>
            <a:srgbClr val="3C3489"/>
          </a:solidFill>
          <a:ln w="12700">
            <a:solidFill>
              <a:srgbClr val="3C3489"/>
            </a:solidFill>
            <a:prstDash val="solid"/>
          </a:ln>
        </p:spPr>
      </p:sp>
      <p:sp>
        <p:nvSpPr>
          <p:cNvPr id="27" name="Text 25"/>
          <p:cNvSpPr/>
          <p:nvPr/>
        </p:nvSpPr>
        <p:spPr>
          <a:xfrm>
            <a:off x="4800600" y="1737360"/>
            <a:ext cx="256032" cy="274320"/>
          </a:xfrm>
          <a:prstGeom prst="rect">
            <a:avLst/>
          </a:prstGeom>
          <a:noFill/>
          <a:ln/>
        </p:spPr>
        <p:txBody>
          <a:bodyPr wrap="square" rtlCol="0" anchor="ctr"/>
          <a:lstStyle/>
          <a:p>
            <a:pPr indent="0" marL="0">
              <a:buNone/>
            </a:pPr>
            <a:r>
              <a:rPr lang="en-US" sz="1100" b="1" dirty="0">
                <a:solidFill>
                  <a:srgbClr val="3C3489"/>
                </a:solidFill>
                <a:latin typeface="Arial Black" pitchFamily="34" charset="0"/>
                <a:ea typeface="Arial Black" pitchFamily="34" charset="-122"/>
                <a:cs typeface="Arial Black" pitchFamily="34" charset="-120"/>
              </a:rPr>
              <a:t>Q</a:t>
            </a:r>
            <a:endParaRPr lang="en-US" sz="1100" dirty="0"/>
          </a:p>
        </p:txBody>
      </p:sp>
      <p:sp>
        <p:nvSpPr>
          <p:cNvPr id="28" name="Text 26"/>
          <p:cNvSpPr/>
          <p:nvPr/>
        </p:nvSpPr>
        <p:spPr>
          <a:xfrm>
            <a:off x="5093208"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A GuardDuty alert fires at 3am. An EC2 instance is communicating with a command-and-control server. What is your FIRST action?</a:t>
            </a:r>
            <a:endParaRPr lang="en-US" sz="1000" dirty="0"/>
          </a:p>
        </p:txBody>
      </p:sp>
      <p:sp>
        <p:nvSpPr>
          <p:cNvPr id="29" name="Shape 27"/>
          <p:cNvSpPr/>
          <p:nvPr/>
        </p:nvSpPr>
        <p:spPr>
          <a:xfrm>
            <a:off x="4818888" y="2121408"/>
            <a:ext cx="3977640" cy="36576"/>
          </a:xfrm>
          <a:prstGeom prst="rect">
            <a:avLst/>
          </a:prstGeom>
          <a:solidFill>
            <a:srgbClr val="3C3489">
              <a:alpha val="30000"/>
            </a:srgbClr>
          </a:solidFill>
          <a:ln w="12700">
            <a:solidFill>
              <a:srgbClr val="3C3489">
                <a:alpha val="30000"/>
              </a:srgbClr>
            </a:solidFill>
            <a:prstDash val="solid"/>
          </a:ln>
        </p:spPr>
      </p:sp>
      <p:sp>
        <p:nvSpPr>
          <p:cNvPr id="30" name="Text 28"/>
          <p:cNvSpPr/>
          <p:nvPr/>
        </p:nvSpPr>
        <p:spPr>
          <a:xfrm>
            <a:off x="4818888" y="2194560"/>
            <a:ext cx="3977640" cy="402336"/>
          </a:xfrm>
          <a:prstGeom prst="rect">
            <a:avLst/>
          </a:prstGeom>
          <a:noFill/>
          <a:ln/>
        </p:spPr>
        <p:txBody>
          <a:bodyPr wrap="square" rtlCol="0" anchor="ctr"/>
          <a:lstStyle/>
          <a:p>
            <a:pPr indent="0" marL="0">
              <a:buNone/>
            </a:pPr>
            <a:r>
              <a:rPr lang="en-US" sz="950" dirty="0">
                <a:solidFill>
                  <a:srgbClr val="3C3489"/>
                </a:solidFill>
                <a:latin typeface="Calibri" pitchFamily="34" charset="0"/>
                <a:ea typeface="Calibri" pitchFamily="34" charset="-122"/>
                <a:cs typeface="Calibri" pitchFamily="34" charset="-120"/>
              </a:rPr>
              <a:t>A  Phase 3 Contain: replace the EC2 instance security group with a deny-all rule to isolate it. Then take an EBS snapshot for forensic preservation BEFORE any further action.</a:t>
            </a:r>
            <a:endParaRPr lang="en-US" sz="950" dirty="0"/>
          </a:p>
        </p:txBody>
      </p:sp>
      <p:sp>
        <p:nvSpPr>
          <p:cNvPr id="31" name="Shape 29"/>
          <p:cNvSpPr/>
          <p:nvPr/>
        </p:nvSpPr>
        <p:spPr>
          <a:xfrm>
            <a:off x="256032" y="2798064"/>
            <a:ext cx="4160520" cy="1024128"/>
          </a:xfrm>
          <a:prstGeom prst="rect">
            <a:avLst/>
          </a:prstGeom>
          <a:solidFill>
            <a:srgbClr val="0A0A16"/>
          </a:solidFill>
          <a:ln w="12700">
            <a:solidFill>
              <a:srgbClr val="3C3489">
                <a:alpha val="60000"/>
              </a:srgbClr>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256032" y="2798064"/>
            <a:ext cx="4160520" cy="36576"/>
          </a:xfrm>
          <a:prstGeom prst="rect">
            <a:avLst/>
          </a:prstGeom>
          <a:solidFill>
            <a:srgbClr val="3C3489"/>
          </a:solidFill>
          <a:ln w="12700">
            <a:solidFill>
              <a:srgbClr val="3C3489"/>
            </a:solidFill>
            <a:prstDash val="solid"/>
          </a:ln>
        </p:spPr>
      </p:sp>
      <p:sp>
        <p:nvSpPr>
          <p:cNvPr id="33" name="Text 31"/>
          <p:cNvSpPr/>
          <p:nvPr/>
        </p:nvSpPr>
        <p:spPr>
          <a:xfrm>
            <a:off x="329184" y="2871216"/>
            <a:ext cx="256032" cy="274320"/>
          </a:xfrm>
          <a:prstGeom prst="rect">
            <a:avLst/>
          </a:prstGeom>
          <a:noFill/>
          <a:ln/>
        </p:spPr>
        <p:txBody>
          <a:bodyPr wrap="square" rtlCol="0" anchor="ctr"/>
          <a:lstStyle/>
          <a:p>
            <a:pPr indent="0" marL="0">
              <a:buNone/>
            </a:pPr>
            <a:r>
              <a:rPr lang="en-US" sz="1100" b="1" dirty="0">
                <a:solidFill>
                  <a:srgbClr val="3C3489"/>
                </a:solidFill>
                <a:latin typeface="Arial Black" pitchFamily="34" charset="0"/>
                <a:ea typeface="Arial Black" pitchFamily="34" charset="-122"/>
                <a:cs typeface="Arial Black" pitchFamily="34" charset="-120"/>
              </a:rPr>
              <a:t>Q</a:t>
            </a:r>
            <a:endParaRPr lang="en-US" sz="1100" dirty="0"/>
          </a:p>
        </p:txBody>
      </p:sp>
      <p:sp>
        <p:nvSpPr>
          <p:cNvPr id="34" name="Text 32"/>
          <p:cNvSpPr/>
          <p:nvPr/>
        </p:nvSpPr>
        <p:spPr>
          <a:xfrm>
            <a:off x="621792"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must you do within 72 hours of a POPIA data breach?</a:t>
            </a:r>
            <a:endParaRPr lang="en-US" sz="1000" dirty="0"/>
          </a:p>
        </p:txBody>
      </p:sp>
      <p:sp>
        <p:nvSpPr>
          <p:cNvPr id="35" name="Shape 33"/>
          <p:cNvSpPr/>
          <p:nvPr/>
        </p:nvSpPr>
        <p:spPr>
          <a:xfrm>
            <a:off x="347472" y="3255264"/>
            <a:ext cx="3977640" cy="36576"/>
          </a:xfrm>
          <a:prstGeom prst="rect">
            <a:avLst/>
          </a:prstGeom>
          <a:solidFill>
            <a:srgbClr val="3C3489">
              <a:alpha val="30000"/>
            </a:srgbClr>
          </a:solidFill>
          <a:ln w="12700">
            <a:solidFill>
              <a:srgbClr val="3C3489">
                <a:alpha val="30000"/>
              </a:srgbClr>
            </a:solidFill>
            <a:prstDash val="solid"/>
          </a:ln>
        </p:spPr>
      </p:sp>
      <p:sp>
        <p:nvSpPr>
          <p:cNvPr id="36" name="Text 34"/>
          <p:cNvSpPr/>
          <p:nvPr/>
        </p:nvSpPr>
        <p:spPr>
          <a:xfrm>
            <a:off x="347472" y="3328416"/>
            <a:ext cx="3977640" cy="402336"/>
          </a:xfrm>
          <a:prstGeom prst="rect">
            <a:avLst/>
          </a:prstGeom>
          <a:noFill/>
          <a:ln/>
        </p:spPr>
        <p:txBody>
          <a:bodyPr wrap="square" rtlCol="0" anchor="ctr"/>
          <a:lstStyle/>
          <a:p>
            <a:pPr indent="0" marL="0">
              <a:buNone/>
            </a:pPr>
            <a:r>
              <a:rPr lang="en-US" sz="950" dirty="0">
                <a:solidFill>
                  <a:srgbClr val="3C3489"/>
                </a:solidFill>
                <a:latin typeface="Calibri" pitchFamily="34" charset="0"/>
                <a:ea typeface="Calibri" pitchFamily="34" charset="-122"/>
                <a:cs typeface="Calibri" pitchFamily="34" charset="-120"/>
              </a:rPr>
              <a:t>A  Notify the Information Regulator (www.justice.gov.za/inforeg/). The notification must include the nature of the breach, data involved, Information Officer contact details, and measures taken.</a:t>
            </a:r>
            <a:endParaRPr lang="en-US" sz="950" dirty="0"/>
          </a:p>
        </p:txBody>
      </p:sp>
      <p:sp>
        <p:nvSpPr>
          <p:cNvPr id="37" name="Shape 35"/>
          <p:cNvSpPr/>
          <p:nvPr/>
        </p:nvSpPr>
        <p:spPr>
          <a:xfrm>
            <a:off x="4727448" y="2798064"/>
            <a:ext cx="4160520" cy="1024128"/>
          </a:xfrm>
          <a:prstGeom prst="rect">
            <a:avLst/>
          </a:prstGeom>
          <a:solidFill>
            <a:srgbClr val="0A0A16"/>
          </a:solidFill>
          <a:ln w="12700">
            <a:solidFill>
              <a:srgbClr val="3C3489">
                <a:alpha val="60000"/>
              </a:srgbClr>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4727448" y="2798064"/>
            <a:ext cx="4160520" cy="36576"/>
          </a:xfrm>
          <a:prstGeom prst="rect">
            <a:avLst/>
          </a:prstGeom>
          <a:solidFill>
            <a:srgbClr val="3C3489"/>
          </a:solidFill>
          <a:ln w="12700">
            <a:solidFill>
              <a:srgbClr val="3C3489"/>
            </a:solidFill>
            <a:prstDash val="solid"/>
          </a:ln>
        </p:spPr>
      </p:sp>
      <p:sp>
        <p:nvSpPr>
          <p:cNvPr id="39" name="Text 37"/>
          <p:cNvSpPr/>
          <p:nvPr/>
        </p:nvSpPr>
        <p:spPr>
          <a:xfrm>
            <a:off x="4800600" y="2871216"/>
            <a:ext cx="256032" cy="274320"/>
          </a:xfrm>
          <a:prstGeom prst="rect">
            <a:avLst/>
          </a:prstGeom>
          <a:noFill/>
          <a:ln/>
        </p:spPr>
        <p:txBody>
          <a:bodyPr wrap="square" rtlCol="0" anchor="ctr"/>
          <a:lstStyle/>
          <a:p>
            <a:pPr indent="0" marL="0">
              <a:buNone/>
            </a:pPr>
            <a:r>
              <a:rPr lang="en-US" sz="1100" b="1" dirty="0">
                <a:solidFill>
                  <a:srgbClr val="3C3489"/>
                </a:solidFill>
                <a:latin typeface="Arial Black" pitchFamily="34" charset="0"/>
                <a:ea typeface="Arial Black" pitchFamily="34" charset="-122"/>
                <a:cs typeface="Arial Black" pitchFamily="34" charset="-120"/>
              </a:rPr>
              <a:t>Q</a:t>
            </a:r>
            <a:endParaRPr lang="en-US" sz="1100" dirty="0"/>
          </a:p>
        </p:txBody>
      </p:sp>
      <p:sp>
        <p:nvSpPr>
          <p:cNvPr id="40" name="Text 38"/>
          <p:cNvSpPr/>
          <p:nvPr/>
        </p:nvSpPr>
        <p:spPr>
          <a:xfrm>
            <a:off x="5093208"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VPC Flow Logs show 14,000 REJECT entries on port 5432 from an external IP in 90 minutes. What is happening and is this a breach?</a:t>
            </a:r>
            <a:endParaRPr lang="en-US" sz="1000" dirty="0"/>
          </a:p>
        </p:txBody>
      </p:sp>
      <p:sp>
        <p:nvSpPr>
          <p:cNvPr id="41" name="Shape 39"/>
          <p:cNvSpPr/>
          <p:nvPr/>
        </p:nvSpPr>
        <p:spPr>
          <a:xfrm>
            <a:off x="4818888" y="3255264"/>
            <a:ext cx="3977640" cy="36576"/>
          </a:xfrm>
          <a:prstGeom prst="rect">
            <a:avLst/>
          </a:prstGeom>
          <a:solidFill>
            <a:srgbClr val="3C3489">
              <a:alpha val="30000"/>
            </a:srgbClr>
          </a:solidFill>
          <a:ln w="12700">
            <a:solidFill>
              <a:srgbClr val="3C3489">
                <a:alpha val="30000"/>
              </a:srgbClr>
            </a:solidFill>
            <a:prstDash val="solid"/>
          </a:ln>
        </p:spPr>
      </p:sp>
      <p:sp>
        <p:nvSpPr>
          <p:cNvPr id="42" name="Text 40"/>
          <p:cNvSpPr/>
          <p:nvPr/>
        </p:nvSpPr>
        <p:spPr>
          <a:xfrm>
            <a:off x="4818888" y="3328416"/>
            <a:ext cx="3977640" cy="402336"/>
          </a:xfrm>
          <a:prstGeom prst="rect">
            <a:avLst/>
          </a:prstGeom>
          <a:noFill/>
          <a:ln/>
        </p:spPr>
        <p:txBody>
          <a:bodyPr wrap="square" rtlCol="0" anchor="ctr"/>
          <a:lstStyle/>
          <a:p>
            <a:pPr indent="0" marL="0">
              <a:buNone/>
            </a:pPr>
            <a:r>
              <a:rPr lang="en-US" sz="950" dirty="0">
                <a:solidFill>
                  <a:srgbClr val="3C3489"/>
                </a:solidFill>
                <a:latin typeface="Calibri" pitchFamily="34" charset="0"/>
                <a:ea typeface="Calibri" pitchFamily="34" charset="-122"/>
                <a:cs typeface="Calibri" pitchFamily="34" charset="-120"/>
              </a:rPr>
              <a:t>A  Automated brute-force or port scanning against your PostgreSQL port — which your security group is BLOCKING correctly. Not a breach. Document it, consider a NACL DENY, monitor for pattern changes.</a:t>
            </a:r>
            <a:endParaRPr lang="en-US" sz="950" dirty="0"/>
          </a:p>
        </p:txBody>
      </p:sp>
      <p:sp>
        <p:nvSpPr>
          <p:cNvPr id="43" name="Text 41"/>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1210"/>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F6E56"/>
          </a:solidFill>
          <a:ln w="12700">
            <a:solidFill>
              <a:srgbClr val="0F6E56"/>
            </a:solidFill>
            <a:prstDash val="solid"/>
          </a:ln>
        </p:spPr>
      </p:sp>
      <p:sp>
        <p:nvSpPr>
          <p:cNvPr id="3" name="Shape 1"/>
          <p:cNvSpPr/>
          <p:nvPr/>
        </p:nvSpPr>
        <p:spPr>
          <a:xfrm>
            <a:off x="73152" y="0"/>
            <a:ext cx="9070848" cy="36576"/>
          </a:xfrm>
          <a:prstGeom prst="rect">
            <a:avLst/>
          </a:prstGeom>
          <a:solidFill>
            <a:srgbClr val="0F6E56"/>
          </a:solidFill>
          <a:ln w="12700">
            <a:solidFill>
              <a:srgbClr val="0F6E56"/>
            </a:solidFill>
            <a:prstDash val="solid"/>
          </a:ln>
        </p:spPr>
      </p:sp>
      <p:sp>
        <p:nvSpPr>
          <p:cNvPr id="4" name="Shape 2"/>
          <p:cNvSpPr/>
          <p:nvPr/>
        </p:nvSpPr>
        <p:spPr>
          <a:xfrm>
            <a:off x="0" y="5106924"/>
            <a:ext cx="9144000" cy="36576"/>
          </a:xfrm>
          <a:prstGeom prst="rect">
            <a:avLst/>
          </a:prstGeom>
          <a:solidFill>
            <a:srgbClr val="D4AF37"/>
          </a:solidFill>
          <a:ln w="12700">
            <a:solidFill>
              <a:srgbClr val="D4AF37"/>
            </a:solidFill>
            <a:prstDash val="solid"/>
          </a:ln>
        </p:spPr>
      </p:sp>
      <p:sp>
        <p:nvSpPr>
          <p:cNvPr id="5" name="Text 3"/>
          <p:cNvSpPr/>
          <p:nvPr/>
        </p:nvSpPr>
        <p:spPr>
          <a:xfrm>
            <a:off x="274320" y="274320"/>
            <a:ext cx="2560320" cy="2011680"/>
          </a:xfrm>
          <a:prstGeom prst="rect">
            <a:avLst/>
          </a:prstGeom>
          <a:noFill/>
          <a:ln/>
        </p:spPr>
        <p:txBody>
          <a:bodyPr wrap="square" rtlCol="0" anchor="ctr"/>
          <a:lstStyle/>
          <a:p>
            <a:pPr indent="0" marL="0">
              <a:buNone/>
            </a:pPr>
            <a:r>
              <a:rPr lang="en-US" sz="14000" b="1" dirty="0">
                <a:solidFill>
                  <a:srgbClr val="0F6E56">
                    <a:alpha val="25000"/>
                  </a:srgbClr>
                </a:solidFill>
                <a:latin typeface="Arial Black" pitchFamily="34" charset="0"/>
                <a:ea typeface="Arial Black" pitchFamily="34" charset="-122"/>
                <a:cs typeface="Arial Black" pitchFamily="34" charset="-120"/>
              </a:rPr>
              <a:t>06</a:t>
            </a:r>
            <a:endParaRPr lang="en-US" sz="14000" dirty="0"/>
          </a:p>
        </p:txBody>
      </p:sp>
      <p:sp>
        <p:nvSpPr>
          <p:cNvPr id="6" name="Text 4"/>
          <p:cNvSpPr/>
          <p:nvPr/>
        </p:nvSpPr>
        <p:spPr>
          <a:xfrm>
            <a:off x="2926080" y="822960"/>
            <a:ext cx="5943600" cy="347472"/>
          </a:xfrm>
          <a:prstGeom prst="rect">
            <a:avLst/>
          </a:prstGeom>
          <a:noFill/>
          <a:ln/>
        </p:spPr>
        <p:txBody>
          <a:bodyPr wrap="square" rtlCol="0" anchor="ctr"/>
          <a:lstStyle/>
          <a:p>
            <a:pPr indent="0" marL="0">
              <a:buNone/>
            </a:pPr>
            <a:r>
              <a:rPr lang="en-US" sz="1200" b="1" spc="300" kern="0" dirty="0">
                <a:solidFill>
                  <a:srgbClr val="0F6E56"/>
                </a:solidFill>
                <a:latin typeface="Calibri" pitchFamily="34" charset="0"/>
                <a:ea typeface="Calibri" pitchFamily="34" charset="-122"/>
                <a:cs typeface="Calibri" pitchFamily="34" charset="-120"/>
              </a:rPr>
              <a:t>MODULE 6</a:t>
            </a:r>
            <a:endParaRPr lang="en-US" sz="1200" dirty="0"/>
          </a:p>
        </p:txBody>
      </p:sp>
      <p:sp>
        <p:nvSpPr>
          <p:cNvPr id="7" name="Text 5"/>
          <p:cNvSpPr/>
          <p:nvPr/>
        </p:nvSpPr>
        <p:spPr>
          <a:xfrm>
            <a:off x="2926080" y="1234440"/>
            <a:ext cx="5943600" cy="640080"/>
          </a:xfrm>
          <a:prstGeom prst="rect">
            <a:avLst/>
          </a:prstGeom>
          <a:noFill/>
          <a:ln/>
        </p:spPr>
        <p:txBody>
          <a:bodyPr wrap="square" rtlCol="0" anchor="ctr"/>
          <a:lstStyle/>
          <a:p>
            <a:pPr indent="0" marL="0">
              <a:buNone/>
            </a:pPr>
            <a:r>
              <a:rPr lang="en-US" sz="3400" b="1" dirty="0">
                <a:solidFill>
                  <a:srgbClr val="F0F4FF"/>
                </a:solidFill>
                <a:latin typeface="Calibri" pitchFamily="34" charset="0"/>
                <a:ea typeface="Calibri" pitchFamily="34" charset="-122"/>
                <a:cs typeface="Calibri" pitchFamily="34" charset="-120"/>
              </a:rPr>
              <a:t>Capstone Project</a:t>
            </a:r>
            <a:endParaRPr lang="en-US" sz="3400" dirty="0"/>
          </a:p>
        </p:txBody>
      </p:sp>
      <p:sp>
        <p:nvSpPr>
          <p:cNvPr id="8" name="Text 6"/>
          <p:cNvSpPr/>
          <p:nvPr/>
        </p:nvSpPr>
        <p:spPr>
          <a:xfrm>
            <a:off x="2926080" y="1901952"/>
            <a:ext cx="5943600" cy="438912"/>
          </a:xfrm>
          <a:prstGeom prst="rect">
            <a:avLst/>
          </a:prstGeom>
          <a:noFill/>
          <a:ln/>
        </p:spPr>
        <p:txBody>
          <a:bodyPr wrap="square" rtlCol="0" anchor="ctr"/>
          <a:lstStyle/>
          <a:p>
            <a:pPr indent="0" marL="0">
              <a:buNone/>
            </a:pPr>
            <a:r>
              <a:rPr lang="en-US" sz="1800" i="1" dirty="0">
                <a:solidFill>
                  <a:srgbClr val="0F6E56"/>
                </a:solidFill>
                <a:latin typeface="Calibri" pitchFamily="34" charset="0"/>
                <a:ea typeface="Calibri" pitchFamily="34" charset="-122"/>
                <a:cs typeface="Calibri" pitchFamily="34" charset="-120"/>
              </a:rPr>
              <a:t>Capstone structure · Rubric · Scenarios · Panel Q&amp;A prep</a:t>
            </a:r>
            <a:endParaRPr lang="en-US" sz="1800" dirty="0"/>
          </a:p>
        </p:txBody>
      </p:sp>
      <p:sp>
        <p:nvSpPr>
          <p:cNvPr id="9" name="Text 7"/>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Deck</a:t>
            </a:r>
            <a:endParaRPr lang="en-US" sz="900" dirty="0"/>
          </a:p>
        </p:txBody>
      </p:sp>
      <p:sp>
        <p:nvSpPr>
          <p:cNvPr id="10" name="Shape 8"/>
          <p:cNvSpPr/>
          <p:nvPr/>
        </p:nvSpPr>
        <p:spPr>
          <a:xfrm>
            <a:off x="2926080" y="2468880"/>
            <a:ext cx="54864" cy="274320"/>
          </a:xfrm>
          <a:prstGeom prst="rect">
            <a:avLst/>
          </a:prstGeom>
          <a:solidFill>
            <a:srgbClr val="0F6E56"/>
          </a:solidFill>
          <a:ln w="12700">
            <a:solidFill>
              <a:srgbClr val="0F6E56"/>
            </a:solidFill>
            <a:prstDash val="solid"/>
          </a:ln>
        </p:spPr>
      </p:sp>
      <p:sp>
        <p:nvSpPr>
          <p:cNvPr id="11" name="Text 9"/>
          <p:cNvSpPr/>
          <p:nvPr/>
        </p:nvSpPr>
        <p:spPr>
          <a:xfrm>
            <a:off x="3090672" y="246888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4 phases: Design (5hr) → Build (7hr) → Docs (4hr) → Present (4hr)</a:t>
            </a:r>
            <a:endParaRPr lang="en-US" sz="1000" dirty="0"/>
          </a:p>
        </p:txBody>
      </p:sp>
      <p:sp>
        <p:nvSpPr>
          <p:cNvPr id="12" name="Shape 10"/>
          <p:cNvSpPr/>
          <p:nvPr/>
        </p:nvSpPr>
        <p:spPr>
          <a:xfrm>
            <a:off x="2926080" y="2816352"/>
            <a:ext cx="54864" cy="274320"/>
          </a:xfrm>
          <a:prstGeom prst="rect">
            <a:avLst/>
          </a:prstGeom>
          <a:solidFill>
            <a:srgbClr val="0F6E56"/>
          </a:solidFill>
          <a:ln w="12700">
            <a:solidFill>
              <a:srgbClr val="0F6E56"/>
            </a:solidFill>
            <a:prstDash val="solid"/>
          </a:ln>
        </p:spPr>
      </p:sp>
      <p:sp>
        <p:nvSpPr>
          <p:cNvPr id="13" name="Text 11"/>
          <p:cNvSpPr/>
          <p:nvPr/>
        </p:nvSpPr>
        <p:spPr>
          <a:xfrm>
            <a:off x="3090672" y="2816352"/>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100 marks: Architecture 20 · Deployment 25 · Security 15 · Cost 10 · Presentation 20 · PoE 10</a:t>
            </a:r>
            <a:endParaRPr lang="en-US" sz="1000" dirty="0"/>
          </a:p>
        </p:txBody>
      </p:sp>
      <p:sp>
        <p:nvSpPr>
          <p:cNvPr id="14" name="Shape 12"/>
          <p:cNvSpPr/>
          <p:nvPr/>
        </p:nvSpPr>
        <p:spPr>
          <a:xfrm>
            <a:off x="2926080" y="3163824"/>
            <a:ext cx="54864" cy="274320"/>
          </a:xfrm>
          <a:prstGeom prst="rect">
            <a:avLst/>
          </a:prstGeom>
          <a:solidFill>
            <a:srgbClr val="0F6E56"/>
          </a:solidFill>
          <a:ln w="12700">
            <a:solidFill>
              <a:srgbClr val="0F6E56"/>
            </a:solidFill>
            <a:prstDash val="solid"/>
          </a:ln>
        </p:spPr>
      </p:sp>
      <p:sp>
        <p:nvSpPr>
          <p:cNvPr id="15" name="Text 13"/>
          <p:cNvSpPr/>
          <p:nvPr/>
        </p:nvSpPr>
        <p:spPr>
          <a:xfrm>
            <a:off x="3090672" y="3163824"/>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Design on PAPER first — facilitator sign-off before touching console</a:t>
            </a:r>
            <a:endParaRPr lang="en-US" sz="1000" dirty="0"/>
          </a:p>
        </p:txBody>
      </p:sp>
      <p:sp>
        <p:nvSpPr>
          <p:cNvPr id="16" name="Shape 14"/>
          <p:cNvSpPr/>
          <p:nvPr/>
        </p:nvSpPr>
        <p:spPr>
          <a:xfrm>
            <a:off x="2926080" y="3511296"/>
            <a:ext cx="54864" cy="274320"/>
          </a:xfrm>
          <a:prstGeom prst="rect">
            <a:avLst/>
          </a:prstGeom>
          <a:solidFill>
            <a:srgbClr val="0F6E56"/>
          </a:solidFill>
          <a:ln w="12700">
            <a:solidFill>
              <a:srgbClr val="0F6E56"/>
            </a:solidFill>
            <a:prstDash val="solid"/>
          </a:ln>
        </p:spPr>
      </p:sp>
      <p:sp>
        <p:nvSpPr>
          <p:cNvPr id="17" name="Text 15"/>
          <p:cNvSpPr/>
          <p:nvPr/>
        </p:nvSpPr>
        <p:spPr>
          <a:xfrm>
            <a:off x="3090672" y="3511296"/>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6 SA scenarios: Mzansi Eats · Ubuntu Health · PropConnect · KasiPay · Agri-Link · EdTech</a:t>
            </a:r>
            <a:endParaRPr lang="en-US" sz="1000" dirty="0"/>
          </a:p>
        </p:txBody>
      </p:sp>
      <p:sp>
        <p:nvSpPr>
          <p:cNvPr id="18" name="Shape 16"/>
          <p:cNvSpPr/>
          <p:nvPr/>
        </p:nvSpPr>
        <p:spPr>
          <a:xfrm>
            <a:off x="2926080" y="3858768"/>
            <a:ext cx="54864" cy="274320"/>
          </a:xfrm>
          <a:prstGeom prst="rect">
            <a:avLst/>
          </a:prstGeom>
          <a:solidFill>
            <a:srgbClr val="0F6E56"/>
          </a:solidFill>
          <a:ln w="12700">
            <a:solidFill>
              <a:srgbClr val="0F6E56"/>
            </a:solidFill>
            <a:prstDash val="solid"/>
          </a:ln>
        </p:spPr>
      </p:sp>
      <p:sp>
        <p:nvSpPr>
          <p:cNvPr id="19" name="Text 17"/>
          <p:cNvSpPr/>
          <p:nvPr/>
        </p:nvSpPr>
        <p:spPr>
          <a:xfrm>
            <a:off x="3090672" y="3858768"/>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Security Hardening Report: architecture summary, Well-Architected assessment, 5+ findings, POPIA map</a:t>
            </a:r>
            <a:endParaRPr lang="en-US" sz="1000" dirty="0"/>
          </a:p>
        </p:txBody>
      </p:sp>
      <p:sp>
        <p:nvSpPr>
          <p:cNvPr id="20" name="Shape 18"/>
          <p:cNvSpPr/>
          <p:nvPr/>
        </p:nvSpPr>
        <p:spPr>
          <a:xfrm>
            <a:off x="2926080" y="4206240"/>
            <a:ext cx="54864" cy="274320"/>
          </a:xfrm>
          <a:prstGeom prst="rect">
            <a:avLst/>
          </a:prstGeom>
          <a:solidFill>
            <a:srgbClr val="0F6E56"/>
          </a:solidFill>
          <a:ln w="12700">
            <a:solidFill>
              <a:srgbClr val="0F6E56"/>
            </a:solidFill>
            <a:prstDash val="solid"/>
          </a:ln>
        </p:spPr>
      </p:sp>
      <p:sp>
        <p:nvSpPr>
          <p:cNvPr id="21" name="Text 19"/>
          <p:cNvSpPr/>
          <p:nvPr/>
        </p:nvSpPr>
        <p:spPr>
          <a:xfrm>
            <a:off x="3090672" y="4206240"/>
            <a:ext cx="5852160" cy="274320"/>
          </a:xfrm>
          <a:prstGeom prst="rect">
            <a:avLst/>
          </a:prstGeom>
          <a:noFill/>
          <a:ln/>
        </p:spPr>
        <p:txBody>
          <a:bodyPr wrap="square" rtlCol="0" anchor="ctr"/>
          <a:lstStyle/>
          <a:p>
            <a:pPr indent="0" marL="0">
              <a:buNone/>
            </a:pPr>
            <a:r>
              <a:rPr lang="en-US" sz="1000" dirty="0">
                <a:solidFill>
                  <a:srgbClr val="6A7A8A"/>
                </a:solidFill>
                <a:latin typeface="Calibri" pitchFamily="34" charset="0"/>
                <a:ea typeface="Calibri" pitchFamily="34" charset="-122"/>
                <a:cs typeface="Calibri" pitchFamily="34" charset="-120"/>
              </a:rPr>
              <a:t>Panel question: Show me your DB is not publicly accessible (in the console, live)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12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F6E56"/>
          </a:solidFill>
          <a:ln w="12700">
            <a:solidFill>
              <a:srgbClr val="0F6E56"/>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0F6E56">
              <a:alpha val="80000"/>
            </a:srgbClr>
          </a:solidFill>
          <a:ln w="12700">
            <a:solidFill>
              <a:srgbClr val="0F6E56"/>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6</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Capstone Rubric &amp; Panel Q&amp;A Prep</a:t>
            </a:r>
            <a:endParaRPr lang="en-US" sz="1600" dirty="0"/>
          </a:p>
        </p:txBody>
      </p:sp>
      <p:sp>
        <p:nvSpPr>
          <p:cNvPr id="7" name="Shape 5"/>
          <p:cNvSpPr/>
          <p:nvPr/>
        </p:nvSpPr>
        <p:spPr>
          <a:xfrm>
            <a:off x="256032" y="530352"/>
            <a:ext cx="4160520" cy="548640"/>
          </a:xfrm>
          <a:prstGeom prst="rect">
            <a:avLst/>
          </a:prstGeom>
          <a:solidFill>
            <a:srgbClr val="0A1E18"/>
          </a:solidFill>
          <a:ln w="12700">
            <a:solidFill>
              <a:srgbClr val="0F6E56">
                <a:alpha val="45000"/>
              </a:srgbClr>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56032" y="530352"/>
            <a:ext cx="3200400" cy="548640"/>
          </a:xfrm>
          <a:prstGeom prst="rect">
            <a:avLst/>
          </a:prstGeom>
          <a:solidFill>
            <a:srgbClr val="0F6E56">
              <a:alpha val="12000"/>
            </a:srgbClr>
          </a:solidFill>
          <a:ln w="12700">
            <a:solidFill>
              <a:srgbClr val="0A1E18"/>
            </a:solidFill>
            <a:prstDash val="solid"/>
          </a:ln>
        </p:spPr>
      </p:sp>
      <p:sp>
        <p:nvSpPr>
          <p:cNvPr id="9" name="Shape 7"/>
          <p:cNvSpPr/>
          <p:nvPr/>
        </p:nvSpPr>
        <p:spPr>
          <a:xfrm>
            <a:off x="3493008" y="530352"/>
            <a:ext cx="914400" cy="548640"/>
          </a:xfrm>
          <a:prstGeom prst="rect">
            <a:avLst/>
          </a:prstGeom>
          <a:solidFill>
            <a:srgbClr val="0F6E56">
              <a:alpha val="80000"/>
            </a:srgbClr>
          </a:solidFill>
          <a:ln w="12700">
            <a:solidFill>
              <a:srgbClr val="0F6E56"/>
            </a:solidFill>
            <a:prstDash val="solid"/>
          </a:ln>
        </p:spPr>
      </p:sp>
      <p:sp>
        <p:nvSpPr>
          <p:cNvPr id="10" name="Text 8"/>
          <p:cNvSpPr/>
          <p:nvPr/>
        </p:nvSpPr>
        <p:spPr>
          <a:xfrm>
            <a:off x="347472" y="530352"/>
            <a:ext cx="3072384" cy="548640"/>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Architecture Design</a:t>
            </a:r>
            <a:endParaRPr lang="en-US" sz="1100" dirty="0"/>
          </a:p>
        </p:txBody>
      </p:sp>
      <p:sp>
        <p:nvSpPr>
          <p:cNvPr id="11" name="Text 9"/>
          <p:cNvSpPr/>
          <p:nvPr/>
        </p:nvSpPr>
        <p:spPr>
          <a:xfrm>
            <a:off x="3493008" y="530352"/>
            <a:ext cx="914400" cy="548640"/>
          </a:xfrm>
          <a:prstGeom prst="rect">
            <a:avLst/>
          </a:prstGeom>
          <a:noFill/>
          <a:ln/>
        </p:spPr>
        <p:txBody>
          <a:bodyPr wrap="square" rtlCol="0" anchor="ctr"/>
          <a:lstStyle/>
          <a:p>
            <a:pPr algn="ctr" indent="0" marL="0">
              <a:buNone/>
            </a:pPr>
            <a:r>
              <a:rPr lang="en-US" sz="2200" b="1" dirty="0">
                <a:solidFill>
                  <a:srgbClr val="060608"/>
                </a:solidFill>
                <a:latin typeface="Arial Black" pitchFamily="34" charset="0"/>
                <a:ea typeface="Arial Black" pitchFamily="34" charset="-122"/>
                <a:cs typeface="Arial Black" pitchFamily="34" charset="-120"/>
              </a:rPr>
              <a:t>20</a:t>
            </a:r>
            <a:endParaRPr lang="en-US" sz="2200" dirty="0"/>
          </a:p>
        </p:txBody>
      </p:sp>
      <p:sp>
        <p:nvSpPr>
          <p:cNvPr id="12" name="Shape 10"/>
          <p:cNvSpPr/>
          <p:nvPr/>
        </p:nvSpPr>
        <p:spPr>
          <a:xfrm>
            <a:off x="256032" y="1152144"/>
            <a:ext cx="4160520" cy="548640"/>
          </a:xfrm>
          <a:prstGeom prst="rect">
            <a:avLst/>
          </a:prstGeom>
          <a:solidFill>
            <a:srgbClr val="0A1E18"/>
          </a:solidFill>
          <a:ln w="12700">
            <a:solidFill>
              <a:srgbClr val="00FF88">
                <a:alpha val="45000"/>
              </a:srgbClr>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56032" y="1152144"/>
            <a:ext cx="3200400" cy="548640"/>
          </a:xfrm>
          <a:prstGeom prst="rect">
            <a:avLst/>
          </a:prstGeom>
          <a:solidFill>
            <a:srgbClr val="00FF88">
              <a:alpha val="12000"/>
            </a:srgbClr>
          </a:solidFill>
          <a:ln w="12700">
            <a:solidFill>
              <a:srgbClr val="0A1E18"/>
            </a:solidFill>
            <a:prstDash val="solid"/>
          </a:ln>
        </p:spPr>
      </p:sp>
      <p:sp>
        <p:nvSpPr>
          <p:cNvPr id="14" name="Shape 12"/>
          <p:cNvSpPr/>
          <p:nvPr/>
        </p:nvSpPr>
        <p:spPr>
          <a:xfrm>
            <a:off x="3493008" y="1152144"/>
            <a:ext cx="914400" cy="548640"/>
          </a:xfrm>
          <a:prstGeom prst="rect">
            <a:avLst/>
          </a:prstGeom>
          <a:solidFill>
            <a:srgbClr val="00FF88">
              <a:alpha val="80000"/>
            </a:srgbClr>
          </a:solidFill>
          <a:ln w="12700">
            <a:solidFill>
              <a:srgbClr val="00FF88"/>
            </a:solidFill>
            <a:prstDash val="solid"/>
          </a:ln>
        </p:spPr>
      </p:sp>
      <p:sp>
        <p:nvSpPr>
          <p:cNvPr id="15" name="Text 13"/>
          <p:cNvSpPr/>
          <p:nvPr/>
        </p:nvSpPr>
        <p:spPr>
          <a:xfrm>
            <a:off x="347472" y="1152144"/>
            <a:ext cx="3072384" cy="548640"/>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Working Deployment</a:t>
            </a:r>
            <a:endParaRPr lang="en-US" sz="1100" dirty="0"/>
          </a:p>
        </p:txBody>
      </p:sp>
      <p:sp>
        <p:nvSpPr>
          <p:cNvPr id="16" name="Text 14"/>
          <p:cNvSpPr/>
          <p:nvPr/>
        </p:nvSpPr>
        <p:spPr>
          <a:xfrm>
            <a:off x="3493008" y="1152144"/>
            <a:ext cx="914400" cy="548640"/>
          </a:xfrm>
          <a:prstGeom prst="rect">
            <a:avLst/>
          </a:prstGeom>
          <a:noFill/>
          <a:ln/>
        </p:spPr>
        <p:txBody>
          <a:bodyPr wrap="square" rtlCol="0" anchor="ctr"/>
          <a:lstStyle/>
          <a:p>
            <a:pPr algn="ctr" indent="0" marL="0">
              <a:buNone/>
            </a:pPr>
            <a:r>
              <a:rPr lang="en-US" sz="2200" b="1" dirty="0">
                <a:solidFill>
                  <a:srgbClr val="060608"/>
                </a:solidFill>
                <a:latin typeface="Arial Black" pitchFamily="34" charset="0"/>
                <a:ea typeface="Arial Black" pitchFamily="34" charset="-122"/>
                <a:cs typeface="Arial Black" pitchFamily="34" charset="-120"/>
              </a:rPr>
              <a:t>25</a:t>
            </a:r>
            <a:endParaRPr lang="en-US" sz="2200" dirty="0"/>
          </a:p>
        </p:txBody>
      </p:sp>
      <p:sp>
        <p:nvSpPr>
          <p:cNvPr id="17" name="Shape 15"/>
          <p:cNvSpPr/>
          <p:nvPr/>
        </p:nvSpPr>
        <p:spPr>
          <a:xfrm>
            <a:off x="256032" y="1773936"/>
            <a:ext cx="4160520" cy="548640"/>
          </a:xfrm>
          <a:prstGeom prst="rect">
            <a:avLst/>
          </a:prstGeom>
          <a:solidFill>
            <a:srgbClr val="0A1E18"/>
          </a:solidFill>
          <a:ln w="12700">
            <a:solidFill>
              <a:srgbClr val="FF6B6B">
                <a:alpha val="45000"/>
              </a:srgbClr>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256032" y="1773936"/>
            <a:ext cx="3200400" cy="548640"/>
          </a:xfrm>
          <a:prstGeom prst="rect">
            <a:avLst/>
          </a:prstGeom>
          <a:solidFill>
            <a:srgbClr val="FF6B6B">
              <a:alpha val="12000"/>
            </a:srgbClr>
          </a:solidFill>
          <a:ln w="12700">
            <a:solidFill>
              <a:srgbClr val="0A1E18"/>
            </a:solidFill>
            <a:prstDash val="solid"/>
          </a:ln>
        </p:spPr>
      </p:sp>
      <p:sp>
        <p:nvSpPr>
          <p:cNvPr id="19" name="Shape 17"/>
          <p:cNvSpPr/>
          <p:nvPr/>
        </p:nvSpPr>
        <p:spPr>
          <a:xfrm>
            <a:off x="3493008" y="1773936"/>
            <a:ext cx="914400" cy="548640"/>
          </a:xfrm>
          <a:prstGeom prst="rect">
            <a:avLst/>
          </a:prstGeom>
          <a:solidFill>
            <a:srgbClr val="FF6B6B">
              <a:alpha val="80000"/>
            </a:srgbClr>
          </a:solidFill>
          <a:ln w="12700">
            <a:solidFill>
              <a:srgbClr val="FF6B6B"/>
            </a:solidFill>
            <a:prstDash val="solid"/>
          </a:ln>
        </p:spPr>
      </p:sp>
      <p:sp>
        <p:nvSpPr>
          <p:cNvPr id="20" name="Text 18"/>
          <p:cNvSpPr/>
          <p:nvPr/>
        </p:nvSpPr>
        <p:spPr>
          <a:xfrm>
            <a:off x="347472" y="1773936"/>
            <a:ext cx="3072384" cy="548640"/>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Security &amp; POPIA</a:t>
            </a:r>
            <a:endParaRPr lang="en-US" sz="1100" dirty="0"/>
          </a:p>
        </p:txBody>
      </p:sp>
      <p:sp>
        <p:nvSpPr>
          <p:cNvPr id="21" name="Text 19"/>
          <p:cNvSpPr/>
          <p:nvPr/>
        </p:nvSpPr>
        <p:spPr>
          <a:xfrm>
            <a:off x="3493008" y="1773936"/>
            <a:ext cx="914400" cy="548640"/>
          </a:xfrm>
          <a:prstGeom prst="rect">
            <a:avLst/>
          </a:prstGeom>
          <a:noFill/>
          <a:ln/>
        </p:spPr>
        <p:txBody>
          <a:bodyPr wrap="square" rtlCol="0" anchor="ctr"/>
          <a:lstStyle/>
          <a:p>
            <a:pPr algn="ctr" indent="0" marL="0">
              <a:buNone/>
            </a:pPr>
            <a:r>
              <a:rPr lang="en-US" sz="2200" b="1" dirty="0">
                <a:solidFill>
                  <a:srgbClr val="060608"/>
                </a:solidFill>
                <a:latin typeface="Arial Black" pitchFamily="34" charset="0"/>
                <a:ea typeface="Arial Black" pitchFamily="34" charset="-122"/>
                <a:cs typeface="Arial Black" pitchFamily="34" charset="-120"/>
              </a:rPr>
              <a:t>15</a:t>
            </a:r>
            <a:endParaRPr lang="en-US" sz="2200" dirty="0"/>
          </a:p>
        </p:txBody>
      </p:sp>
      <p:sp>
        <p:nvSpPr>
          <p:cNvPr id="22" name="Shape 20"/>
          <p:cNvSpPr/>
          <p:nvPr/>
        </p:nvSpPr>
        <p:spPr>
          <a:xfrm>
            <a:off x="256032" y="2395728"/>
            <a:ext cx="4160520" cy="548640"/>
          </a:xfrm>
          <a:prstGeom prst="rect">
            <a:avLst/>
          </a:prstGeom>
          <a:solidFill>
            <a:srgbClr val="0A1E18"/>
          </a:solidFill>
          <a:ln w="12700">
            <a:solidFill>
              <a:srgbClr val="FFD166">
                <a:alpha val="45000"/>
              </a:srgbClr>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256032" y="2395728"/>
            <a:ext cx="3200400" cy="548640"/>
          </a:xfrm>
          <a:prstGeom prst="rect">
            <a:avLst/>
          </a:prstGeom>
          <a:solidFill>
            <a:srgbClr val="FFD166">
              <a:alpha val="12000"/>
            </a:srgbClr>
          </a:solidFill>
          <a:ln w="12700">
            <a:solidFill>
              <a:srgbClr val="0A1E18"/>
            </a:solidFill>
            <a:prstDash val="solid"/>
          </a:ln>
        </p:spPr>
      </p:sp>
      <p:sp>
        <p:nvSpPr>
          <p:cNvPr id="24" name="Shape 22"/>
          <p:cNvSpPr/>
          <p:nvPr/>
        </p:nvSpPr>
        <p:spPr>
          <a:xfrm>
            <a:off x="3493008" y="2395728"/>
            <a:ext cx="914400" cy="548640"/>
          </a:xfrm>
          <a:prstGeom prst="rect">
            <a:avLst/>
          </a:prstGeom>
          <a:solidFill>
            <a:srgbClr val="FFD166">
              <a:alpha val="80000"/>
            </a:srgbClr>
          </a:solidFill>
          <a:ln w="12700">
            <a:solidFill>
              <a:srgbClr val="FFD166"/>
            </a:solidFill>
            <a:prstDash val="solid"/>
          </a:ln>
        </p:spPr>
      </p:sp>
      <p:sp>
        <p:nvSpPr>
          <p:cNvPr id="25" name="Text 23"/>
          <p:cNvSpPr/>
          <p:nvPr/>
        </p:nvSpPr>
        <p:spPr>
          <a:xfrm>
            <a:off x="347472" y="2395728"/>
            <a:ext cx="3072384" cy="548640"/>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Cost Estimate</a:t>
            </a:r>
            <a:endParaRPr lang="en-US" sz="1100" dirty="0"/>
          </a:p>
        </p:txBody>
      </p:sp>
      <p:sp>
        <p:nvSpPr>
          <p:cNvPr id="26" name="Text 24"/>
          <p:cNvSpPr/>
          <p:nvPr/>
        </p:nvSpPr>
        <p:spPr>
          <a:xfrm>
            <a:off x="3493008" y="2395728"/>
            <a:ext cx="914400" cy="548640"/>
          </a:xfrm>
          <a:prstGeom prst="rect">
            <a:avLst/>
          </a:prstGeom>
          <a:noFill/>
          <a:ln/>
        </p:spPr>
        <p:txBody>
          <a:bodyPr wrap="square" rtlCol="0" anchor="ctr"/>
          <a:lstStyle/>
          <a:p>
            <a:pPr algn="ctr" indent="0" marL="0">
              <a:buNone/>
            </a:pPr>
            <a:r>
              <a:rPr lang="en-US" sz="2200" b="1" dirty="0">
                <a:solidFill>
                  <a:srgbClr val="060608"/>
                </a:solidFill>
                <a:latin typeface="Arial Black" pitchFamily="34" charset="0"/>
                <a:ea typeface="Arial Black" pitchFamily="34" charset="-122"/>
                <a:cs typeface="Arial Black" pitchFamily="34" charset="-120"/>
              </a:rPr>
              <a:t>10</a:t>
            </a:r>
            <a:endParaRPr lang="en-US" sz="2200" dirty="0"/>
          </a:p>
        </p:txBody>
      </p:sp>
      <p:sp>
        <p:nvSpPr>
          <p:cNvPr id="27" name="Shape 25"/>
          <p:cNvSpPr/>
          <p:nvPr/>
        </p:nvSpPr>
        <p:spPr>
          <a:xfrm>
            <a:off x="256032" y="3017520"/>
            <a:ext cx="4160520" cy="548640"/>
          </a:xfrm>
          <a:prstGeom prst="rect">
            <a:avLst/>
          </a:prstGeom>
          <a:solidFill>
            <a:srgbClr val="0A1E18"/>
          </a:solidFill>
          <a:ln w="12700">
            <a:solidFill>
              <a:srgbClr val="00D4FF">
                <a:alpha val="45000"/>
              </a:srgbClr>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256032" y="3017520"/>
            <a:ext cx="3200400" cy="548640"/>
          </a:xfrm>
          <a:prstGeom prst="rect">
            <a:avLst/>
          </a:prstGeom>
          <a:solidFill>
            <a:srgbClr val="00D4FF">
              <a:alpha val="12000"/>
            </a:srgbClr>
          </a:solidFill>
          <a:ln w="12700">
            <a:solidFill>
              <a:srgbClr val="0A1E18"/>
            </a:solidFill>
            <a:prstDash val="solid"/>
          </a:ln>
        </p:spPr>
      </p:sp>
      <p:sp>
        <p:nvSpPr>
          <p:cNvPr id="29" name="Shape 27"/>
          <p:cNvSpPr/>
          <p:nvPr/>
        </p:nvSpPr>
        <p:spPr>
          <a:xfrm>
            <a:off x="3493008" y="3017520"/>
            <a:ext cx="914400" cy="548640"/>
          </a:xfrm>
          <a:prstGeom prst="rect">
            <a:avLst/>
          </a:prstGeom>
          <a:solidFill>
            <a:srgbClr val="00D4FF">
              <a:alpha val="80000"/>
            </a:srgbClr>
          </a:solidFill>
          <a:ln w="12700">
            <a:solidFill>
              <a:srgbClr val="00D4FF"/>
            </a:solidFill>
            <a:prstDash val="solid"/>
          </a:ln>
        </p:spPr>
      </p:sp>
      <p:sp>
        <p:nvSpPr>
          <p:cNvPr id="30" name="Text 28"/>
          <p:cNvSpPr/>
          <p:nvPr/>
        </p:nvSpPr>
        <p:spPr>
          <a:xfrm>
            <a:off x="347472" y="3017520"/>
            <a:ext cx="3072384" cy="548640"/>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Presentation &amp; Defence</a:t>
            </a:r>
            <a:endParaRPr lang="en-US" sz="1100" dirty="0"/>
          </a:p>
        </p:txBody>
      </p:sp>
      <p:sp>
        <p:nvSpPr>
          <p:cNvPr id="31" name="Text 29"/>
          <p:cNvSpPr/>
          <p:nvPr/>
        </p:nvSpPr>
        <p:spPr>
          <a:xfrm>
            <a:off x="3493008" y="3017520"/>
            <a:ext cx="914400" cy="548640"/>
          </a:xfrm>
          <a:prstGeom prst="rect">
            <a:avLst/>
          </a:prstGeom>
          <a:noFill/>
          <a:ln/>
        </p:spPr>
        <p:txBody>
          <a:bodyPr wrap="square" rtlCol="0" anchor="ctr"/>
          <a:lstStyle/>
          <a:p>
            <a:pPr algn="ctr" indent="0" marL="0">
              <a:buNone/>
            </a:pPr>
            <a:r>
              <a:rPr lang="en-US" sz="2200" b="1" dirty="0">
                <a:solidFill>
                  <a:srgbClr val="060608"/>
                </a:solidFill>
                <a:latin typeface="Arial Black" pitchFamily="34" charset="0"/>
                <a:ea typeface="Arial Black" pitchFamily="34" charset="-122"/>
                <a:cs typeface="Arial Black" pitchFamily="34" charset="-120"/>
              </a:rPr>
              <a:t>20</a:t>
            </a:r>
            <a:endParaRPr lang="en-US" sz="2200" dirty="0"/>
          </a:p>
        </p:txBody>
      </p:sp>
      <p:sp>
        <p:nvSpPr>
          <p:cNvPr id="32" name="Shape 30"/>
          <p:cNvSpPr/>
          <p:nvPr/>
        </p:nvSpPr>
        <p:spPr>
          <a:xfrm>
            <a:off x="256032" y="3639312"/>
            <a:ext cx="4160520" cy="548640"/>
          </a:xfrm>
          <a:prstGeom prst="rect">
            <a:avLst/>
          </a:prstGeom>
          <a:solidFill>
            <a:srgbClr val="0A1E18"/>
          </a:solidFill>
          <a:ln w="12700">
            <a:solidFill>
              <a:srgbClr val="D4AF37">
                <a:alpha val="45000"/>
              </a:srgbClr>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256032" y="3639312"/>
            <a:ext cx="3200400" cy="548640"/>
          </a:xfrm>
          <a:prstGeom prst="rect">
            <a:avLst/>
          </a:prstGeom>
          <a:solidFill>
            <a:srgbClr val="D4AF37">
              <a:alpha val="12000"/>
            </a:srgbClr>
          </a:solidFill>
          <a:ln w="12700">
            <a:solidFill>
              <a:srgbClr val="0A1E18"/>
            </a:solidFill>
            <a:prstDash val="solid"/>
          </a:ln>
        </p:spPr>
      </p:sp>
      <p:sp>
        <p:nvSpPr>
          <p:cNvPr id="34" name="Shape 32"/>
          <p:cNvSpPr/>
          <p:nvPr/>
        </p:nvSpPr>
        <p:spPr>
          <a:xfrm>
            <a:off x="3493008" y="3639312"/>
            <a:ext cx="914400" cy="548640"/>
          </a:xfrm>
          <a:prstGeom prst="rect">
            <a:avLst/>
          </a:prstGeom>
          <a:solidFill>
            <a:srgbClr val="D4AF37">
              <a:alpha val="80000"/>
            </a:srgbClr>
          </a:solidFill>
          <a:ln w="12700">
            <a:solidFill>
              <a:srgbClr val="D4AF37"/>
            </a:solidFill>
            <a:prstDash val="solid"/>
          </a:ln>
        </p:spPr>
      </p:sp>
      <p:sp>
        <p:nvSpPr>
          <p:cNvPr id="35" name="Text 33"/>
          <p:cNvSpPr/>
          <p:nvPr/>
        </p:nvSpPr>
        <p:spPr>
          <a:xfrm>
            <a:off x="347472" y="3639312"/>
            <a:ext cx="3072384" cy="548640"/>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Portfolio of Evidence</a:t>
            </a:r>
            <a:endParaRPr lang="en-US" sz="1100" dirty="0"/>
          </a:p>
        </p:txBody>
      </p:sp>
      <p:sp>
        <p:nvSpPr>
          <p:cNvPr id="36" name="Text 34"/>
          <p:cNvSpPr/>
          <p:nvPr/>
        </p:nvSpPr>
        <p:spPr>
          <a:xfrm>
            <a:off x="3493008" y="3639312"/>
            <a:ext cx="914400" cy="548640"/>
          </a:xfrm>
          <a:prstGeom prst="rect">
            <a:avLst/>
          </a:prstGeom>
          <a:noFill/>
          <a:ln/>
        </p:spPr>
        <p:txBody>
          <a:bodyPr wrap="square" rtlCol="0" anchor="ctr"/>
          <a:lstStyle/>
          <a:p>
            <a:pPr algn="ctr" indent="0" marL="0">
              <a:buNone/>
            </a:pPr>
            <a:r>
              <a:rPr lang="en-US" sz="2200" b="1" dirty="0">
                <a:solidFill>
                  <a:srgbClr val="060608"/>
                </a:solidFill>
                <a:latin typeface="Arial Black" pitchFamily="34" charset="0"/>
                <a:ea typeface="Arial Black" pitchFamily="34" charset="-122"/>
                <a:cs typeface="Arial Black" pitchFamily="34" charset="-120"/>
              </a:rPr>
              <a:t>10</a:t>
            </a:r>
            <a:endParaRPr lang="en-US" sz="2200" dirty="0"/>
          </a:p>
        </p:txBody>
      </p:sp>
      <p:sp>
        <p:nvSpPr>
          <p:cNvPr id="37" name="Shape 35"/>
          <p:cNvSpPr/>
          <p:nvPr/>
        </p:nvSpPr>
        <p:spPr>
          <a:xfrm>
            <a:off x="256032" y="4279392"/>
            <a:ext cx="4160520" cy="292608"/>
          </a:xfrm>
          <a:prstGeom prst="rect">
            <a:avLst/>
          </a:prstGeom>
          <a:solidFill>
            <a:srgbClr val="0F2818"/>
          </a:solidFill>
          <a:ln w="12700">
            <a:solidFill>
              <a:srgbClr val="00FF88">
                <a:alpha val="50000"/>
              </a:srgbClr>
            </a:solidFill>
            <a:prstDash val="solid"/>
          </a:ln>
        </p:spPr>
      </p:sp>
      <p:sp>
        <p:nvSpPr>
          <p:cNvPr id="38" name="Text 36"/>
          <p:cNvSpPr/>
          <p:nvPr/>
        </p:nvSpPr>
        <p:spPr>
          <a:xfrm>
            <a:off x="347472" y="4288536"/>
            <a:ext cx="3977640" cy="274320"/>
          </a:xfrm>
          <a:prstGeom prst="rect">
            <a:avLst/>
          </a:prstGeom>
          <a:noFill/>
          <a:ln/>
        </p:spPr>
        <p:txBody>
          <a:bodyPr wrap="square" rtlCol="0" anchor="ctr"/>
          <a:lstStyle/>
          <a:p>
            <a:pPr indent="0" marL="0">
              <a:buNone/>
            </a:pPr>
            <a:r>
              <a:rPr lang="en-US" sz="950" b="1" dirty="0">
                <a:solidFill>
                  <a:srgbClr val="00FF88"/>
                </a:solidFill>
                <a:latin typeface="Calibri" pitchFamily="34" charset="0"/>
                <a:ea typeface="Calibri" pitchFamily="34" charset="-122"/>
                <a:cs typeface="Calibri" pitchFamily="34" charset="-120"/>
              </a:rPr>
              <a:t>TOTAL: 100  ·  PASS: 70  ·  No component below 50%</a:t>
            </a:r>
            <a:endParaRPr lang="en-US" sz="950" dirty="0"/>
          </a:p>
        </p:txBody>
      </p:sp>
      <p:sp>
        <p:nvSpPr>
          <p:cNvPr id="39" name="Text 37"/>
          <p:cNvSpPr/>
          <p:nvPr/>
        </p:nvSpPr>
        <p:spPr>
          <a:xfrm>
            <a:off x="4736592" y="512064"/>
            <a:ext cx="4160520" cy="256032"/>
          </a:xfrm>
          <a:prstGeom prst="rect">
            <a:avLst/>
          </a:prstGeom>
          <a:noFill/>
          <a:ln/>
        </p:spPr>
        <p:txBody>
          <a:bodyPr wrap="square" rtlCol="0" anchor="ctr"/>
          <a:lstStyle/>
          <a:p>
            <a:pPr indent="0" marL="0">
              <a:buNone/>
            </a:pPr>
            <a:r>
              <a:rPr lang="en-US" sz="1100" b="1" dirty="0">
                <a:solidFill>
                  <a:srgbClr val="F0F4FF"/>
                </a:solidFill>
                <a:latin typeface="Calibri" pitchFamily="34" charset="0"/>
                <a:ea typeface="Calibri" pitchFamily="34" charset="-122"/>
                <a:cs typeface="Calibri" pitchFamily="34" charset="-120"/>
              </a:rPr>
              <a:t>Panel Q&amp;A — Know These Cold</a:t>
            </a:r>
            <a:endParaRPr lang="en-US" sz="1100" dirty="0"/>
          </a:p>
        </p:txBody>
      </p:sp>
      <p:sp>
        <p:nvSpPr>
          <p:cNvPr id="40" name="Shape 38"/>
          <p:cNvSpPr/>
          <p:nvPr/>
        </p:nvSpPr>
        <p:spPr>
          <a:xfrm>
            <a:off x="4736592" y="804672"/>
            <a:ext cx="4160520" cy="566928"/>
          </a:xfrm>
          <a:prstGeom prst="rect">
            <a:avLst/>
          </a:prstGeom>
          <a:solidFill>
            <a:srgbClr val="0A1E18"/>
          </a:solidFill>
          <a:ln w="12700">
            <a:solidFill>
              <a:srgbClr val="00D4FF">
                <a:alpha val="45000"/>
              </a:srgbClr>
            </a:solidFill>
            <a:prstDash val="solid"/>
          </a:ln>
          <a:effectLst>
            <a:outerShdw sx="100000" sy="100000" kx="0" ky="0" algn="bl" rotWithShape="0" blurRad="101600" dist="38100" dir="8100000">
              <a:srgbClr val="000000">
                <a:alpha val="18000"/>
              </a:srgbClr>
            </a:outerShdw>
          </a:effectLst>
        </p:spPr>
      </p:sp>
      <p:sp>
        <p:nvSpPr>
          <p:cNvPr id="41" name="Shape 39"/>
          <p:cNvSpPr/>
          <p:nvPr/>
        </p:nvSpPr>
        <p:spPr>
          <a:xfrm>
            <a:off x="4736592" y="804672"/>
            <a:ext cx="1005840" cy="566928"/>
          </a:xfrm>
          <a:prstGeom prst="rect">
            <a:avLst/>
          </a:prstGeom>
          <a:solidFill>
            <a:srgbClr val="00D4FF">
              <a:alpha val="20000"/>
            </a:srgbClr>
          </a:solidFill>
          <a:ln w="12700">
            <a:solidFill>
              <a:srgbClr val="00D4FF">
                <a:alpha val="40000"/>
              </a:srgbClr>
            </a:solidFill>
            <a:prstDash val="solid"/>
          </a:ln>
        </p:spPr>
      </p:sp>
      <p:sp>
        <p:nvSpPr>
          <p:cNvPr id="42" name="Text 40"/>
          <p:cNvSpPr/>
          <p:nvPr/>
        </p:nvSpPr>
        <p:spPr>
          <a:xfrm>
            <a:off x="4773168" y="804672"/>
            <a:ext cx="932688" cy="566928"/>
          </a:xfrm>
          <a:prstGeom prst="rect">
            <a:avLst/>
          </a:prstGeom>
          <a:noFill/>
          <a:ln/>
        </p:spPr>
        <p:txBody>
          <a:bodyPr wrap="square" rtlCol="0" anchor="ctr"/>
          <a:lstStyle/>
          <a:p>
            <a:pPr algn="ctr" indent="0" marL="0">
              <a:buNone/>
            </a:pPr>
            <a:r>
              <a:rPr lang="en-US" sz="900" b="1" dirty="0">
                <a:solidFill>
                  <a:srgbClr val="00D4FF"/>
                </a:solidFill>
                <a:latin typeface="Calibri" pitchFamily="34" charset="0"/>
                <a:ea typeface="Calibri" pitchFamily="34" charset="-122"/>
                <a:cs typeface="Calibri" pitchFamily="34" charset="-120"/>
              </a:rPr>
              <a:t>Architecture</a:t>
            </a:r>
            <a:endParaRPr lang="en-US" sz="900" dirty="0"/>
          </a:p>
        </p:txBody>
      </p:sp>
      <p:sp>
        <p:nvSpPr>
          <p:cNvPr id="43" name="Text 41"/>
          <p:cNvSpPr/>
          <p:nvPr/>
        </p:nvSpPr>
        <p:spPr>
          <a:xfrm>
            <a:off x="5797296" y="896112"/>
            <a:ext cx="3035808" cy="384048"/>
          </a:xfrm>
          <a:prstGeom prst="rect">
            <a:avLst/>
          </a:prstGeom>
          <a:noFill/>
          <a:ln/>
        </p:spPr>
        <p:txBody>
          <a:bodyPr wrap="square" rtlCol="0" anchor="ctr"/>
          <a:lstStyle/>
          <a:p>
            <a:pPr indent="0" marL="0">
              <a:buNone/>
            </a:pPr>
            <a:r>
              <a:rPr lang="en-US" sz="950" dirty="0">
                <a:solidFill>
                  <a:srgbClr val="F0F4FF"/>
                </a:solidFill>
                <a:latin typeface="Calibri" pitchFamily="34" charset="0"/>
                <a:ea typeface="Calibri" pitchFamily="34" charset="-122"/>
                <a:cs typeface="Calibri" pitchFamily="34" charset="-120"/>
              </a:rPr>
              <a:t>Walk me through data flow from user request to database.</a:t>
            </a:r>
            <a:endParaRPr lang="en-US" sz="950" dirty="0"/>
          </a:p>
        </p:txBody>
      </p:sp>
      <p:sp>
        <p:nvSpPr>
          <p:cNvPr id="44" name="Shape 42"/>
          <p:cNvSpPr/>
          <p:nvPr/>
        </p:nvSpPr>
        <p:spPr>
          <a:xfrm>
            <a:off x="4736592" y="1426464"/>
            <a:ext cx="4160520" cy="566928"/>
          </a:xfrm>
          <a:prstGeom prst="rect">
            <a:avLst/>
          </a:prstGeom>
          <a:solidFill>
            <a:srgbClr val="0A1E18"/>
          </a:solidFill>
          <a:ln w="12700">
            <a:solidFill>
              <a:srgbClr val="FF6B6B">
                <a:alpha val="45000"/>
              </a:srgbClr>
            </a:solidFill>
            <a:prstDash val="solid"/>
          </a:ln>
          <a:effectLst>
            <a:outerShdw sx="100000" sy="100000" kx="0" ky="0" algn="bl" rotWithShape="0" blurRad="101600" dist="38100" dir="8100000">
              <a:srgbClr val="000000">
                <a:alpha val="18000"/>
              </a:srgbClr>
            </a:outerShdw>
          </a:effectLst>
        </p:spPr>
      </p:sp>
      <p:sp>
        <p:nvSpPr>
          <p:cNvPr id="45" name="Shape 43"/>
          <p:cNvSpPr/>
          <p:nvPr/>
        </p:nvSpPr>
        <p:spPr>
          <a:xfrm>
            <a:off x="4736592" y="1426464"/>
            <a:ext cx="1005840" cy="566928"/>
          </a:xfrm>
          <a:prstGeom prst="rect">
            <a:avLst/>
          </a:prstGeom>
          <a:solidFill>
            <a:srgbClr val="FF6B6B">
              <a:alpha val="20000"/>
            </a:srgbClr>
          </a:solidFill>
          <a:ln w="12700">
            <a:solidFill>
              <a:srgbClr val="FF6B6B">
                <a:alpha val="40000"/>
              </a:srgbClr>
            </a:solidFill>
            <a:prstDash val="solid"/>
          </a:ln>
        </p:spPr>
      </p:sp>
      <p:sp>
        <p:nvSpPr>
          <p:cNvPr id="46" name="Text 44"/>
          <p:cNvSpPr/>
          <p:nvPr/>
        </p:nvSpPr>
        <p:spPr>
          <a:xfrm>
            <a:off x="4773168" y="1426464"/>
            <a:ext cx="932688" cy="566928"/>
          </a:xfrm>
          <a:prstGeom prst="rect">
            <a:avLst/>
          </a:prstGeom>
          <a:noFill/>
          <a:ln/>
        </p:spPr>
        <p:txBody>
          <a:bodyPr wrap="square" rtlCol="0" anchor="ctr"/>
          <a:lstStyle/>
          <a:p>
            <a:pPr algn="ctr" indent="0" marL="0">
              <a:buNone/>
            </a:pPr>
            <a:r>
              <a:rPr lang="en-US" sz="900" b="1" dirty="0">
                <a:solidFill>
                  <a:srgbClr val="FF6B6B"/>
                </a:solidFill>
                <a:latin typeface="Calibri" pitchFamily="34" charset="0"/>
                <a:ea typeface="Calibri" pitchFamily="34" charset="-122"/>
                <a:cs typeface="Calibri" pitchFamily="34" charset="-120"/>
              </a:rPr>
              <a:t>Security</a:t>
            </a:r>
            <a:endParaRPr lang="en-US" sz="900" dirty="0"/>
          </a:p>
        </p:txBody>
      </p:sp>
      <p:sp>
        <p:nvSpPr>
          <p:cNvPr id="47" name="Text 45"/>
          <p:cNvSpPr/>
          <p:nvPr/>
        </p:nvSpPr>
        <p:spPr>
          <a:xfrm>
            <a:off x="5797296" y="1517904"/>
            <a:ext cx="3035808" cy="384048"/>
          </a:xfrm>
          <a:prstGeom prst="rect">
            <a:avLst/>
          </a:prstGeom>
          <a:noFill/>
          <a:ln/>
        </p:spPr>
        <p:txBody>
          <a:bodyPr wrap="square" rtlCol="0" anchor="ctr"/>
          <a:lstStyle/>
          <a:p>
            <a:pPr indent="0" marL="0">
              <a:buNone/>
            </a:pPr>
            <a:r>
              <a:rPr lang="en-US" sz="950" dirty="0">
                <a:solidFill>
                  <a:srgbClr val="F0F4FF"/>
                </a:solidFill>
                <a:latin typeface="Calibri" pitchFamily="34" charset="0"/>
                <a:ea typeface="Calibri" pitchFamily="34" charset="-122"/>
                <a:cs typeface="Calibri" pitchFamily="34" charset="-120"/>
              </a:rPr>
              <a:t>Why is the DB in a private subnet — technically AND legally?</a:t>
            </a:r>
            <a:endParaRPr lang="en-US" sz="950" dirty="0"/>
          </a:p>
        </p:txBody>
      </p:sp>
      <p:sp>
        <p:nvSpPr>
          <p:cNvPr id="48" name="Shape 46"/>
          <p:cNvSpPr/>
          <p:nvPr/>
        </p:nvSpPr>
        <p:spPr>
          <a:xfrm>
            <a:off x="4736592" y="2048256"/>
            <a:ext cx="4160520" cy="566928"/>
          </a:xfrm>
          <a:prstGeom prst="rect">
            <a:avLst/>
          </a:prstGeom>
          <a:solidFill>
            <a:srgbClr val="0A1E18"/>
          </a:solidFill>
          <a:ln w="12700">
            <a:solidFill>
              <a:srgbClr val="00FF88">
                <a:alpha val="45000"/>
              </a:srgbClr>
            </a:solidFill>
            <a:prstDash val="solid"/>
          </a:ln>
          <a:effectLst>
            <a:outerShdw sx="100000" sy="100000" kx="0" ky="0" algn="bl" rotWithShape="0" blurRad="101600" dist="38100" dir="8100000">
              <a:srgbClr val="000000">
                <a:alpha val="18000"/>
              </a:srgbClr>
            </a:outerShdw>
          </a:effectLst>
        </p:spPr>
      </p:sp>
      <p:sp>
        <p:nvSpPr>
          <p:cNvPr id="49" name="Shape 47"/>
          <p:cNvSpPr/>
          <p:nvPr/>
        </p:nvSpPr>
        <p:spPr>
          <a:xfrm>
            <a:off x="4736592" y="2048256"/>
            <a:ext cx="1005840" cy="566928"/>
          </a:xfrm>
          <a:prstGeom prst="rect">
            <a:avLst/>
          </a:prstGeom>
          <a:solidFill>
            <a:srgbClr val="00FF88">
              <a:alpha val="20000"/>
            </a:srgbClr>
          </a:solidFill>
          <a:ln w="12700">
            <a:solidFill>
              <a:srgbClr val="00FF88">
                <a:alpha val="40000"/>
              </a:srgbClr>
            </a:solidFill>
            <a:prstDash val="solid"/>
          </a:ln>
        </p:spPr>
      </p:sp>
      <p:sp>
        <p:nvSpPr>
          <p:cNvPr id="50" name="Text 48"/>
          <p:cNvSpPr/>
          <p:nvPr/>
        </p:nvSpPr>
        <p:spPr>
          <a:xfrm>
            <a:off x="4773168" y="2048256"/>
            <a:ext cx="932688" cy="566928"/>
          </a:xfrm>
          <a:prstGeom prst="rect">
            <a:avLst/>
          </a:prstGeom>
          <a:noFill/>
          <a:ln/>
        </p:spPr>
        <p:txBody>
          <a:bodyPr wrap="square" rtlCol="0" anchor="ctr"/>
          <a:lstStyle/>
          <a:p>
            <a:pPr algn="ctr" indent="0" marL="0">
              <a:buNone/>
            </a:pPr>
            <a:r>
              <a:rPr lang="en-US" sz="900" b="1" dirty="0">
                <a:solidFill>
                  <a:srgbClr val="00FF88"/>
                </a:solidFill>
                <a:latin typeface="Calibri" pitchFamily="34" charset="0"/>
                <a:ea typeface="Calibri" pitchFamily="34" charset="-122"/>
                <a:cs typeface="Calibri" pitchFamily="34" charset="-120"/>
              </a:rPr>
              <a:t>Live Demo</a:t>
            </a:r>
            <a:endParaRPr lang="en-US" sz="900" dirty="0"/>
          </a:p>
        </p:txBody>
      </p:sp>
      <p:sp>
        <p:nvSpPr>
          <p:cNvPr id="51" name="Text 49"/>
          <p:cNvSpPr/>
          <p:nvPr/>
        </p:nvSpPr>
        <p:spPr>
          <a:xfrm>
            <a:off x="5797296" y="2139696"/>
            <a:ext cx="3035808" cy="384048"/>
          </a:xfrm>
          <a:prstGeom prst="rect">
            <a:avLst/>
          </a:prstGeom>
          <a:noFill/>
          <a:ln/>
        </p:spPr>
        <p:txBody>
          <a:bodyPr wrap="square" rtlCol="0" anchor="ctr"/>
          <a:lstStyle/>
          <a:p>
            <a:pPr indent="0" marL="0">
              <a:buNone/>
            </a:pPr>
            <a:r>
              <a:rPr lang="en-US" sz="950" dirty="0">
                <a:solidFill>
                  <a:srgbClr val="F0F4FF"/>
                </a:solidFill>
                <a:latin typeface="Calibri" pitchFamily="34" charset="0"/>
                <a:ea typeface="Calibri" pitchFamily="34" charset="-122"/>
                <a:cs typeface="Calibri" pitchFamily="34" charset="-120"/>
              </a:rPr>
              <a:t>Show me your database is NOT publicly accessible.</a:t>
            </a:r>
            <a:endParaRPr lang="en-US" sz="950" dirty="0"/>
          </a:p>
        </p:txBody>
      </p:sp>
      <p:sp>
        <p:nvSpPr>
          <p:cNvPr id="52" name="Shape 50"/>
          <p:cNvSpPr/>
          <p:nvPr/>
        </p:nvSpPr>
        <p:spPr>
          <a:xfrm>
            <a:off x="4736592" y="2670048"/>
            <a:ext cx="4160520" cy="566928"/>
          </a:xfrm>
          <a:prstGeom prst="rect">
            <a:avLst/>
          </a:prstGeom>
          <a:solidFill>
            <a:srgbClr val="0A1E18"/>
          </a:solidFill>
          <a:ln w="12700">
            <a:solidFill>
              <a:srgbClr val="FFD166">
                <a:alpha val="45000"/>
              </a:srgbClr>
            </a:solidFill>
            <a:prstDash val="solid"/>
          </a:ln>
          <a:effectLst>
            <a:outerShdw sx="100000" sy="100000" kx="0" ky="0" algn="bl" rotWithShape="0" blurRad="101600" dist="38100" dir="8100000">
              <a:srgbClr val="000000">
                <a:alpha val="18000"/>
              </a:srgbClr>
            </a:outerShdw>
          </a:effectLst>
        </p:spPr>
      </p:sp>
      <p:sp>
        <p:nvSpPr>
          <p:cNvPr id="53" name="Shape 51"/>
          <p:cNvSpPr/>
          <p:nvPr/>
        </p:nvSpPr>
        <p:spPr>
          <a:xfrm>
            <a:off x="4736592" y="2670048"/>
            <a:ext cx="1005840" cy="566928"/>
          </a:xfrm>
          <a:prstGeom prst="rect">
            <a:avLst/>
          </a:prstGeom>
          <a:solidFill>
            <a:srgbClr val="FFD166">
              <a:alpha val="20000"/>
            </a:srgbClr>
          </a:solidFill>
          <a:ln w="12700">
            <a:solidFill>
              <a:srgbClr val="FFD166">
                <a:alpha val="40000"/>
              </a:srgbClr>
            </a:solidFill>
            <a:prstDash val="solid"/>
          </a:ln>
        </p:spPr>
      </p:sp>
      <p:sp>
        <p:nvSpPr>
          <p:cNvPr id="54" name="Text 52"/>
          <p:cNvSpPr/>
          <p:nvPr/>
        </p:nvSpPr>
        <p:spPr>
          <a:xfrm>
            <a:off x="4773168" y="2670048"/>
            <a:ext cx="932688" cy="566928"/>
          </a:xfrm>
          <a:prstGeom prst="rect">
            <a:avLst/>
          </a:prstGeom>
          <a:noFill/>
          <a:ln/>
        </p:spPr>
        <p:txBody>
          <a:bodyPr wrap="square" rtlCol="0" anchor="ctr"/>
          <a:lstStyle/>
          <a:p>
            <a:pPr algn="ctr" indent="0" marL="0">
              <a:buNone/>
            </a:pPr>
            <a:r>
              <a:rPr lang="en-US" sz="900" b="1" dirty="0">
                <a:solidFill>
                  <a:srgbClr val="FFD166"/>
                </a:solidFill>
                <a:latin typeface="Calibri" pitchFamily="34" charset="0"/>
                <a:ea typeface="Calibri" pitchFamily="34" charset="-122"/>
                <a:cs typeface="Calibri" pitchFamily="34" charset="-120"/>
              </a:rPr>
              <a:t>Cost</a:t>
            </a:r>
            <a:endParaRPr lang="en-US" sz="900" dirty="0"/>
          </a:p>
        </p:txBody>
      </p:sp>
      <p:sp>
        <p:nvSpPr>
          <p:cNvPr id="55" name="Text 53"/>
          <p:cNvSpPr/>
          <p:nvPr/>
        </p:nvSpPr>
        <p:spPr>
          <a:xfrm>
            <a:off x="5797296" y="2761488"/>
            <a:ext cx="3035808" cy="384048"/>
          </a:xfrm>
          <a:prstGeom prst="rect">
            <a:avLst/>
          </a:prstGeom>
          <a:noFill/>
          <a:ln/>
        </p:spPr>
        <p:txBody>
          <a:bodyPr wrap="square" rtlCol="0" anchor="ctr"/>
          <a:lstStyle/>
          <a:p>
            <a:pPr indent="0" marL="0">
              <a:buNone/>
            </a:pPr>
            <a:r>
              <a:rPr lang="en-US" sz="950" dirty="0">
                <a:solidFill>
                  <a:srgbClr val="F0F4FF"/>
                </a:solidFill>
                <a:latin typeface="Calibri" pitchFamily="34" charset="0"/>
                <a:ea typeface="Calibri" pitchFamily="34" charset="-122"/>
                <a:cs typeface="Calibri" pitchFamily="34" charset="-120"/>
              </a:rPr>
              <a:t>What is the highest-cost component? How would you reduce it?</a:t>
            </a:r>
            <a:endParaRPr lang="en-US" sz="950" dirty="0"/>
          </a:p>
        </p:txBody>
      </p:sp>
      <p:sp>
        <p:nvSpPr>
          <p:cNvPr id="56" name="Shape 54"/>
          <p:cNvSpPr/>
          <p:nvPr/>
        </p:nvSpPr>
        <p:spPr>
          <a:xfrm>
            <a:off x="4736592" y="3291840"/>
            <a:ext cx="4160520" cy="566928"/>
          </a:xfrm>
          <a:prstGeom prst="rect">
            <a:avLst/>
          </a:prstGeom>
          <a:solidFill>
            <a:srgbClr val="0A1E18"/>
          </a:solidFill>
          <a:ln w="12700">
            <a:solidFill>
              <a:srgbClr val="FF6B6B">
                <a:alpha val="45000"/>
              </a:srgbClr>
            </a:solidFill>
            <a:prstDash val="solid"/>
          </a:ln>
          <a:effectLst>
            <a:outerShdw sx="100000" sy="100000" kx="0" ky="0" algn="bl" rotWithShape="0" blurRad="101600" dist="38100" dir="8100000">
              <a:srgbClr val="000000">
                <a:alpha val="18000"/>
              </a:srgbClr>
            </a:outerShdw>
          </a:effectLst>
        </p:spPr>
      </p:sp>
      <p:sp>
        <p:nvSpPr>
          <p:cNvPr id="57" name="Shape 55"/>
          <p:cNvSpPr/>
          <p:nvPr/>
        </p:nvSpPr>
        <p:spPr>
          <a:xfrm>
            <a:off x="4736592" y="3291840"/>
            <a:ext cx="1005840" cy="566928"/>
          </a:xfrm>
          <a:prstGeom prst="rect">
            <a:avLst/>
          </a:prstGeom>
          <a:solidFill>
            <a:srgbClr val="FF6B6B">
              <a:alpha val="20000"/>
            </a:srgbClr>
          </a:solidFill>
          <a:ln w="12700">
            <a:solidFill>
              <a:srgbClr val="FF6B6B">
                <a:alpha val="40000"/>
              </a:srgbClr>
            </a:solidFill>
            <a:prstDash val="solid"/>
          </a:ln>
        </p:spPr>
      </p:sp>
      <p:sp>
        <p:nvSpPr>
          <p:cNvPr id="58" name="Text 56"/>
          <p:cNvSpPr/>
          <p:nvPr/>
        </p:nvSpPr>
        <p:spPr>
          <a:xfrm>
            <a:off x="4773168" y="3291840"/>
            <a:ext cx="932688" cy="566928"/>
          </a:xfrm>
          <a:prstGeom prst="rect">
            <a:avLst/>
          </a:prstGeom>
          <a:noFill/>
          <a:ln/>
        </p:spPr>
        <p:txBody>
          <a:bodyPr wrap="square" rtlCol="0" anchor="ctr"/>
          <a:lstStyle/>
          <a:p>
            <a:pPr algn="ctr" indent="0" marL="0">
              <a:buNone/>
            </a:pPr>
            <a:r>
              <a:rPr lang="en-US" sz="900" b="1" dirty="0">
                <a:solidFill>
                  <a:srgbClr val="FF6B6B"/>
                </a:solidFill>
                <a:latin typeface="Calibri" pitchFamily="34" charset="0"/>
                <a:ea typeface="Calibri" pitchFamily="34" charset="-122"/>
                <a:cs typeface="Calibri" pitchFamily="34" charset="-120"/>
              </a:rPr>
              <a:t>POPIA</a:t>
            </a:r>
            <a:endParaRPr lang="en-US" sz="900" dirty="0"/>
          </a:p>
        </p:txBody>
      </p:sp>
      <p:sp>
        <p:nvSpPr>
          <p:cNvPr id="59" name="Text 57"/>
          <p:cNvSpPr/>
          <p:nvPr/>
        </p:nvSpPr>
        <p:spPr>
          <a:xfrm>
            <a:off x="5797296" y="3383280"/>
            <a:ext cx="3035808" cy="384048"/>
          </a:xfrm>
          <a:prstGeom prst="rect">
            <a:avLst/>
          </a:prstGeom>
          <a:noFill/>
          <a:ln/>
        </p:spPr>
        <p:txBody>
          <a:bodyPr wrap="square" rtlCol="0" anchor="ctr"/>
          <a:lstStyle/>
          <a:p>
            <a:pPr indent="0" marL="0">
              <a:buNone/>
            </a:pPr>
            <a:r>
              <a:rPr lang="en-US" sz="950" dirty="0">
                <a:solidFill>
                  <a:srgbClr val="F0F4FF"/>
                </a:solidFill>
                <a:latin typeface="Calibri" pitchFamily="34" charset="0"/>
                <a:ea typeface="Calibri" pitchFamily="34" charset="-122"/>
                <a:cs typeface="Calibri" pitchFamily="34" charset="-120"/>
              </a:rPr>
              <a:t>Breach occurs. Who do you notify? Within how many hours?</a:t>
            </a:r>
            <a:endParaRPr lang="en-US" sz="950" dirty="0"/>
          </a:p>
        </p:txBody>
      </p:sp>
      <p:sp>
        <p:nvSpPr>
          <p:cNvPr id="60" name="Shape 58"/>
          <p:cNvSpPr/>
          <p:nvPr/>
        </p:nvSpPr>
        <p:spPr>
          <a:xfrm>
            <a:off x="4736592" y="3913632"/>
            <a:ext cx="4160520" cy="566928"/>
          </a:xfrm>
          <a:prstGeom prst="rect">
            <a:avLst/>
          </a:prstGeom>
          <a:solidFill>
            <a:srgbClr val="0A1E18"/>
          </a:solidFill>
          <a:ln w="12700">
            <a:solidFill>
              <a:srgbClr val="B388FF">
                <a:alpha val="45000"/>
              </a:srgbClr>
            </a:solidFill>
            <a:prstDash val="solid"/>
          </a:ln>
          <a:effectLst>
            <a:outerShdw sx="100000" sy="100000" kx="0" ky="0" algn="bl" rotWithShape="0" blurRad="101600" dist="38100" dir="8100000">
              <a:srgbClr val="000000">
                <a:alpha val="18000"/>
              </a:srgbClr>
            </a:outerShdw>
          </a:effectLst>
        </p:spPr>
      </p:sp>
      <p:sp>
        <p:nvSpPr>
          <p:cNvPr id="61" name="Shape 59"/>
          <p:cNvSpPr/>
          <p:nvPr/>
        </p:nvSpPr>
        <p:spPr>
          <a:xfrm>
            <a:off x="4736592" y="3913632"/>
            <a:ext cx="1005840" cy="566928"/>
          </a:xfrm>
          <a:prstGeom prst="rect">
            <a:avLst/>
          </a:prstGeom>
          <a:solidFill>
            <a:srgbClr val="B388FF">
              <a:alpha val="20000"/>
            </a:srgbClr>
          </a:solidFill>
          <a:ln w="12700">
            <a:solidFill>
              <a:srgbClr val="B388FF">
                <a:alpha val="40000"/>
              </a:srgbClr>
            </a:solidFill>
            <a:prstDash val="solid"/>
          </a:ln>
        </p:spPr>
      </p:sp>
      <p:sp>
        <p:nvSpPr>
          <p:cNvPr id="62" name="Text 60"/>
          <p:cNvSpPr/>
          <p:nvPr/>
        </p:nvSpPr>
        <p:spPr>
          <a:xfrm>
            <a:off x="4773168" y="3913632"/>
            <a:ext cx="932688" cy="566928"/>
          </a:xfrm>
          <a:prstGeom prst="rect">
            <a:avLst/>
          </a:prstGeom>
          <a:noFill/>
          <a:ln/>
        </p:spPr>
        <p:txBody>
          <a:bodyPr wrap="square" rtlCol="0" anchor="ctr"/>
          <a:lstStyle/>
          <a:p>
            <a:pPr algn="ctr" indent="0" marL="0">
              <a:buNone/>
            </a:pPr>
            <a:r>
              <a:rPr lang="en-US" sz="900" b="1" dirty="0">
                <a:solidFill>
                  <a:srgbClr val="B388FF"/>
                </a:solidFill>
                <a:latin typeface="Calibri" pitchFamily="34" charset="0"/>
                <a:ea typeface="Calibri" pitchFamily="34" charset="-122"/>
                <a:cs typeface="Calibri" pitchFamily="34" charset="-120"/>
              </a:rPr>
              <a:t>Reflection</a:t>
            </a:r>
            <a:endParaRPr lang="en-US" sz="900" dirty="0"/>
          </a:p>
        </p:txBody>
      </p:sp>
      <p:sp>
        <p:nvSpPr>
          <p:cNvPr id="63" name="Text 61"/>
          <p:cNvSpPr/>
          <p:nvPr/>
        </p:nvSpPr>
        <p:spPr>
          <a:xfrm>
            <a:off x="5797296" y="4005072"/>
            <a:ext cx="3035808" cy="384048"/>
          </a:xfrm>
          <a:prstGeom prst="rect">
            <a:avLst/>
          </a:prstGeom>
          <a:noFill/>
          <a:ln/>
        </p:spPr>
        <p:txBody>
          <a:bodyPr wrap="square" rtlCol="0" anchor="ctr"/>
          <a:lstStyle/>
          <a:p>
            <a:pPr indent="0" marL="0">
              <a:buNone/>
            </a:pPr>
            <a:r>
              <a:rPr lang="en-US" sz="950" dirty="0">
                <a:solidFill>
                  <a:srgbClr val="F0F4FF"/>
                </a:solidFill>
                <a:latin typeface="Calibri" pitchFamily="34" charset="0"/>
                <a:ea typeface="Calibri" pitchFamily="34" charset="-122"/>
                <a:cs typeface="Calibri" pitchFamily="34" charset="-120"/>
              </a:rPr>
              <a:t>What would you do differently with 2 more weeks? Why?</a:t>
            </a:r>
            <a:endParaRPr lang="en-US" sz="950" dirty="0"/>
          </a:p>
        </p:txBody>
      </p:sp>
      <p:sp>
        <p:nvSpPr>
          <p:cNvPr id="64" name="Text 62"/>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121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F6E56"/>
          </a:solidFill>
          <a:ln w="12700">
            <a:solidFill>
              <a:srgbClr val="0F6E56"/>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Shape 2"/>
          <p:cNvSpPr/>
          <p:nvPr/>
        </p:nvSpPr>
        <p:spPr>
          <a:xfrm>
            <a:off x="274320" y="128016"/>
            <a:ext cx="1005840" cy="256032"/>
          </a:xfrm>
          <a:prstGeom prst="rect">
            <a:avLst/>
          </a:prstGeom>
          <a:solidFill>
            <a:srgbClr val="0F6E56">
              <a:alpha val="80000"/>
            </a:srgbClr>
          </a:solidFill>
          <a:ln w="12700">
            <a:solidFill>
              <a:srgbClr val="0F6E56"/>
            </a:solidFill>
            <a:prstDash val="solid"/>
          </a:ln>
        </p:spPr>
      </p:sp>
      <p:sp>
        <p:nvSpPr>
          <p:cNvPr id="5" name="Text 3"/>
          <p:cNvSpPr/>
          <p:nvPr/>
        </p:nvSpPr>
        <p:spPr>
          <a:xfrm>
            <a:off x="274320" y="128016"/>
            <a:ext cx="1005840" cy="256032"/>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MODULE 6</a:t>
            </a:r>
            <a:endParaRPr lang="en-US" sz="800" dirty="0"/>
          </a:p>
        </p:txBody>
      </p:sp>
      <p:sp>
        <p:nvSpPr>
          <p:cNvPr id="6" name="Text 4"/>
          <p:cNvSpPr/>
          <p:nvPr/>
        </p:nvSpPr>
        <p:spPr>
          <a:xfrm>
            <a:off x="1417320" y="91440"/>
            <a:ext cx="7498080" cy="329184"/>
          </a:xfrm>
          <a:prstGeom prst="rect">
            <a:avLst/>
          </a:prstGeom>
          <a:noFill/>
          <a:ln/>
        </p:spPr>
        <p:txBody>
          <a:bodyPr wrap="square" rtlCol="0" anchor="ctr"/>
          <a:lstStyle/>
          <a:p>
            <a:pPr indent="0" marL="0">
              <a:buNone/>
            </a:pPr>
            <a:r>
              <a:rPr lang="en-US" sz="1600" b="1" dirty="0">
                <a:solidFill>
                  <a:srgbClr val="F0F4FF"/>
                </a:solidFill>
                <a:latin typeface="Calibri" pitchFamily="34" charset="0"/>
                <a:ea typeface="Calibri" pitchFamily="34" charset="-122"/>
                <a:cs typeface="Calibri" pitchFamily="34" charset="-120"/>
              </a:rPr>
              <a:t>Module 6 — Capstone Prep Quiz</a:t>
            </a:r>
            <a:endParaRPr lang="en-US" sz="1600" dirty="0"/>
          </a:p>
        </p:txBody>
      </p:sp>
      <p:sp>
        <p:nvSpPr>
          <p:cNvPr id="7" name="Shape 5"/>
          <p:cNvSpPr/>
          <p:nvPr/>
        </p:nvSpPr>
        <p:spPr>
          <a:xfrm>
            <a:off x="256032" y="530352"/>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56032" y="530352"/>
            <a:ext cx="4160520" cy="36576"/>
          </a:xfrm>
          <a:prstGeom prst="rect">
            <a:avLst/>
          </a:prstGeom>
          <a:solidFill>
            <a:srgbClr val="0F6E56"/>
          </a:solidFill>
          <a:ln w="12700">
            <a:solidFill>
              <a:srgbClr val="0F6E56"/>
            </a:solidFill>
            <a:prstDash val="solid"/>
          </a:ln>
        </p:spPr>
      </p:sp>
      <p:sp>
        <p:nvSpPr>
          <p:cNvPr id="9" name="Text 7"/>
          <p:cNvSpPr/>
          <p:nvPr/>
        </p:nvSpPr>
        <p:spPr>
          <a:xfrm>
            <a:off x="329184" y="603504"/>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10" name="Text 8"/>
          <p:cNvSpPr/>
          <p:nvPr/>
        </p:nvSpPr>
        <p:spPr>
          <a:xfrm>
            <a:off x="621792"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You choose Ubuntu Health Clinic. What makes this the most demanding scenario technically?</a:t>
            </a:r>
            <a:endParaRPr lang="en-US" sz="1000" dirty="0"/>
          </a:p>
        </p:txBody>
      </p:sp>
      <p:sp>
        <p:nvSpPr>
          <p:cNvPr id="11" name="Shape 9"/>
          <p:cNvSpPr/>
          <p:nvPr/>
        </p:nvSpPr>
        <p:spPr>
          <a:xfrm>
            <a:off x="347472" y="987552"/>
            <a:ext cx="3977640" cy="36576"/>
          </a:xfrm>
          <a:prstGeom prst="rect">
            <a:avLst/>
          </a:prstGeom>
          <a:solidFill>
            <a:srgbClr val="0F6E56">
              <a:alpha val="30000"/>
            </a:srgbClr>
          </a:solidFill>
          <a:ln w="12700">
            <a:solidFill>
              <a:srgbClr val="0F6E56">
                <a:alpha val="30000"/>
              </a:srgbClr>
            </a:solidFill>
            <a:prstDash val="solid"/>
          </a:ln>
        </p:spPr>
      </p:sp>
      <p:sp>
        <p:nvSpPr>
          <p:cNvPr id="12" name="Text 10"/>
          <p:cNvSpPr/>
          <p:nvPr/>
        </p:nvSpPr>
        <p:spPr>
          <a:xfrm>
            <a:off x="347472" y="1060704"/>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Medical records are SPECIAL personal information under POPIA. RDS encryption with KMS is non-negotiable. Must use af-south-1. All 8 POPIA conditions must be explicitly addressed in the presentation.</a:t>
            </a:r>
            <a:endParaRPr lang="en-US" sz="950" dirty="0"/>
          </a:p>
        </p:txBody>
      </p:sp>
      <p:sp>
        <p:nvSpPr>
          <p:cNvPr id="13" name="Shape 11"/>
          <p:cNvSpPr/>
          <p:nvPr/>
        </p:nvSpPr>
        <p:spPr>
          <a:xfrm>
            <a:off x="4727448" y="530352"/>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727448" y="530352"/>
            <a:ext cx="4160520" cy="36576"/>
          </a:xfrm>
          <a:prstGeom prst="rect">
            <a:avLst/>
          </a:prstGeom>
          <a:solidFill>
            <a:srgbClr val="0F6E56"/>
          </a:solidFill>
          <a:ln w="12700">
            <a:solidFill>
              <a:srgbClr val="0F6E56"/>
            </a:solidFill>
            <a:prstDash val="solid"/>
          </a:ln>
        </p:spPr>
      </p:sp>
      <p:sp>
        <p:nvSpPr>
          <p:cNvPr id="15" name="Text 13"/>
          <p:cNvSpPr/>
          <p:nvPr/>
        </p:nvSpPr>
        <p:spPr>
          <a:xfrm>
            <a:off x="4800600" y="603504"/>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16" name="Text 14"/>
          <p:cNvSpPr/>
          <p:nvPr/>
        </p:nvSpPr>
        <p:spPr>
          <a:xfrm>
            <a:off x="5093208" y="585216"/>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Why must your architecture be designed on paper before touching the AWS console?</a:t>
            </a:r>
            <a:endParaRPr lang="en-US" sz="1000" dirty="0"/>
          </a:p>
        </p:txBody>
      </p:sp>
      <p:sp>
        <p:nvSpPr>
          <p:cNvPr id="17" name="Shape 15"/>
          <p:cNvSpPr/>
          <p:nvPr/>
        </p:nvSpPr>
        <p:spPr>
          <a:xfrm>
            <a:off x="4818888" y="987552"/>
            <a:ext cx="3977640" cy="36576"/>
          </a:xfrm>
          <a:prstGeom prst="rect">
            <a:avLst/>
          </a:prstGeom>
          <a:solidFill>
            <a:srgbClr val="0F6E56">
              <a:alpha val="30000"/>
            </a:srgbClr>
          </a:solidFill>
          <a:ln w="12700">
            <a:solidFill>
              <a:srgbClr val="0F6E56">
                <a:alpha val="30000"/>
              </a:srgbClr>
            </a:solidFill>
            <a:prstDash val="solid"/>
          </a:ln>
        </p:spPr>
      </p:sp>
      <p:sp>
        <p:nvSpPr>
          <p:cNvPr id="18" name="Text 16"/>
          <p:cNvSpPr/>
          <p:nvPr/>
        </p:nvSpPr>
        <p:spPr>
          <a:xfrm>
            <a:off x="4818888" y="1060704"/>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Design errors found on paper take 30 seconds to fix. Errors found after building take 30 minutes to tear down and rebuild. The paper design phase protects you from building the wrong architecture.</a:t>
            </a:r>
            <a:endParaRPr lang="en-US" sz="950" dirty="0"/>
          </a:p>
        </p:txBody>
      </p:sp>
      <p:sp>
        <p:nvSpPr>
          <p:cNvPr id="19" name="Shape 17"/>
          <p:cNvSpPr/>
          <p:nvPr/>
        </p:nvSpPr>
        <p:spPr>
          <a:xfrm>
            <a:off x="256032" y="1664208"/>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56032" y="1664208"/>
            <a:ext cx="4160520" cy="36576"/>
          </a:xfrm>
          <a:prstGeom prst="rect">
            <a:avLst/>
          </a:prstGeom>
          <a:solidFill>
            <a:srgbClr val="0F6E56"/>
          </a:solidFill>
          <a:ln w="12700">
            <a:solidFill>
              <a:srgbClr val="0F6E56"/>
            </a:solidFill>
            <a:prstDash val="solid"/>
          </a:ln>
        </p:spPr>
      </p:sp>
      <p:sp>
        <p:nvSpPr>
          <p:cNvPr id="21" name="Text 19"/>
          <p:cNvSpPr/>
          <p:nvPr/>
        </p:nvSpPr>
        <p:spPr>
          <a:xfrm>
            <a:off x="329184" y="1737360"/>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22" name="Text 20"/>
          <p:cNvSpPr/>
          <p:nvPr/>
        </p:nvSpPr>
        <p:spPr>
          <a:xfrm>
            <a:off x="621792"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The panel asks: "Show me your database cannot be accessed from the internet." What do you demonstrate?</a:t>
            </a:r>
            <a:endParaRPr lang="en-US" sz="1000" dirty="0"/>
          </a:p>
        </p:txBody>
      </p:sp>
      <p:sp>
        <p:nvSpPr>
          <p:cNvPr id="23" name="Shape 21"/>
          <p:cNvSpPr/>
          <p:nvPr/>
        </p:nvSpPr>
        <p:spPr>
          <a:xfrm>
            <a:off x="347472" y="2121408"/>
            <a:ext cx="3977640" cy="36576"/>
          </a:xfrm>
          <a:prstGeom prst="rect">
            <a:avLst/>
          </a:prstGeom>
          <a:solidFill>
            <a:srgbClr val="0F6E56">
              <a:alpha val="30000"/>
            </a:srgbClr>
          </a:solidFill>
          <a:ln w="12700">
            <a:solidFill>
              <a:srgbClr val="0F6E56">
                <a:alpha val="30000"/>
              </a:srgbClr>
            </a:solidFill>
            <a:prstDash val="solid"/>
          </a:ln>
        </p:spPr>
      </p:sp>
      <p:sp>
        <p:nvSpPr>
          <p:cNvPr id="24" name="Text 22"/>
          <p:cNvSpPr/>
          <p:nvPr/>
        </p:nvSpPr>
        <p:spPr>
          <a:xfrm>
            <a:off x="347472" y="2194560"/>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Navigate to RDS console → select your instance → confirm Public accessibility: No → show it is in the private subnet → show DB SG allows port 3306 from EC2 SG ID only (not 0.0.0.0/0)</a:t>
            </a:r>
            <a:endParaRPr lang="en-US" sz="950" dirty="0"/>
          </a:p>
        </p:txBody>
      </p:sp>
      <p:sp>
        <p:nvSpPr>
          <p:cNvPr id="25" name="Shape 23"/>
          <p:cNvSpPr/>
          <p:nvPr/>
        </p:nvSpPr>
        <p:spPr>
          <a:xfrm>
            <a:off x="4727448" y="1664208"/>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727448" y="1664208"/>
            <a:ext cx="4160520" cy="36576"/>
          </a:xfrm>
          <a:prstGeom prst="rect">
            <a:avLst/>
          </a:prstGeom>
          <a:solidFill>
            <a:srgbClr val="0F6E56"/>
          </a:solidFill>
          <a:ln w="12700">
            <a:solidFill>
              <a:srgbClr val="0F6E56"/>
            </a:solidFill>
            <a:prstDash val="solid"/>
          </a:ln>
        </p:spPr>
      </p:sp>
      <p:sp>
        <p:nvSpPr>
          <p:cNvPr id="27" name="Text 25"/>
          <p:cNvSpPr/>
          <p:nvPr/>
        </p:nvSpPr>
        <p:spPr>
          <a:xfrm>
            <a:off x="4800600" y="1737360"/>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28" name="Text 26"/>
          <p:cNvSpPr/>
          <p:nvPr/>
        </p:nvSpPr>
        <p:spPr>
          <a:xfrm>
            <a:off x="5093208" y="1719072"/>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are the four required sections of the Security Hardening Report?</a:t>
            </a:r>
            <a:endParaRPr lang="en-US" sz="1000" dirty="0"/>
          </a:p>
        </p:txBody>
      </p:sp>
      <p:sp>
        <p:nvSpPr>
          <p:cNvPr id="29" name="Shape 27"/>
          <p:cNvSpPr/>
          <p:nvPr/>
        </p:nvSpPr>
        <p:spPr>
          <a:xfrm>
            <a:off x="4818888" y="2121408"/>
            <a:ext cx="3977640" cy="36576"/>
          </a:xfrm>
          <a:prstGeom prst="rect">
            <a:avLst/>
          </a:prstGeom>
          <a:solidFill>
            <a:srgbClr val="0F6E56">
              <a:alpha val="30000"/>
            </a:srgbClr>
          </a:solidFill>
          <a:ln w="12700">
            <a:solidFill>
              <a:srgbClr val="0F6E56">
                <a:alpha val="30000"/>
              </a:srgbClr>
            </a:solidFill>
            <a:prstDash val="solid"/>
          </a:ln>
        </p:spPr>
      </p:sp>
      <p:sp>
        <p:nvSpPr>
          <p:cNvPr id="30" name="Text 28"/>
          <p:cNvSpPr/>
          <p:nvPr/>
        </p:nvSpPr>
        <p:spPr>
          <a:xfrm>
            <a:off x="4818888" y="2194560"/>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1) Architecture summary  2) Well-Architected Security assessment (scored 0–2 per principle)  3) Findings table (minimum 5 findings with severity, control, effort)  4) POPIA compliance mapping (all 8 conditions)</a:t>
            </a:r>
            <a:endParaRPr lang="en-US" sz="950" dirty="0"/>
          </a:p>
        </p:txBody>
      </p:sp>
      <p:sp>
        <p:nvSpPr>
          <p:cNvPr id="31" name="Shape 29"/>
          <p:cNvSpPr/>
          <p:nvPr/>
        </p:nvSpPr>
        <p:spPr>
          <a:xfrm>
            <a:off x="256032" y="2798064"/>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256032" y="2798064"/>
            <a:ext cx="4160520" cy="36576"/>
          </a:xfrm>
          <a:prstGeom prst="rect">
            <a:avLst/>
          </a:prstGeom>
          <a:solidFill>
            <a:srgbClr val="0F6E56"/>
          </a:solidFill>
          <a:ln w="12700">
            <a:solidFill>
              <a:srgbClr val="0F6E56"/>
            </a:solidFill>
            <a:prstDash val="solid"/>
          </a:ln>
        </p:spPr>
      </p:sp>
      <p:sp>
        <p:nvSpPr>
          <p:cNvPr id="33" name="Text 31"/>
          <p:cNvSpPr/>
          <p:nvPr/>
        </p:nvSpPr>
        <p:spPr>
          <a:xfrm>
            <a:off x="329184" y="2871216"/>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34" name="Text 32"/>
          <p:cNvSpPr/>
          <p:nvPr/>
        </p:nvSpPr>
        <p:spPr>
          <a:xfrm>
            <a:off x="621792"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You chose Limpopo Agri-Link. The panel asks why you chose RDS over DynamoDB. What is your answer?</a:t>
            </a:r>
            <a:endParaRPr lang="en-US" sz="1000" dirty="0"/>
          </a:p>
        </p:txBody>
      </p:sp>
      <p:sp>
        <p:nvSpPr>
          <p:cNvPr id="35" name="Shape 33"/>
          <p:cNvSpPr/>
          <p:nvPr/>
        </p:nvSpPr>
        <p:spPr>
          <a:xfrm>
            <a:off x="347472" y="3255264"/>
            <a:ext cx="3977640" cy="36576"/>
          </a:xfrm>
          <a:prstGeom prst="rect">
            <a:avLst/>
          </a:prstGeom>
          <a:solidFill>
            <a:srgbClr val="0F6E56">
              <a:alpha val="30000"/>
            </a:srgbClr>
          </a:solidFill>
          <a:ln w="12700">
            <a:solidFill>
              <a:srgbClr val="0F6E56">
                <a:alpha val="30000"/>
              </a:srgbClr>
            </a:solidFill>
            <a:prstDash val="solid"/>
          </a:ln>
        </p:spPr>
      </p:sp>
      <p:sp>
        <p:nvSpPr>
          <p:cNvPr id="36" name="Text 34"/>
          <p:cNvSpPr/>
          <p:nvPr/>
        </p:nvSpPr>
        <p:spPr>
          <a:xfrm>
            <a:off x="347472" y="3328416"/>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Crop yield data with farm IDs, commodity types, and quality grades is highly relational — multiple tables with foreign keys. SQL queries for reporting are natural. DynamoDB would be better if the primary need were high-speed individual record lookups by farm ID without complex joins.</a:t>
            </a:r>
            <a:endParaRPr lang="en-US" sz="950" dirty="0"/>
          </a:p>
        </p:txBody>
      </p:sp>
      <p:sp>
        <p:nvSpPr>
          <p:cNvPr id="37" name="Shape 35"/>
          <p:cNvSpPr/>
          <p:nvPr/>
        </p:nvSpPr>
        <p:spPr>
          <a:xfrm>
            <a:off x="4727448" y="2798064"/>
            <a:ext cx="4160520" cy="1024128"/>
          </a:xfrm>
          <a:prstGeom prst="rect">
            <a:avLst/>
          </a:prstGeom>
          <a:solidFill>
            <a:srgbClr val="0A0A16"/>
          </a:solidFill>
          <a:ln w="12700">
            <a:solidFill>
              <a:srgbClr val="0F6E56">
                <a:alpha val="60000"/>
              </a:srgbClr>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4727448" y="2798064"/>
            <a:ext cx="4160520" cy="36576"/>
          </a:xfrm>
          <a:prstGeom prst="rect">
            <a:avLst/>
          </a:prstGeom>
          <a:solidFill>
            <a:srgbClr val="0F6E56"/>
          </a:solidFill>
          <a:ln w="12700">
            <a:solidFill>
              <a:srgbClr val="0F6E56"/>
            </a:solidFill>
            <a:prstDash val="solid"/>
          </a:ln>
        </p:spPr>
      </p:sp>
      <p:sp>
        <p:nvSpPr>
          <p:cNvPr id="39" name="Text 37"/>
          <p:cNvSpPr/>
          <p:nvPr/>
        </p:nvSpPr>
        <p:spPr>
          <a:xfrm>
            <a:off x="4800600" y="2871216"/>
            <a:ext cx="256032" cy="274320"/>
          </a:xfrm>
          <a:prstGeom prst="rect">
            <a:avLst/>
          </a:prstGeom>
          <a:noFill/>
          <a:ln/>
        </p:spPr>
        <p:txBody>
          <a:bodyPr wrap="square" rtlCol="0" anchor="ctr"/>
          <a:lstStyle/>
          <a:p>
            <a:pPr indent="0" marL="0">
              <a:buNone/>
            </a:pPr>
            <a:r>
              <a:rPr lang="en-US" sz="1100" b="1" dirty="0">
                <a:solidFill>
                  <a:srgbClr val="0F6E56"/>
                </a:solidFill>
                <a:latin typeface="Arial Black" pitchFamily="34" charset="0"/>
                <a:ea typeface="Arial Black" pitchFamily="34" charset="-122"/>
                <a:cs typeface="Arial Black" pitchFamily="34" charset="-120"/>
              </a:rPr>
              <a:t>Q</a:t>
            </a:r>
            <a:endParaRPr lang="en-US" sz="1100" dirty="0"/>
          </a:p>
        </p:txBody>
      </p:sp>
      <p:sp>
        <p:nvSpPr>
          <p:cNvPr id="40" name="Text 38"/>
          <p:cNvSpPr/>
          <p:nvPr/>
        </p:nvSpPr>
        <p:spPr>
          <a:xfrm>
            <a:off x="5093208" y="2852928"/>
            <a:ext cx="3703320" cy="347472"/>
          </a:xfrm>
          <a:prstGeom prst="rect">
            <a:avLst/>
          </a:prstGeom>
          <a:noFill/>
          <a:ln/>
        </p:spPr>
        <p:txBody>
          <a:bodyPr wrap="square" rtlCol="0" anchor="ctr"/>
          <a:lstStyle/>
          <a:p>
            <a:pPr indent="0" marL="0">
              <a:buNone/>
            </a:pPr>
            <a:r>
              <a:rPr lang="en-US" sz="1000" b="1" dirty="0">
                <a:solidFill>
                  <a:srgbClr val="F0F4FF"/>
                </a:solidFill>
                <a:latin typeface="Calibri" pitchFamily="34" charset="0"/>
                <a:ea typeface="Calibri" pitchFamily="34" charset="-122"/>
                <a:cs typeface="Calibri" pitchFamily="34" charset="-120"/>
              </a:rPr>
              <a:t>What is the minimum overall score to receive the GDA Certificate of Competence, and what other condition applies?</a:t>
            </a:r>
            <a:endParaRPr lang="en-US" sz="1000" dirty="0"/>
          </a:p>
        </p:txBody>
      </p:sp>
      <p:sp>
        <p:nvSpPr>
          <p:cNvPr id="41" name="Shape 39"/>
          <p:cNvSpPr/>
          <p:nvPr/>
        </p:nvSpPr>
        <p:spPr>
          <a:xfrm>
            <a:off x="4818888" y="3255264"/>
            <a:ext cx="3977640" cy="36576"/>
          </a:xfrm>
          <a:prstGeom prst="rect">
            <a:avLst/>
          </a:prstGeom>
          <a:solidFill>
            <a:srgbClr val="0F6E56">
              <a:alpha val="30000"/>
            </a:srgbClr>
          </a:solidFill>
          <a:ln w="12700">
            <a:solidFill>
              <a:srgbClr val="0F6E56">
                <a:alpha val="30000"/>
              </a:srgbClr>
            </a:solidFill>
            <a:prstDash val="solid"/>
          </a:ln>
        </p:spPr>
      </p:sp>
      <p:sp>
        <p:nvSpPr>
          <p:cNvPr id="42" name="Text 40"/>
          <p:cNvSpPr/>
          <p:nvPr/>
        </p:nvSpPr>
        <p:spPr>
          <a:xfrm>
            <a:off x="4818888" y="3328416"/>
            <a:ext cx="3977640" cy="402336"/>
          </a:xfrm>
          <a:prstGeom prst="rect">
            <a:avLst/>
          </a:prstGeom>
          <a:noFill/>
          <a:ln/>
        </p:spPr>
        <p:txBody>
          <a:bodyPr wrap="square" rtlCol="0" anchor="ctr"/>
          <a:lstStyle/>
          <a:p>
            <a:pPr indent="0" marL="0">
              <a:buNone/>
            </a:pPr>
            <a:r>
              <a:rPr lang="en-US" sz="950" dirty="0">
                <a:solidFill>
                  <a:srgbClr val="0F6E56"/>
                </a:solidFill>
                <a:latin typeface="Calibri" pitchFamily="34" charset="0"/>
                <a:ea typeface="Calibri" pitchFamily="34" charset="-122"/>
                <a:cs typeface="Calibri" pitchFamily="34" charset="-120"/>
              </a:rPr>
              <a:t>A  70 out of 100 overall — AND no single component may score below 50%. A learner scoring 100 on all other components but 0 on the PoE does not receive the certificate until the PoE is submitted.</a:t>
            </a:r>
            <a:endParaRPr lang="en-US" sz="950" dirty="0"/>
          </a:p>
        </p:txBody>
      </p:sp>
      <p:sp>
        <p:nvSpPr>
          <p:cNvPr id="43" name="Text 41"/>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Module 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4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6B"/>
          </a:solidFill>
          <a:ln w="12700">
            <a:solidFill>
              <a:srgbClr val="FF6B6B"/>
            </a:solidFill>
            <a:prstDash val="solid"/>
          </a:ln>
        </p:spPr>
      </p:sp>
      <p:sp>
        <p:nvSpPr>
          <p:cNvPr id="3" name="Shape 1"/>
          <p:cNvSpPr/>
          <p:nvPr/>
        </p:nvSpPr>
        <p:spPr>
          <a:xfrm>
            <a:off x="0" y="5106924"/>
            <a:ext cx="9144000" cy="36576"/>
          </a:xfrm>
          <a:prstGeom prst="rect">
            <a:avLst/>
          </a:prstGeom>
          <a:solidFill>
            <a:srgbClr val="D4AF37"/>
          </a:solidFill>
          <a:ln w="12700">
            <a:solidFill>
              <a:srgbClr val="D4AF37"/>
            </a:solidFill>
            <a:prstDash val="solid"/>
          </a:ln>
        </p:spPr>
      </p:sp>
      <p:sp>
        <p:nvSpPr>
          <p:cNvPr id="4" name="Text 2"/>
          <p:cNvSpPr/>
          <p:nvPr/>
        </p:nvSpPr>
        <p:spPr>
          <a:xfrm>
            <a:off x="256032" y="91440"/>
            <a:ext cx="457200" cy="329184"/>
          </a:xfrm>
          <a:prstGeom prst="rect">
            <a:avLst/>
          </a:prstGeom>
          <a:noFill/>
          <a:ln/>
        </p:spPr>
        <p:txBody>
          <a:bodyPr wrap="square" rtlCol="0" anchor="ctr"/>
          <a:lstStyle/>
          <a:p>
            <a:pPr indent="0" marL="0">
              <a:buNone/>
            </a:pPr>
            <a:r>
              <a:rPr lang="en-US" sz="2200" dirty="0">
                <a:solidFill>
                  <a:srgbClr val="FF6B6B"/>
                </a:solidFill>
                <a:latin typeface="Calibri" pitchFamily="34" charset="0"/>
                <a:ea typeface="Calibri" pitchFamily="34" charset="-122"/>
                <a:cs typeface="Calibri" pitchFamily="34" charset="-120"/>
              </a:rPr>
              <a:t>⚠</a:t>
            </a:r>
            <a:endParaRPr lang="en-US" sz="2200" dirty="0"/>
          </a:p>
        </p:txBody>
      </p:sp>
      <p:sp>
        <p:nvSpPr>
          <p:cNvPr id="5" name="Text 3"/>
          <p:cNvSpPr/>
          <p:nvPr/>
        </p:nvSpPr>
        <p:spPr>
          <a:xfrm>
            <a:off x="731520" y="91440"/>
            <a:ext cx="8229600" cy="329184"/>
          </a:xfrm>
          <a:prstGeom prst="rect">
            <a:avLst/>
          </a:prstGeom>
          <a:noFill/>
          <a:ln/>
        </p:spPr>
        <p:txBody>
          <a:bodyPr wrap="square" rtlCol="0" anchor="ctr"/>
          <a:lstStyle/>
          <a:p>
            <a:pPr indent="0" marL="0">
              <a:buNone/>
            </a:pPr>
            <a:r>
              <a:rPr lang="en-US" sz="1800" b="1" dirty="0">
                <a:solidFill>
                  <a:srgbClr val="F0F4FF"/>
                </a:solidFill>
                <a:latin typeface="Calibri" pitchFamily="34" charset="0"/>
                <a:ea typeface="Calibri" pitchFamily="34" charset="-122"/>
                <a:cs typeface="Calibri" pitchFamily="34" charset="-120"/>
              </a:rPr>
              <a:t>Master Exam Traps — Know These Cold</a:t>
            </a:r>
            <a:endParaRPr lang="en-US" sz="1800" dirty="0"/>
          </a:p>
        </p:txBody>
      </p:sp>
      <p:sp>
        <p:nvSpPr>
          <p:cNvPr id="6" name="Shape 4"/>
          <p:cNvSpPr/>
          <p:nvPr/>
        </p:nvSpPr>
        <p:spPr>
          <a:xfrm>
            <a:off x="256032" y="548640"/>
            <a:ext cx="4297680" cy="786384"/>
          </a:xfrm>
          <a:prstGeom prst="rect">
            <a:avLst/>
          </a:prstGeom>
          <a:solidFill>
            <a:srgbClr val="160808"/>
          </a:solidFill>
          <a:ln w="12700">
            <a:solidFill>
              <a:srgbClr val="1B4F8A">
                <a:alpha val="45000"/>
              </a:srgbClr>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56032" y="548640"/>
            <a:ext cx="54864" cy="786384"/>
          </a:xfrm>
          <a:prstGeom prst="rect">
            <a:avLst/>
          </a:prstGeom>
          <a:solidFill>
            <a:srgbClr val="1B4F8A"/>
          </a:solidFill>
          <a:ln w="12700">
            <a:solidFill>
              <a:srgbClr val="1B4F8A"/>
            </a:solidFill>
            <a:prstDash val="solid"/>
          </a:ln>
        </p:spPr>
      </p:sp>
      <p:sp>
        <p:nvSpPr>
          <p:cNvPr id="8" name="Shape 6"/>
          <p:cNvSpPr/>
          <p:nvPr/>
        </p:nvSpPr>
        <p:spPr>
          <a:xfrm>
            <a:off x="384048" y="603504"/>
            <a:ext cx="502920" cy="228600"/>
          </a:xfrm>
          <a:prstGeom prst="rect">
            <a:avLst/>
          </a:prstGeom>
          <a:solidFill>
            <a:srgbClr val="1B4F8A">
              <a:alpha val="75000"/>
            </a:srgbClr>
          </a:solidFill>
          <a:ln w="12700">
            <a:solidFill>
              <a:srgbClr val="1B4F8A">
                <a:alpha val="60000"/>
              </a:srgbClr>
            </a:solidFill>
            <a:prstDash val="solid"/>
          </a:ln>
        </p:spPr>
      </p:sp>
      <p:sp>
        <p:nvSpPr>
          <p:cNvPr id="9" name="Text 7"/>
          <p:cNvSpPr/>
          <p:nvPr/>
        </p:nvSpPr>
        <p:spPr>
          <a:xfrm>
            <a:off x="384048" y="603504"/>
            <a:ext cx="502920" cy="228600"/>
          </a:xfrm>
          <a:prstGeom prst="rect">
            <a:avLst/>
          </a:prstGeom>
          <a:noFill/>
          <a:ln/>
        </p:spPr>
        <p:txBody>
          <a:bodyPr wrap="square" rtlCol="0" anchor="ctr"/>
          <a:lstStyle/>
          <a:p>
            <a:pPr algn="ctr" indent="0" marL="0">
              <a:buNone/>
            </a:pPr>
            <a:r>
              <a:rPr lang="en-US" sz="800" b="1" dirty="0">
                <a:solidFill>
                  <a:srgbClr val="060608"/>
                </a:solidFill>
                <a:latin typeface="Calibri" pitchFamily="34" charset="0"/>
                <a:ea typeface="Calibri" pitchFamily="34" charset="-122"/>
                <a:cs typeface="Calibri" pitchFamily="34" charset="-120"/>
              </a:rPr>
              <a:t>M1</a:t>
            </a:r>
            <a:endParaRPr lang="en-US" sz="800" dirty="0"/>
          </a:p>
        </p:txBody>
      </p:sp>
      <p:sp>
        <p:nvSpPr>
          <p:cNvPr id="10" name="Text 8"/>
          <p:cNvSpPr/>
          <p:nvPr/>
        </p:nvSpPr>
        <p:spPr>
          <a:xfrm>
            <a:off x="950976" y="603504"/>
            <a:ext cx="3529584" cy="256032"/>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SaaS responsibility</a:t>
            </a:r>
            <a:endParaRPr lang="en-US" sz="950" dirty="0"/>
          </a:p>
        </p:txBody>
      </p:sp>
      <p:sp>
        <p:nvSpPr>
          <p:cNvPr id="11" name="Text 9"/>
          <p:cNvSpPr/>
          <p:nvPr/>
        </p:nvSpPr>
        <p:spPr>
          <a:xfrm>
            <a:off x="384048" y="932688"/>
            <a:ext cx="4096512" cy="34747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Customer manages ONLY their data and user access — NOT the application, OS, or hardware</a:t>
            </a:r>
            <a:endParaRPr lang="en-US" sz="900" dirty="0"/>
          </a:p>
        </p:txBody>
      </p:sp>
      <p:sp>
        <p:nvSpPr>
          <p:cNvPr id="12" name="Shape 10"/>
          <p:cNvSpPr/>
          <p:nvPr/>
        </p:nvSpPr>
        <p:spPr>
          <a:xfrm>
            <a:off x="256032" y="1408176"/>
            <a:ext cx="4297680" cy="786384"/>
          </a:xfrm>
          <a:prstGeom prst="rect">
            <a:avLst/>
          </a:prstGeom>
          <a:solidFill>
            <a:srgbClr val="160808"/>
          </a:solidFill>
          <a:ln w="12700">
            <a:solidFill>
              <a:srgbClr val="0F6E56">
                <a:alpha val="45000"/>
              </a:srgbClr>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56032" y="1408176"/>
            <a:ext cx="54864" cy="786384"/>
          </a:xfrm>
          <a:prstGeom prst="rect">
            <a:avLst/>
          </a:prstGeom>
          <a:solidFill>
            <a:srgbClr val="0F6E56"/>
          </a:solidFill>
          <a:ln w="12700">
            <a:solidFill>
              <a:srgbClr val="0F6E56"/>
            </a:solidFill>
            <a:prstDash val="solid"/>
          </a:ln>
        </p:spPr>
      </p:sp>
      <p:sp>
        <p:nvSpPr>
          <p:cNvPr id="14" name="Shape 12"/>
          <p:cNvSpPr/>
          <p:nvPr/>
        </p:nvSpPr>
        <p:spPr>
          <a:xfrm>
            <a:off x="384048" y="1463040"/>
            <a:ext cx="502920" cy="228600"/>
          </a:xfrm>
          <a:prstGeom prst="rect">
            <a:avLst/>
          </a:prstGeom>
          <a:solidFill>
            <a:srgbClr val="0F6E56">
              <a:alpha val="75000"/>
            </a:srgbClr>
          </a:solidFill>
          <a:ln w="12700">
            <a:solidFill>
              <a:srgbClr val="0F6E56">
                <a:alpha val="60000"/>
              </a:srgbClr>
            </a:solidFill>
            <a:prstDash val="solid"/>
          </a:ln>
        </p:spPr>
      </p:sp>
      <p:sp>
        <p:nvSpPr>
          <p:cNvPr id="15" name="Text 13"/>
          <p:cNvSpPr/>
          <p:nvPr/>
        </p:nvSpPr>
        <p:spPr>
          <a:xfrm>
            <a:off x="384048" y="1463040"/>
            <a:ext cx="502920" cy="228600"/>
          </a:xfrm>
          <a:prstGeom prst="rect">
            <a:avLst/>
          </a:prstGeom>
          <a:noFill/>
          <a:ln/>
        </p:spPr>
        <p:txBody>
          <a:bodyPr wrap="square" rtlCol="0" anchor="ctr"/>
          <a:lstStyle/>
          <a:p>
            <a:pPr algn="ctr" indent="0" marL="0">
              <a:buNone/>
            </a:pPr>
            <a:r>
              <a:rPr lang="en-US" sz="800" b="1" dirty="0">
                <a:solidFill>
                  <a:srgbClr val="060608"/>
                </a:solidFill>
                <a:latin typeface="Calibri" pitchFamily="34" charset="0"/>
                <a:ea typeface="Calibri" pitchFamily="34" charset="-122"/>
                <a:cs typeface="Calibri" pitchFamily="34" charset="-120"/>
              </a:rPr>
              <a:t>M2</a:t>
            </a:r>
            <a:endParaRPr lang="en-US" sz="800" dirty="0"/>
          </a:p>
        </p:txBody>
      </p:sp>
      <p:sp>
        <p:nvSpPr>
          <p:cNvPr id="16" name="Text 14"/>
          <p:cNvSpPr/>
          <p:nvPr/>
        </p:nvSpPr>
        <p:spPr>
          <a:xfrm>
            <a:off x="950976" y="1463040"/>
            <a:ext cx="3529584" cy="256032"/>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chmod 777</a:t>
            </a:r>
            <a:endParaRPr lang="en-US" sz="950" dirty="0"/>
          </a:p>
        </p:txBody>
      </p:sp>
      <p:sp>
        <p:nvSpPr>
          <p:cNvPr id="17" name="Text 15"/>
          <p:cNvSpPr/>
          <p:nvPr/>
        </p:nvSpPr>
        <p:spPr>
          <a:xfrm>
            <a:off x="384048" y="1792224"/>
            <a:ext cx="4096512" cy="34747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NEVER use 777 on a server — removes all security. Use 644 for files, 755 for dirs</a:t>
            </a:r>
            <a:endParaRPr lang="en-US" sz="900" dirty="0"/>
          </a:p>
        </p:txBody>
      </p:sp>
      <p:sp>
        <p:nvSpPr>
          <p:cNvPr id="18" name="Shape 16"/>
          <p:cNvSpPr/>
          <p:nvPr/>
        </p:nvSpPr>
        <p:spPr>
          <a:xfrm>
            <a:off x="256032" y="2267712"/>
            <a:ext cx="4297680" cy="786384"/>
          </a:xfrm>
          <a:prstGeom prst="rect">
            <a:avLst/>
          </a:prstGeom>
          <a:solidFill>
            <a:srgbClr val="160808"/>
          </a:solidFill>
          <a:ln w="12700">
            <a:solidFill>
              <a:srgbClr val="0C7B93">
                <a:alpha val="45000"/>
              </a:srgbClr>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256032" y="2267712"/>
            <a:ext cx="54864" cy="786384"/>
          </a:xfrm>
          <a:prstGeom prst="rect">
            <a:avLst/>
          </a:prstGeom>
          <a:solidFill>
            <a:srgbClr val="0C7B93"/>
          </a:solidFill>
          <a:ln w="12700">
            <a:solidFill>
              <a:srgbClr val="0C7B93"/>
            </a:solidFill>
            <a:prstDash val="solid"/>
          </a:ln>
        </p:spPr>
      </p:sp>
      <p:sp>
        <p:nvSpPr>
          <p:cNvPr id="20" name="Shape 18"/>
          <p:cNvSpPr/>
          <p:nvPr/>
        </p:nvSpPr>
        <p:spPr>
          <a:xfrm>
            <a:off x="384048" y="2322576"/>
            <a:ext cx="502920" cy="228600"/>
          </a:xfrm>
          <a:prstGeom prst="rect">
            <a:avLst/>
          </a:prstGeom>
          <a:solidFill>
            <a:srgbClr val="0C7B93">
              <a:alpha val="75000"/>
            </a:srgbClr>
          </a:solidFill>
          <a:ln w="12700">
            <a:solidFill>
              <a:srgbClr val="0C7B93">
                <a:alpha val="60000"/>
              </a:srgbClr>
            </a:solidFill>
            <a:prstDash val="solid"/>
          </a:ln>
        </p:spPr>
      </p:sp>
      <p:sp>
        <p:nvSpPr>
          <p:cNvPr id="21" name="Text 19"/>
          <p:cNvSpPr/>
          <p:nvPr/>
        </p:nvSpPr>
        <p:spPr>
          <a:xfrm>
            <a:off x="384048" y="2322576"/>
            <a:ext cx="502920" cy="228600"/>
          </a:xfrm>
          <a:prstGeom prst="rect">
            <a:avLst/>
          </a:prstGeom>
          <a:noFill/>
          <a:ln/>
        </p:spPr>
        <p:txBody>
          <a:bodyPr wrap="square" rtlCol="0" anchor="ctr"/>
          <a:lstStyle/>
          <a:p>
            <a:pPr algn="ctr" indent="0" marL="0">
              <a:buNone/>
            </a:pPr>
            <a:r>
              <a:rPr lang="en-US" sz="800" b="1" dirty="0">
                <a:solidFill>
                  <a:srgbClr val="060608"/>
                </a:solidFill>
                <a:latin typeface="Calibri" pitchFamily="34" charset="0"/>
                <a:ea typeface="Calibri" pitchFamily="34" charset="-122"/>
                <a:cs typeface="Calibri" pitchFamily="34" charset="-120"/>
              </a:rPr>
              <a:t>M3</a:t>
            </a:r>
            <a:endParaRPr lang="en-US" sz="800" dirty="0"/>
          </a:p>
        </p:txBody>
      </p:sp>
      <p:sp>
        <p:nvSpPr>
          <p:cNvPr id="22" name="Text 20"/>
          <p:cNvSpPr/>
          <p:nvPr/>
        </p:nvSpPr>
        <p:spPr>
          <a:xfrm>
            <a:off x="950976" y="2322576"/>
            <a:ext cx="3529584" cy="256032"/>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SG stateful vs NACL</a:t>
            </a:r>
            <a:endParaRPr lang="en-US" sz="950" dirty="0"/>
          </a:p>
        </p:txBody>
      </p:sp>
      <p:sp>
        <p:nvSpPr>
          <p:cNvPr id="23" name="Text 21"/>
          <p:cNvSpPr/>
          <p:nvPr/>
        </p:nvSpPr>
        <p:spPr>
          <a:xfrm>
            <a:off x="384048" y="2651760"/>
            <a:ext cx="4096512" cy="34747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Security Groups = STATEFUL (return traffic auto-allowed). NACLs = STATELESS (need inbound + outbound rules)</a:t>
            </a:r>
            <a:endParaRPr lang="en-US" sz="900" dirty="0"/>
          </a:p>
        </p:txBody>
      </p:sp>
      <p:sp>
        <p:nvSpPr>
          <p:cNvPr id="24" name="Shape 22"/>
          <p:cNvSpPr/>
          <p:nvPr/>
        </p:nvSpPr>
        <p:spPr>
          <a:xfrm>
            <a:off x="256032" y="3127248"/>
            <a:ext cx="4297680" cy="786384"/>
          </a:xfrm>
          <a:prstGeom prst="rect">
            <a:avLst/>
          </a:prstGeom>
          <a:solidFill>
            <a:srgbClr val="160808"/>
          </a:solidFill>
          <a:ln w="12700">
            <a:solidFill>
              <a:srgbClr val="0C7B93">
                <a:alpha val="45000"/>
              </a:srgbClr>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256032" y="3127248"/>
            <a:ext cx="54864" cy="786384"/>
          </a:xfrm>
          <a:prstGeom prst="rect">
            <a:avLst/>
          </a:prstGeom>
          <a:solidFill>
            <a:srgbClr val="0C7B93"/>
          </a:solidFill>
          <a:ln w="12700">
            <a:solidFill>
              <a:srgbClr val="0C7B93"/>
            </a:solidFill>
            <a:prstDash val="solid"/>
          </a:ln>
        </p:spPr>
      </p:sp>
      <p:sp>
        <p:nvSpPr>
          <p:cNvPr id="26" name="Shape 24"/>
          <p:cNvSpPr/>
          <p:nvPr/>
        </p:nvSpPr>
        <p:spPr>
          <a:xfrm>
            <a:off x="384048" y="3182112"/>
            <a:ext cx="502920" cy="228600"/>
          </a:xfrm>
          <a:prstGeom prst="rect">
            <a:avLst/>
          </a:prstGeom>
          <a:solidFill>
            <a:srgbClr val="0C7B93">
              <a:alpha val="75000"/>
            </a:srgbClr>
          </a:solidFill>
          <a:ln w="12700">
            <a:solidFill>
              <a:srgbClr val="0C7B93">
                <a:alpha val="60000"/>
              </a:srgbClr>
            </a:solidFill>
            <a:prstDash val="solid"/>
          </a:ln>
        </p:spPr>
      </p:sp>
      <p:sp>
        <p:nvSpPr>
          <p:cNvPr id="27" name="Text 25"/>
          <p:cNvSpPr/>
          <p:nvPr/>
        </p:nvSpPr>
        <p:spPr>
          <a:xfrm>
            <a:off x="384048" y="3182112"/>
            <a:ext cx="502920" cy="228600"/>
          </a:xfrm>
          <a:prstGeom prst="rect">
            <a:avLst/>
          </a:prstGeom>
          <a:noFill/>
          <a:ln/>
        </p:spPr>
        <p:txBody>
          <a:bodyPr wrap="square" rtlCol="0" anchor="ctr"/>
          <a:lstStyle/>
          <a:p>
            <a:pPr algn="ctr" indent="0" marL="0">
              <a:buNone/>
            </a:pPr>
            <a:r>
              <a:rPr lang="en-US" sz="800" b="1" dirty="0">
                <a:solidFill>
                  <a:srgbClr val="060608"/>
                </a:solidFill>
                <a:latin typeface="Calibri" pitchFamily="34" charset="0"/>
                <a:ea typeface="Calibri" pitchFamily="34" charset="-122"/>
                <a:cs typeface="Calibri" pitchFamily="34" charset="-120"/>
              </a:rPr>
              <a:t>M3</a:t>
            </a:r>
            <a:endParaRPr lang="en-US" sz="800" dirty="0"/>
          </a:p>
        </p:txBody>
      </p:sp>
      <p:sp>
        <p:nvSpPr>
          <p:cNvPr id="28" name="Text 26"/>
          <p:cNvSpPr/>
          <p:nvPr/>
        </p:nvSpPr>
        <p:spPr>
          <a:xfrm>
            <a:off x="950976" y="3182112"/>
            <a:ext cx="3529584" cy="256032"/>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IGW vs NAT Gateway</a:t>
            </a:r>
            <a:endParaRPr lang="en-US" sz="950" dirty="0"/>
          </a:p>
        </p:txBody>
      </p:sp>
      <p:sp>
        <p:nvSpPr>
          <p:cNvPr id="29" name="Text 27"/>
          <p:cNvSpPr/>
          <p:nvPr/>
        </p:nvSpPr>
        <p:spPr>
          <a:xfrm>
            <a:off x="384048" y="3511296"/>
            <a:ext cx="4096512" cy="34747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IGW: public subnets → internet (bidirectional). NAT GW: private subnets → outbound only (no inbound initiation)</a:t>
            </a:r>
            <a:endParaRPr lang="en-US" sz="900" dirty="0"/>
          </a:p>
        </p:txBody>
      </p:sp>
      <p:sp>
        <p:nvSpPr>
          <p:cNvPr id="30" name="Shape 28"/>
          <p:cNvSpPr/>
          <p:nvPr/>
        </p:nvSpPr>
        <p:spPr>
          <a:xfrm>
            <a:off x="256032" y="3986784"/>
            <a:ext cx="4297680" cy="786384"/>
          </a:xfrm>
          <a:prstGeom prst="rect">
            <a:avLst/>
          </a:prstGeom>
          <a:solidFill>
            <a:srgbClr val="160808"/>
          </a:solidFill>
          <a:ln w="12700">
            <a:solidFill>
              <a:srgbClr val="B85C00">
                <a:alpha val="45000"/>
              </a:srgbClr>
            </a:solidFill>
            <a:prstDash val="solid"/>
          </a:ln>
          <a:effectLst>
            <a:outerShdw sx="100000" sy="100000" kx="0" ky="0" algn="bl" rotWithShape="0" blurRad="101600" dist="38100" dir="8100000">
              <a:srgbClr val="000000">
                <a:alpha val="18000"/>
              </a:srgbClr>
            </a:outerShdw>
          </a:effectLst>
        </p:spPr>
      </p:sp>
      <p:sp>
        <p:nvSpPr>
          <p:cNvPr id="31" name="Shape 29"/>
          <p:cNvSpPr/>
          <p:nvPr/>
        </p:nvSpPr>
        <p:spPr>
          <a:xfrm>
            <a:off x="256032" y="3986784"/>
            <a:ext cx="54864" cy="786384"/>
          </a:xfrm>
          <a:prstGeom prst="rect">
            <a:avLst/>
          </a:prstGeom>
          <a:solidFill>
            <a:srgbClr val="B85C00"/>
          </a:solidFill>
          <a:ln w="12700">
            <a:solidFill>
              <a:srgbClr val="B85C00"/>
            </a:solidFill>
            <a:prstDash val="solid"/>
          </a:ln>
        </p:spPr>
      </p:sp>
      <p:sp>
        <p:nvSpPr>
          <p:cNvPr id="32" name="Shape 30"/>
          <p:cNvSpPr/>
          <p:nvPr/>
        </p:nvSpPr>
        <p:spPr>
          <a:xfrm>
            <a:off x="384048" y="4041648"/>
            <a:ext cx="502920" cy="228600"/>
          </a:xfrm>
          <a:prstGeom prst="rect">
            <a:avLst/>
          </a:prstGeom>
          <a:solidFill>
            <a:srgbClr val="B85C00">
              <a:alpha val="75000"/>
            </a:srgbClr>
          </a:solidFill>
          <a:ln w="12700">
            <a:solidFill>
              <a:srgbClr val="B85C00">
                <a:alpha val="60000"/>
              </a:srgbClr>
            </a:solidFill>
            <a:prstDash val="solid"/>
          </a:ln>
        </p:spPr>
      </p:sp>
      <p:sp>
        <p:nvSpPr>
          <p:cNvPr id="33" name="Text 31"/>
          <p:cNvSpPr/>
          <p:nvPr/>
        </p:nvSpPr>
        <p:spPr>
          <a:xfrm>
            <a:off x="384048" y="4041648"/>
            <a:ext cx="502920" cy="228600"/>
          </a:xfrm>
          <a:prstGeom prst="rect">
            <a:avLst/>
          </a:prstGeom>
          <a:noFill/>
          <a:ln/>
        </p:spPr>
        <p:txBody>
          <a:bodyPr wrap="square" rtlCol="0" anchor="ctr"/>
          <a:lstStyle/>
          <a:p>
            <a:pPr algn="ctr" indent="0" marL="0">
              <a:buNone/>
            </a:pPr>
            <a:r>
              <a:rPr lang="en-US" sz="800" b="1" dirty="0">
                <a:solidFill>
                  <a:srgbClr val="060608"/>
                </a:solidFill>
                <a:latin typeface="Calibri" pitchFamily="34" charset="0"/>
                <a:ea typeface="Calibri" pitchFamily="34" charset="-122"/>
                <a:cs typeface="Calibri" pitchFamily="34" charset="-120"/>
              </a:rPr>
              <a:t>M4</a:t>
            </a:r>
            <a:endParaRPr lang="en-US" sz="800" dirty="0"/>
          </a:p>
        </p:txBody>
      </p:sp>
      <p:sp>
        <p:nvSpPr>
          <p:cNvPr id="34" name="Text 32"/>
          <p:cNvSpPr/>
          <p:nvPr/>
        </p:nvSpPr>
        <p:spPr>
          <a:xfrm>
            <a:off x="950976" y="4041648"/>
            <a:ext cx="3529584" cy="256032"/>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RDS Multi-AZ standby</a:t>
            </a:r>
            <a:endParaRPr lang="en-US" sz="950" dirty="0"/>
          </a:p>
        </p:txBody>
      </p:sp>
      <p:sp>
        <p:nvSpPr>
          <p:cNvPr id="35" name="Text 33"/>
          <p:cNvSpPr/>
          <p:nvPr/>
        </p:nvSpPr>
        <p:spPr>
          <a:xfrm>
            <a:off x="384048" y="4370832"/>
            <a:ext cx="4096512" cy="34747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Standby does NOT serve reads — failover only. Read Replicas are a separate feature for read scaling</a:t>
            </a:r>
            <a:endParaRPr lang="en-US" sz="900" dirty="0"/>
          </a:p>
        </p:txBody>
      </p:sp>
      <p:sp>
        <p:nvSpPr>
          <p:cNvPr id="36" name="Shape 34"/>
          <p:cNvSpPr/>
          <p:nvPr/>
        </p:nvSpPr>
        <p:spPr>
          <a:xfrm>
            <a:off x="4828032" y="548640"/>
            <a:ext cx="4297680" cy="786384"/>
          </a:xfrm>
          <a:prstGeom prst="rect">
            <a:avLst/>
          </a:prstGeom>
          <a:solidFill>
            <a:srgbClr val="160808"/>
          </a:solidFill>
          <a:ln w="12700">
            <a:solidFill>
              <a:srgbClr val="B85C00">
                <a:alpha val="45000"/>
              </a:srgbClr>
            </a:solidFill>
            <a:prstDash val="solid"/>
          </a:ln>
          <a:effectLst>
            <a:outerShdw sx="100000" sy="100000" kx="0" ky="0" algn="bl" rotWithShape="0" blurRad="101600" dist="38100" dir="8100000">
              <a:srgbClr val="000000">
                <a:alpha val="18000"/>
              </a:srgbClr>
            </a:outerShdw>
          </a:effectLst>
        </p:spPr>
      </p:sp>
      <p:sp>
        <p:nvSpPr>
          <p:cNvPr id="37" name="Shape 35"/>
          <p:cNvSpPr/>
          <p:nvPr/>
        </p:nvSpPr>
        <p:spPr>
          <a:xfrm>
            <a:off x="4828032" y="548640"/>
            <a:ext cx="54864" cy="786384"/>
          </a:xfrm>
          <a:prstGeom prst="rect">
            <a:avLst/>
          </a:prstGeom>
          <a:solidFill>
            <a:srgbClr val="B85C00"/>
          </a:solidFill>
          <a:ln w="12700">
            <a:solidFill>
              <a:srgbClr val="B85C00"/>
            </a:solidFill>
            <a:prstDash val="solid"/>
          </a:ln>
        </p:spPr>
      </p:sp>
      <p:sp>
        <p:nvSpPr>
          <p:cNvPr id="38" name="Shape 36"/>
          <p:cNvSpPr/>
          <p:nvPr/>
        </p:nvSpPr>
        <p:spPr>
          <a:xfrm>
            <a:off x="4956048" y="603504"/>
            <a:ext cx="502920" cy="228600"/>
          </a:xfrm>
          <a:prstGeom prst="rect">
            <a:avLst/>
          </a:prstGeom>
          <a:solidFill>
            <a:srgbClr val="B85C00">
              <a:alpha val="75000"/>
            </a:srgbClr>
          </a:solidFill>
          <a:ln w="12700">
            <a:solidFill>
              <a:srgbClr val="B85C00">
                <a:alpha val="60000"/>
              </a:srgbClr>
            </a:solidFill>
            <a:prstDash val="solid"/>
          </a:ln>
        </p:spPr>
      </p:sp>
      <p:sp>
        <p:nvSpPr>
          <p:cNvPr id="39" name="Text 37"/>
          <p:cNvSpPr/>
          <p:nvPr/>
        </p:nvSpPr>
        <p:spPr>
          <a:xfrm>
            <a:off x="4956048" y="603504"/>
            <a:ext cx="502920" cy="228600"/>
          </a:xfrm>
          <a:prstGeom prst="rect">
            <a:avLst/>
          </a:prstGeom>
          <a:noFill/>
          <a:ln/>
        </p:spPr>
        <p:txBody>
          <a:bodyPr wrap="square" rtlCol="0" anchor="ctr"/>
          <a:lstStyle/>
          <a:p>
            <a:pPr algn="ctr" indent="0" marL="0">
              <a:buNone/>
            </a:pPr>
            <a:r>
              <a:rPr lang="en-US" sz="800" b="1" dirty="0">
                <a:solidFill>
                  <a:srgbClr val="060608"/>
                </a:solidFill>
                <a:latin typeface="Calibri" pitchFamily="34" charset="0"/>
                <a:ea typeface="Calibri" pitchFamily="34" charset="-122"/>
                <a:cs typeface="Calibri" pitchFamily="34" charset="-120"/>
              </a:rPr>
              <a:t>M4</a:t>
            </a:r>
            <a:endParaRPr lang="en-US" sz="800" dirty="0"/>
          </a:p>
        </p:txBody>
      </p:sp>
      <p:sp>
        <p:nvSpPr>
          <p:cNvPr id="40" name="Text 38"/>
          <p:cNvSpPr/>
          <p:nvPr/>
        </p:nvSpPr>
        <p:spPr>
          <a:xfrm>
            <a:off x="5522976" y="603504"/>
            <a:ext cx="3529584" cy="256032"/>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RDS encryption timing</a:t>
            </a:r>
            <a:endParaRPr lang="en-US" sz="950" dirty="0"/>
          </a:p>
        </p:txBody>
      </p:sp>
      <p:sp>
        <p:nvSpPr>
          <p:cNvPr id="41" name="Text 39"/>
          <p:cNvSpPr/>
          <p:nvPr/>
        </p:nvSpPr>
        <p:spPr>
          <a:xfrm>
            <a:off x="4956048" y="932688"/>
            <a:ext cx="4096512" cy="34747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Cannot encrypt an existing RDS instance — must be enabled at creation. Migrate via snapshot copy</a:t>
            </a:r>
            <a:endParaRPr lang="en-US" sz="900" dirty="0"/>
          </a:p>
        </p:txBody>
      </p:sp>
      <p:sp>
        <p:nvSpPr>
          <p:cNvPr id="42" name="Shape 40"/>
          <p:cNvSpPr/>
          <p:nvPr/>
        </p:nvSpPr>
        <p:spPr>
          <a:xfrm>
            <a:off x="4828032" y="1408176"/>
            <a:ext cx="4297680" cy="786384"/>
          </a:xfrm>
          <a:prstGeom prst="rect">
            <a:avLst/>
          </a:prstGeom>
          <a:solidFill>
            <a:srgbClr val="160808"/>
          </a:solidFill>
          <a:ln w="12700">
            <a:solidFill>
              <a:srgbClr val="3C3489">
                <a:alpha val="45000"/>
              </a:srgbClr>
            </a:solidFill>
            <a:prstDash val="solid"/>
          </a:ln>
          <a:effectLst>
            <a:outerShdw sx="100000" sy="100000" kx="0" ky="0" algn="bl" rotWithShape="0" blurRad="101600" dist="38100" dir="8100000">
              <a:srgbClr val="000000">
                <a:alpha val="18000"/>
              </a:srgbClr>
            </a:outerShdw>
          </a:effectLst>
        </p:spPr>
      </p:sp>
      <p:sp>
        <p:nvSpPr>
          <p:cNvPr id="43" name="Shape 41"/>
          <p:cNvSpPr/>
          <p:nvPr/>
        </p:nvSpPr>
        <p:spPr>
          <a:xfrm>
            <a:off x="4828032" y="1408176"/>
            <a:ext cx="54864" cy="786384"/>
          </a:xfrm>
          <a:prstGeom prst="rect">
            <a:avLst/>
          </a:prstGeom>
          <a:solidFill>
            <a:srgbClr val="3C3489"/>
          </a:solidFill>
          <a:ln w="12700">
            <a:solidFill>
              <a:srgbClr val="3C3489"/>
            </a:solidFill>
            <a:prstDash val="solid"/>
          </a:ln>
        </p:spPr>
      </p:sp>
      <p:sp>
        <p:nvSpPr>
          <p:cNvPr id="44" name="Shape 42"/>
          <p:cNvSpPr/>
          <p:nvPr/>
        </p:nvSpPr>
        <p:spPr>
          <a:xfrm>
            <a:off x="4956048" y="1463040"/>
            <a:ext cx="502920" cy="228600"/>
          </a:xfrm>
          <a:prstGeom prst="rect">
            <a:avLst/>
          </a:prstGeom>
          <a:solidFill>
            <a:srgbClr val="3C3489">
              <a:alpha val="75000"/>
            </a:srgbClr>
          </a:solidFill>
          <a:ln w="12700">
            <a:solidFill>
              <a:srgbClr val="3C3489">
                <a:alpha val="60000"/>
              </a:srgbClr>
            </a:solidFill>
            <a:prstDash val="solid"/>
          </a:ln>
        </p:spPr>
      </p:sp>
      <p:sp>
        <p:nvSpPr>
          <p:cNvPr id="45" name="Text 43"/>
          <p:cNvSpPr/>
          <p:nvPr/>
        </p:nvSpPr>
        <p:spPr>
          <a:xfrm>
            <a:off x="4956048" y="1463040"/>
            <a:ext cx="502920" cy="228600"/>
          </a:xfrm>
          <a:prstGeom prst="rect">
            <a:avLst/>
          </a:prstGeom>
          <a:noFill/>
          <a:ln/>
        </p:spPr>
        <p:txBody>
          <a:bodyPr wrap="square" rtlCol="0" anchor="ctr"/>
          <a:lstStyle/>
          <a:p>
            <a:pPr algn="ctr" indent="0" marL="0">
              <a:buNone/>
            </a:pPr>
            <a:r>
              <a:rPr lang="en-US" sz="800" b="1" dirty="0">
                <a:solidFill>
                  <a:srgbClr val="060608"/>
                </a:solidFill>
                <a:latin typeface="Calibri" pitchFamily="34" charset="0"/>
                <a:ea typeface="Calibri" pitchFamily="34" charset="-122"/>
                <a:cs typeface="Calibri" pitchFamily="34" charset="-120"/>
              </a:rPr>
              <a:t>M5</a:t>
            </a:r>
            <a:endParaRPr lang="en-US" sz="800" dirty="0"/>
          </a:p>
        </p:txBody>
      </p:sp>
      <p:sp>
        <p:nvSpPr>
          <p:cNvPr id="46" name="Text 44"/>
          <p:cNvSpPr/>
          <p:nvPr/>
        </p:nvSpPr>
        <p:spPr>
          <a:xfrm>
            <a:off x="5522976" y="1463040"/>
            <a:ext cx="3529584" cy="256032"/>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SSE-S3 vs SSE-KMS</a:t>
            </a:r>
            <a:endParaRPr lang="en-US" sz="950" dirty="0"/>
          </a:p>
        </p:txBody>
      </p:sp>
      <p:sp>
        <p:nvSpPr>
          <p:cNvPr id="47" name="Text 45"/>
          <p:cNvSpPr/>
          <p:nvPr/>
        </p:nvSpPr>
        <p:spPr>
          <a:xfrm>
            <a:off x="4956048" y="1792224"/>
            <a:ext cx="4096512" cy="34747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SSE-S3 = no audit trail. SSE-KMS = CloudTrail logs every decrypt → required for POPIA compliance evidence</a:t>
            </a:r>
            <a:endParaRPr lang="en-US" sz="900" dirty="0"/>
          </a:p>
        </p:txBody>
      </p:sp>
      <p:sp>
        <p:nvSpPr>
          <p:cNvPr id="48" name="Shape 46"/>
          <p:cNvSpPr/>
          <p:nvPr/>
        </p:nvSpPr>
        <p:spPr>
          <a:xfrm>
            <a:off x="4828032" y="2267712"/>
            <a:ext cx="4297680" cy="786384"/>
          </a:xfrm>
          <a:prstGeom prst="rect">
            <a:avLst/>
          </a:prstGeom>
          <a:solidFill>
            <a:srgbClr val="160808"/>
          </a:solidFill>
          <a:ln w="12700">
            <a:solidFill>
              <a:srgbClr val="3C3489">
                <a:alpha val="45000"/>
              </a:srgbClr>
            </a:solidFill>
            <a:prstDash val="solid"/>
          </a:ln>
          <a:effectLst>
            <a:outerShdw sx="100000" sy="100000" kx="0" ky="0" algn="bl" rotWithShape="0" blurRad="101600" dist="38100" dir="8100000">
              <a:srgbClr val="000000">
                <a:alpha val="18000"/>
              </a:srgbClr>
            </a:outerShdw>
          </a:effectLst>
        </p:spPr>
      </p:sp>
      <p:sp>
        <p:nvSpPr>
          <p:cNvPr id="49" name="Shape 47"/>
          <p:cNvSpPr/>
          <p:nvPr/>
        </p:nvSpPr>
        <p:spPr>
          <a:xfrm>
            <a:off x="4828032" y="2267712"/>
            <a:ext cx="54864" cy="786384"/>
          </a:xfrm>
          <a:prstGeom prst="rect">
            <a:avLst/>
          </a:prstGeom>
          <a:solidFill>
            <a:srgbClr val="3C3489"/>
          </a:solidFill>
          <a:ln w="12700">
            <a:solidFill>
              <a:srgbClr val="3C3489"/>
            </a:solidFill>
            <a:prstDash val="solid"/>
          </a:ln>
        </p:spPr>
      </p:sp>
      <p:sp>
        <p:nvSpPr>
          <p:cNvPr id="50" name="Shape 48"/>
          <p:cNvSpPr/>
          <p:nvPr/>
        </p:nvSpPr>
        <p:spPr>
          <a:xfrm>
            <a:off x="4956048" y="2322576"/>
            <a:ext cx="502920" cy="228600"/>
          </a:xfrm>
          <a:prstGeom prst="rect">
            <a:avLst/>
          </a:prstGeom>
          <a:solidFill>
            <a:srgbClr val="3C3489">
              <a:alpha val="75000"/>
            </a:srgbClr>
          </a:solidFill>
          <a:ln w="12700">
            <a:solidFill>
              <a:srgbClr val="3C3489">
                <a:alpha val="60000"/>
              </a:srgbClr>
            </a:solidFill>
            <a:prstDash val="solid"/>
          </a:ln>
        </p:spPr>
      </p:sp>
      <p:sp>
        <p:nvSpPr>
          <p:cNvPr id="51" name="Text 49"/>
          <p:cNvSpPr/>
          <p:nvPr/>
        </p:nvSpPr>
        <p:spPr>
          <a:xfrm>
            <a:off x="4956048" y="2322576"/>
            <a:ext cx="502920" cy="228600"/>
          </a:xfrm>
          <a:prstGeom prst="rect">
            <a:avLst/>
          </a:prstGeom>
          <a:noFill/>
          <a:ln/>
        </p:spPr>
        <p:txBody>
          <a:bodyPr wrap="square" rtlCol="0" anchor="ctr"/>
          <a:lstStyle/>
          <a:p>
            <a:pPr algn="ctr" indent="0" marL="0">
              <a:buNone/>
            </a:pPr>
            <a:r>
              <a:rPr lang="en-US" sz="800" b="1" dirty="0">
                <a:solidFill>
                  <a:srgbClr val="060608"/>
                </a:solidFill>
                <a:latin typeface="Calibri" pitchFamily="34" charset="0"/>
                <a:ea typeface="Calibri" pitchFamily="34" charset="-122"/>
                <a:cs typeface="Calibri" pitchFamily="34" charset="-120"/>
              </a:rPr>
              <a:t>M5</a:t>
            </a:r>
            <a:endParaRPr lang="en-US" sz="800" dirty="0"/>
          </a:p>
        </p:txBody>
      </p:sp>
      <p:sp>
        <p:nvSpPr>
          <p:cNvPr id="52" name="Text 50"/>
          <p:cNvSpPr/>
          <p:nvPr/>
        </p:nvSpPr>
        <p:spPr>
          <a:xfrm>
            <a:off x="5522976" y="2322576"/>
            <a:ext cx="3529584" cy="256032"/>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IR Phase 3 order</a:t>
            </a:r>
            <a:endParaRPr lang="en-US" sz="950" dirty="0"/>
          </a:p>
        </p:txBody>
      </p:sp>
      <p:sp>
        <p:nvSpPr>
          <p:cNvPr id="53" name="Text 51"/>
          <p:cNvSpPr/>
          <p:nvPr/>
        </p:nvSpPr>
        <p:spPr>
          <a:xfrm>
            <a:off x="4956048" y="2651760"/>
            <a:ext cx="4096512" cy="34747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Take EBS SNAPSHOT before terminating compromised instance. Evidence first, then contain, then eradicate</a:t>
            </a:r>
            <a:endParaRPr lang="en-US" sz="900" dirty="0"/>
          </a:p>
        </p:txBody>
      </p:sp>
      <p:sp>
        <p:nvSpPr>
          <p:cNvPr id="54" name="Shape 52"/>
          <p:cNvSpPr/>
          <p:nvPr/>
        </p:nvSpPr>
        <p:spPr>
          <a:xfrm>
            <a:off x="4828032" y="3127248"/>
            <a:ext cx="4297680" cy="786384"/>
          </a:xfrm>
          <a:prstGeom prst="rect">
            <a:avLst/>
          </a:prstGeom>
          <a:solidFill>
            <a:srgbClr val="160808"/>
          </a:solidFill>
          <a:ln w="12700">
            <a:solidFill>
              <a:srgbClr val="0F6E56">
                <a:alpha val="45000"/>
              </a:srgbClr>
            </a:solidFill>
            <a:prstDash val="solid"/>
          </a:ln>
          <a:effectLst>
            <a:outerShdw sx="100000" sy="100000" kx="0" ky="0" algn="bl" rotWithShape="0" blurRad="101600" dist="38100" dir="8100000">
              <a:srgbClr val="000000">
                <a:alpha val="18000"/>
              </a:srgbClr>
            </a:outerShdw>
          </a:effectLst>
        </p:spPr>
      </p:sp>
      <p:sp>
        <p:nvSpPr>
          <p:cNvPr id="55" name="Shape 53"/>
          <p:cNvSpPr/>
          <p:nvPr/>
        </p:nvSpPr>
        <p:spPr>
          <a:xfrm>
            <a:off x="4828032" y="3127248"/>
            <a:ext cx="54864" cy="786384"/>
          </a:xfrm>
          <a:prstGeom prst="rect">
            <a:avLst/>
          </a:prstGeom>
          <a:solidFill>
            <a:srgbClr val="0F6E56"/>
          </a:solidFill>
          <a:ln w="12700">
            <a:solidFill>
              <a:srgbClr val="0F6E56"/>
            </a:solidFill>
            <a:prstDash val="solid"/>
          </a:ln>
        </p:spPr>
      </p:sp>
      <p:sp>
        <p:nvSpPr>
          <p:cNvPr id="56" name="Shape 54"/>
          <p:cNvSpPr/>
          <p:nvPr/>
        </p:nvSpPr>
        <p:spPr>
          <a:xfrm>
            <a:off x="4956048" y="3182112"/>
            <a:ext cx="502920" cy="228600"/>
          </a:xfrm>
          <a:prstGeom prst="rect">
            <a:avLst/>
          </a:prstGeom>
          <a:solidFill>
            <a:srgbClr val="0F6E56">
              <a:alpha val="75000"/>
            </a:srgbClr>
          </a:solidFill>
          <a:ln w="12700">
            <a:solidFill>
              <a:srgbClr val="0F6E56">
                <a:alpha val="60000"/>
              </a:srgbClr>
            </a:solidFill>
            <a:prstDash val="solid"/>
          </a:ln>
        </p:spPr>
      </p:sp>
      <p:sp>
        <p:nvSpPr>
          <p:cNvPr id="57" name="Text 55"/>
          <p:cNvSpPr/>
          <p:nvPr/>
        </p:nvSpPr>
        <p:spPr>
          <a:xfrm>
            <a:off x="4956048" y="3182112"/>
            <a:ext cx="502920" cy="228600"/>
          </a:xfrm>
          <a:prstGeom prst="rect">
            <a:avLst/>
          </a:prstGeom>
          <a:noFill/>
          <a:ln/>
        </p:spPr>
        <p:txBody>
          <a:bodyPr wrap="square" rtlCol="0" anchor="ctr"/>
          <a:lstStyle/>
          <a:p>
            <a:pPr algn="ctr" indent="0" marL="0">
              <a:buNone/>
            </a:pPr>
            <a:r>
              <a:rPr lang="en-US" sz="800" b="1" dirty="0">
                <a:solidFill>
                  <a:srgbClr val="060608"/>
                </a:solidFill>
                <a:latin typeface="Calibri" pitchFamily="34" charset="0"/>
                <a:ea typeface="Calibri" pitchFamily="34" charset="-122"/>
                <a:cs typeface="Calibri" pitchFamily="34" charset="-120"/>
              </a:rPr>
              <a:t>M6</a:t>
            </a:r>
            <a:endParaRPr lang="en-US" sz="800" dirty="0"/>
          </a:p>
        </p:txBody>
      </p:sp>
      <p:sp>
        <p:nvSpPr>
          <p:cNvPr id="58" name="Text 56"/>
          <p:cNvSpPr/>
          <p:nvPr/>
        </p:nvSpPr>
        <p:spPr>
          <a:xfrm>
            <a:off x="5522976" y="3182112"/>
            <a:ext cx="3529584" cy="256032"/>
          </a:xfrm>
          <a:prstGeom prst="rect">
            <a:avLst/>
          </a:prstGeom>
          <a:noFill/>
          <a:ln/>
        </p:spPr>
        <p:txBody>
          <a:bodyPr wrap="square" rtlCol="0" anchor="ctr"/>
          <a:lstStyle/>
          <a:p>
            <a:pPr indent="0" marL="0">
              <a:buNone/>
            </a:pPr>
            <a:r>
              <a:rPr lang="en-US" sz="950" b="1" dirty="0">
                <a:solidFill>
                  <a:srgbClr val="F0F4FF"/>
                </a:solidFill>
                <a:latin typeface="Calibri" pitchFamily="34" charset="0"/>
                <a:ea typeface="Calibri" pitchFamily="34" charset="-122"/>
                <a:cs typeface="Calibri" pitchFamily="34" charset="-120"/>
              </a:rPr>
              <a:t>Capstone pass rule</a:t>
            </a:r>
            <a:endParaRPr lang="en-US" sz="950" dirty="0"/>
          </a:p>
        </p:txBody>
      </p:sp>
      <p:sp>
        <p:nvSpPr>
          <p:cNvPr id="59" name="Text 57"/>
          <p:cNvSpPr/>
          <p:nvPr/>
        </p:nvSpPr>
        <p:spPr>
          <a:xfrm>
            <a:off x="4956048" y="3511296"/>
            <a:ext cx="4096512" cy="34747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70/100 overall AND no component below 50% — even if total exceeds 70, a zero on PoE blocks certificate</a:t>
            </a:r>
            <a:endParaRPr lang="en-US" sz="900" dirty="0"/>
          </a:p>
        </p:txBody>
      </p:sp>
      <p:sp>
        <p:nvSpPr>
          <p:cNvPr id="60" name="Text 58"/>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Revision  ·  All Modules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0810"/>
        </a:solidFill>
      </p:bgPr>
    </p:bg>
    <p:spTree>
      <p:nvGrpSpPr>
        <p:cNvPr id="1" name=""/>
        <p:cNvGrpSpPr/>
        <p:nvPr/>
      </p:nvGrpSpPr>
      <p:grpSpPr>
        <a:xfrm>
          <a:off x="0" y="0"/>
          <a:ext cx="0" cy="0"/>
          <a:chOff x="0" y="0"/>
          <a:chExt cx="0" cy="0"/>
        </a:xfrm>
      </p:grpSpPr>
      <p:sp>
        <p:nvSpPr>
          <p:cNvPr id="2" name="Shape 0"/>
          <p:cNvSpPr/>
          <p:nvPr/>
        </p:nvSpPr>
        <p:spPr>
          <a:xfrm>
            <a:off x="0" y="0"/>
            <a:ext cx="1524305" cy="54864"/>
          </a:xfrm>
          <a:prstGeom prst="rect">
            <a:avLst/>
          </a:prstGeom>
          <a:solidFill>
            <a:srgbClr val="1B4F8A"/>
          </a:solidFill>
          <a:ln w="12700">
            <a:solidFill>
              <a:srgbClr val="1B4F8A"/>
            </a:solidFill>
            <a:prstDash val="solid"/>
          </a:ln>
        </p:spPr>
      </p:sp>
      <p:sp>
        <p:nvSpPr>
          <p:cNvPr id="3" name="Shape 1"/>
          <p:cNvSpPr/>
          <p:nvPr/>
        </p:nvSpPr>
        <p:spPr>
          <a:xfrm>
            <a:off x="1524305" y="0"/>
            <a:ext cx="1524305" cy="54864"/>
          </a:xfrm>
          <a:prstGeom prst="rect">
            <a:avLst/>
          </a:prstGeom>
          <a:solidFill>
            <a:srgbClr val="0F6E56"/>
          </a:solidFill>
          <a:ln w="12700">
            <a:solidFill>
              <a:srgbClr val="0F6E56"/>
            </a:solidFill>
            <a:prstDash val="solid"/>
          </a:ln>
        </p:spPr>
      </p:sp>
      <p:sp>
        <p:nvSpPr>
          <p:cNvPr id="4" name="Shape 2"/>
          <p:cNvSpPr/>
          <p:nvPr/>
        </p:nvSpPr>
        <p:spPr>
          <a:xfrm>
            <a:off x="3048610" y="0"/>
            <a:ext cx="1524305" cy="54864"/>
          </a:xfrm>
          <a:prstGeom prst="rect">
            <a:avLst/>
          </a:prstGeom>
          <a:solidFill>
            <a:srgbClr val="0C7B93"/>
          </a:solidFill>
          <a:ln w="12700">
            <a:solidFill>
              <a:srgbClr val="0C7B93"/>
            </a:solidFill>
            <a:prstDash val="solid"/>
          </a:ln>
        </p:spPr>
      </p:sp>
      <p:sp>
        <p:nvSpPr>
          <p:cNvPr id="5" name="Shape 3"/>
          <p:cNvSpPr/>
          <p:nvPr/>
        </p:nvSpPr>
        <p:spPr>
          <a:xfrm>
            <a:off x="4572914" y="0"/>
            <a:ext cx="1524305" cy="54864"/>
          </a:xfrm>
          <a:prstGeom prst="rect">
            <a:avLst/>
          </a:prstGeom>
          <a:solidFill>
            <a:srgbClr val="B85C00"/>
          </a:solidFill>
          <a:ln w="12700">
            <a:solidFill>
              <a:srgbClr val="B85C00"/>
            </a:solidFill>
            <a:prstDash val="solid"/>
          </a:ln>
        </p:spPr>
      </p:sp>
      <p:sp>
        <p:nvSpPr>
          <p:cNvPr id="6" name="Shape 4"/>
          <p:cNvSpPr/>
          <p:nvPr/>
        </p:nvSpPr>
        <p:spPr>
          <a:xfrm>
            <a:off x="6097219" y="0"/>
            <a:ext cx="1524305" cy="54864"/>
          </a:xfrm>
          <a:prstGeom prst="rect">
            <a:avLst/>
          </a:prstGeom>
          <a:solidFill>
            <a:srgbClr val="3C3489"/>
          </a:solidFill>
          <a:ln w="12700">
            <a:solidFill>
              <a:srgbClr val="3C3489"/>
            </a:solidFill>
            <a:prstDash val="solid"/>
          </a:ln>
        </p:spPr>
      </p:sp>
      <p:sp>
        <p:nvSpPr>
          <p:cNvPr id="7" name="Shape 5"/>
          <p:cNvSpPr/>
          <p:nvPr/>
        </p:nvSpPr>
        <p:spPr>
          <a:xfrm>
            <a:off x="7621524" y="0"/>
            <a:ext cx="1524305" cy="54864"/>
          </a:xfrm>
          <a:prstGeom prst="rect">
            <a:avLst/>
          </a:prstGeom>
          <a:solidFill>
            <a:srgbClr val="0F6E56"/>
          </a:solidFill>
          <a:ln w="12700">
            <a:solidFill>
              <a:srgbClr val="0F6E56"/>
            </a:solidFill>
            <a:prstDash val="solid"/>
          </a:ln>
        </p:spPr>
      </p:sp>
      <p:sp>
        <p:nvSpPr>
          <p:cNvPr id="8" name="Shape 6"/>
          <p:cNvSpPr/>
          <p:nvPr/>
        </p:nvSpPr>
        <p:spPr>
          <a:xfrm>
            <a:off x="0" y="5106924"/>
            <a:ext cx="9144000" cy="54864"/>
          </a:xfrm>
          <a:prstGeom prst="rect">
            <a:avLst/>
          </a:prstGeom>
          <a:solidFill>
            <a:srgbClr val="D4AF37"/>
          </a:solidFill>
          <a:ln w="12700">
            <a:solidFill>
              <a:srgbClr val="D4AF37"/>
            </a:solidFill>
            <a:prstDash val="solid"/>
          </a:ln>
        </p:spPr>
      </p:sp>
      <p:sp>
        <p:nvSpPr>
          <p:cNvPr id="9" name="Text 7"/>
          <p:cNvSpPr/>
          <p:nvPr/>
        </p:nvSpPr>
        <p:spPr>
          <a:xfrm>
            <a:off x="457200" y="502920"/>
            <a:ext cx="8229600" cy="822960"/>
          </a:xfrm>
          <a:prstGeom prst="rect">
            <a:avLst/>
          </a:prstGeom>
          <a:noFill/>
          <a:ln/>
        </p:spPr>
        <p:txBody>
          <a:bodyPr wrap="square" rtlCol="0" anchor="ctr"/>
          <a:lstStyle/>
          <a:p>
            <a:pPr algn="ctr" indent="0" marL="0">
              <a:buNone/>
            </a:pPr>
            <a:r>
              <a:rPr lang="en-US" sz="5200" b="1" dirty="0">
                <a:solidFill>
                  <a:srgbClr val="F0F4FF"/>
                </a:solidFill>
                <a:latin typeface="Georgia" pitchFamily="34" charset="0"/>
                <a:ea typeface="Georgia" pitchFamily="34" charset="-122"/>
                <a:cs typeface="Georgia" pitchFamily="34" charset="-120"/>
              </a:rPr>
              <a:t>You are ready.</a:t>
            </a:r>
            <a:endParaRPr lang="en-US" sz="5200" dirty="0"/>
          </a:p>
        </p:txBody>
      </p:sp>
      <p:sp>
        <p:nvSpPr>
          <p:cNvPr id="10" name="Shape 8"/>
          <p:cNvSpPr/>
          <p:nvPr/>
        </p:nvSpPr>
        <p:spPr>
          <a:xfrm>
            <a:off x="274320" y="1554480"/>
            <a:ext cx="1353312" cy="1481328"/>
          </a:xfrm>
          <a:prstGeom prst="rect">
            <a:avLst/>
          </a:prstGeom>
          <a:solidFill>
            <a:srgbClr val="1B4F8A">
              <a:alpha val="18000"/>
            </a:srgbClr>
          </a:solidFill>
          <a:ln w="12700">
            <a:solidFill>
              <a:srgbClr val="1B4F8A">
                <a:alpha val="45000"/>
              </a:srgbClr>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274320" y="1554480"/>
            <a:ext cx="1353312" cy="329184"/>
          </a:xfrm>
          <a:prstGeom prst="rect">
            <a:avLst/>
          </a:prstGeom>
          <a:solidFill>
            <a:srgbClr val="1B4F8A">
              <a:alpha val="80000"/>
            </a:srgbClr>
          </a:solidFill>
          <a:ln w="12700">
            <a:solidFill>
              <a:srgbClr val="1B4F8A"/>
            </a:solidFill>
            <a:prstDash val="solid"/>
          </a:ln>
        </p:spPr>
      </p:sp>
      <p:sp>
        <p:nvSpPr>
          <p:cNvPr id="12" name="Text 10"/>
          <p:cNvSpPr/>
          <p:nvPr/>
        </p:nvSpPr>
        <p:spPr>
          <a:xfrm>
            <a:off x="274320" y="1572768"/>
            <a:ext cx="1353312" cy="292608"/>
          </a:xfrm>
          <a:prstGeom prst="rect">
            <a:avLst/>
          </a:prstGeom>
          <a:noFill/>
          <a:ln/>
        </p:spPr>
        <p:txBody>
          <a:bodyPr wrap="square" rtlCol="0" anchor="ctr"/>
          <a:lstStyle/>
          <a:p>
            <a:pPr algn="ctr" indent="0" marL="0">
              <a:buNone/>
            </a:pPr>
            <a:r>
              <a:rPr lang="en-US" sz="1000" b="1" dirty="0">
                <a:solidFill>
                  <a:srgbClr val="060608"/>
                </a:solidFill>
                <a:latin typeface="Arial Black" pitchFamily="34" charset="0"/>
                <a:ea typeface="Arial Black" pitchFamily="34" charset="-122"/>
                <a:cs typeface="Arial Black" pitchFamily="34" charset="-120"/>
              </a:rPr>
              <a:t>M1</a:t>
            </a:r>
            <a:endParaRPr lang="en-US" sz="1000" dirty="0"/>
          </a:p>
        </p:txBody>
      </p:sp>
      <p:sp>
        <p:nvSpPr>
          <p:cNvPr id="13" name="Text 11"/>
          <p:cNvSpPr/>
          <p:nvPr/>
        </p:nvSpPr>
        <p:spPr>
          <a:xfrm>
            <a:off x="347472" y="1920240"/>
            <a:ext cx="1207008" cy="104241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NIST 5 · IaaS/PaaS/SaaS · CapEx vs OpEx</a:t>
            </a:r>
            <a:endParaRPr lang="en-US" sz="850" dirty="0"/>
          </a:p>
        </p:txBody>
      </p:sp>
      <p:sp>
        <p:nvSpPr>
          <p:cNvPr id="14" name="Shape 12"/>
          <p:cNvSpPr/>
          <p:nvPr/>
        </p:nvSpPr>
        <p:spPr>
          <a:xfrm>
            <a:off x="1755648" y="1554480"/>
            <a:ext cx="1353312" cy="1481328"/>
          </a:xfrm>
          <a:prstGeom prst="rect">
            <a:avLst/>
          </a:prstGeom>
          <a:solidFill>
            <a:srgbClr val="0F6E56">
              <a:alpha val="18000"/>
            </a:srgbClr>
          </a:solidFill>
          <a:ln w="12700">
            <a:solidFill>
              <a:srgbClr val="0F6E56">
                <a:alpha val="45000"/>
              </a:srgbClr>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1755648" y="1554480"/>
            <a:ext cx="1353312" cy="329184"/>
          </a:xfrm>
          <a:prstGeom prst="rect">
            <a:avLst/>
          </a:prstGeom>
          <a:solidFill>
            <a:srgbClr val="0F6E56">
              <a:alpha val="80000"/>
            </a:srgbClr>
          </a:solidFill>
          <a:ln w="12700">
            <a:solidFill>
              <a:srgbClr val="0F6E56"/>
            </a:solidFill>
            <a:prstDash val="solid"/>
          </a:ln>
        </p:spPr>
      </p:sp>
      <p:sp>
        <p:nvSpPr>
          <p:cNvPr id="16" name="Text 14"/>
          <p:cNvSpPr/>
          <p:nvPr/>
        </p:nvSpPr>
        <p:spPr>
          <a:xfrm>
            <a:off x="1755648" y="1572768"/>
            <a:ext cx="1353312" cy="292608"/>
          </a:xfrm>
          <a:prstGeom prst="rect">
            <a:avLst/>
          </a:prstGeom>
          <a:noFill/>
          <a:ln/>
        </p:spPr>
        <p:txBody>
          <a:bodyPr wrap="square" rtlCol="0" anchor="ctr"/>
          <a:lstStyle/>
          <a:p>
            <a:pPr algn="ctr" indent="0" marL="0">
              <a:buNone/>
            </a:pPr>
            <a:r>
              <a:rPr lang="en-US" sz="1000" b="1" dirty="0">
                <a:solidFill>
                  <a:srgbClr val="060608"/>
                </a:solidFill>
                <a:latin typeface="Arial Black" pitchFamily="34" charset="0"/>
                <a:ea typeface="Arial Black" pitchFamily="34" charset="-122"/>
                <a:cs typeface="Arial Black" pitchFamily="34" charset="-120"/>
              </a:rPr>
              <a:t>M2</a:t>
            </a:r>
            <a:endParaRPr lang="en-US" sz="1000" dirty="0"/>
          </a:p>
        </p:txBody>
      </p:sp>
      <p:sp>
        <p:nvSpPr>
          <p:cNvPr id="17" name="Text 15"/>
          <p:cNvSpPr/>
          <p:nvPr/>
        </p:nvSpPr>
        <p:spPr>
          <a:xfrm>
            <a:off x="1828800" y="1920240"/>
            <a:ext cx="1207008" cy="104241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Linux navigation · chmod · Bash scripting</a:t>
            </a:r>
            <a:endParaRPr lang="en-US" sz="850" dirty="0"/>
          </a:p>
        </p:txBody>
      </p:sp>
      <p:sp>
        <p:nvSpPr>
          <p:cNvPr id="18" name="Shape 16"/>
          <p:cNvSpPr/>
          <p:nvPr/>
        </p:nvSpPr>
        <p:spPr>
          <a:xfrm>
            <a:off x="3236976" y="1554480"/>
            <a:ext cx="1353312" cy="1481328"/>
          </a:xfrm>
          <a:prstGeom prst="rect">
            <a:avLst/>
          </a:prstGeom>
          <a:solidFill>
            <a:srgbClr val="0C7B93">
              <a:alpha val="18000"/>
            </a:srgbClr>
          </a:solidFill>
          <a:ln w="12700">
            <a:solidFill>
              <a:srgbClr val="0C7B93">
                <a:alpha val="45000"/>
              </a:srgbClr>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3236976" y="1554480"/>
            <a:ext cx="1353312" cy="329184"/>
          </a:xfrm>
          <a:prstGeom prst="rect">
            <a:avLst/>
          </a:prstGeom>
          <a:solidFill>
            <a:srgbClr val="0C7B93">
              <a:alpha val="80000"/>
            </a:srgbClr>
          </a:solidFill>
          <a:ln w="12700">
            <a:solidFill>
              <a:srgbClr val="0C7B93"/>
            </a:solidFill>
            <a:prstDash val="solid"/>
          </a:ln>
        </p:spPr>
      </p:sp>
      <p:sp>
        <p:nvSpPr>
          <p:cNvPr id="20" name="Text 18"/>
          <p:cNvSpPr/>
          <p:nvPr/>
        </p:nvSpPr>
        <p:spPr>
          <a:xfrm>
            <a:off x="3236976" y="1572768"/>
            <a:ext cx="1353312" cy="292608"/>
          </a:xfrm>
          <a:prstGeom prst="rect">
            <a:avLst/>
          </a:prstGeom>
          <a:noFill/>
          <a:ln/>
        </p:spPr>
        <p:txBody>
          <a:bodyPr wrap="square" rtlCol="0" anchor="ctr"/>
          <a:lstStyle/>
          <a:p>
            <a:pPr algn="ctr" indent="0" marL="0">
              <a:buNone/>
            </a:pPr>
            <a:r>
              <a:rPr lang="en-US" sz="1000" b="1" dirty="0">
                <a:solidFill>
                  <a:srgbClr val="060608"/>
                </a:solidFill>
                <a:latin typeface="Arial Black" pitchFamily="34" charset="0"/>
                <a:ea typeface="Arial Black" pitchFamily="34" charset="-122"/>
                <a:cs typeface="Arial Black" pitchFamily="34" charset="-120"/>
              </a:rPr>
              <a:t>M3</a:t>
            </a:r>
            <a:endParaRPr lang="en-US" sz="1000" dirty="0"/>
          </a:p>
        </p:txBody>
      </p:sp>
      <p:sp>
        <p:nvSpPr>
          <p:cNvPr id="21" name="Text 19"/>
          <p:cNvSpPr/>
          <p:nvPr/>
        </p:nvSpPr>
        <p:spPr>
          <a:xfrm>
            <a:off x="3310128" y="1920240"/>
            <a:ext cx="1207008" cy="104241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OSI layers · CIDR maths · VPC + SG chaining</a:t>
            </a:r>
            <a:endParaRPr lang="en-US" sz="850" dirty="0"/>
          </a:p>
        </p:txBody>
      </p:sp>
      <p:sp>
        <p:nvSpPr>
          <p:cNvPr id="22" name="Shape 20"/>
          <p:cNvSpPr/>
          <p:nvPr/>
        </p:nvSpPr>
        <p:spPr>
          <a:xfrm>
            <a:off x="4718304" y="1554480"/>
            <a:ext cx="1353312" cy="1481328"/>
          </a:xfrm>
          <a:prstGeom prst="rect">
            <a:avLst/>
          </a:prstGeom>
          <a:solidFill>
            <a:srgbClr val="B85C00">
              <a:alpha val="18000"/>
            </a:srgbClr>
          </a:solidFill>
          <a:ln w="12700">
            <a:solidFill>
              <a:srgbClr val="B85C00">
                <a:alpha val="45000"/>
              </a:srgbClr>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4718304" y="1554480"/>
            <a:ext cx="1353312" cy="329184"/>
          </a:xfrm>
          <a:prstGeom prst="rect">
            <a:avLst/>
          </a:prstGeom>
          <a:solidFill>
            <a:srgbClr val="B85C00">
              <a:alpha val="80000"/>
            </a:srgbClr>
          </a:solidFill>
          <a:ln w="12700">
            <a:solidFill>
              <a:srgbClr val="B85C00"/>
            </a:solidFill>
            <a:prstDash val="solid"/>
          </a:ln>
        </p:spPr>
      </p:sp>
      <p:sp>
        <p:nvSpPr>
          <p:cNvPr id="24" name="Text 22"/>
          <p:cNvSpPr/>
          <p:nvPr/>
        </p:nvSpPr>
        <p:spPr>
          <a:xfrm>
            <a:off x="4718304" y="1572768"/>
            <a:ext cx="1353312" cy="292608"/>
          </a:xfrm>
          <a:prstGeom prst="rect">
            <a:avLst/>
          </a:prstGeom>
          <a:noFill/>
          <a:ln/>
        </p:spPr>
        <p:txBody>
          <a:bodyPr wrap="square" rtlCol="0" anchor="ctr"/>
          <a:lstStyle/>
          <a:p>
            <a:pPr algn="ctr" indent="0" marL="0">
              <a:buNone/>
            </a:pPr>
            <a:r>
              <a:rPr lang="en-US" sz="1000" b="1" dirty="0">
                <a:solidFill>
                  <a:srgbClr val="060608"/>
                </a:solidFill>
                <a:latin typeface="Arial Black" pitchFamily="34" charset="0"/>
                <a:ea typeface="Arial Black" pitchFamily="34" charset="-122"/>
                <a:cs typeface="Arial Black" pitchFamily="34" charset="-120"/>
              </a:rPr>
              <a:t>M4</a:t>
            </a:r>
            <a:endParaRPr lang="en-US" sz="1000" dirty="0"/>
          </a:p>
        </p:txBody>
      </p:sp>
      <p:sp>
        <p:nvSpPr>
          <p:cNvPr id="25" name="Text 23"/>
          <p:cNvSpPr/>
          <p:nvPr/>
        </p:nvSpPr>
        <p:spPr>
          <a:xfrm>
            <a:off x="4791456" y="1920240"/>
            <a:ext cx="1207008" cy="104241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EC2/S3/RDS/IAM · Explicit Deny · role not keys</a:t>
            </a:r>
            <a:endParaRPr lang="en-US" sz="850" dirty="0"/>
          </a:p>
        </p:txBody>
      </p:sp>
      <p:sp>
        <p:nvSpPr>
          <p:cNvPr id="26" name="Shape 24"/>
          <p:cNvSpPr/>
          <p:nvPr/>
        </p:nvSpPr>
        <p:spPr>
          <a:xfrm>
            <a:off x="6199632" y="1554480"/>
            <a:ext cx="1353312" cy="1481328"/>
          </a:xfrm>
          <a:prstGeom prst="rect">
            <a:avLst/>
          </a:prstGeom>
          <a:solidFill>
            <a:srgbClr val="3C3489">
              <a:alpha val="18000"/>
            </a:srgbClr>
          </a:solidFill>
          <a:ln w="12700">
            <a:solidFill>
              <a:srgbClr val="3C3489">
                <a:alpha val="45000"/>
              </a:srgbClr>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6199632" y="1554480"/>
            <a:ext cx="1353312" cy="329184"/>
          </a:xfrm>
          <a:prstGeom prst="rect">
            <a:avLst/>
          </a:prstGeom>
          <a:solidFill>
            <a:srgbClr val="3C3489">
              <a:alpha val="80000"/>
            </a:srgbClr>
          </a:solidFill>
          <a:ln w="12700">
            <a:solidFill>
              <a:srgbClr val="3C3489"/>
            </a:solidFill>
            <a:prstDash val="solid"/>
          </a:ln>
        </p:spPr>
      </p:sp>
      <p:sp>
        <p:nvSpPr>
          <p:cNvPr id="28" name="Text 26"/>
          <p:cNvSpPr/>
          <p:nvPr/>
        </p:nvSpPr>
        <p:spPr>
          <a:xfrm>
            <a:off x="6199632" y="1572768"/>
            <a:ext cx="1353312" cy="292608"/>
          </a:xfrm>
          <a:prstGeom prst="rect">
            <a:avLst/>
          </a:prstGeom>
          <a:noFill/>
          <a:ln/>
        </p:spPr>
        <p:txBody>
          <a:bodyPr wrap="square" rtlCol="0" anchor="ctr"/>
          <a:lstStyle/>
          <a:p>
            <a:pPr algn="ctr" indent="0" marL="0">
              <a:buNone/>
            </a:pPr>
            <a:r>
              <a:rPr lang="en-US" sz="1000" b="1" dirty="0">
                <a:solidFill>
                  <a:srgbClr val="060608"/>
                </a:solidFill>
                <a:latin typeface="Arial Black" pitchFamily="34" charset="0"/>
                <a:ea typeface="Arial Black" pitchFamily="34" charset="-122"/>
                <a:cs typeface="Arial Black" pitchFamily="34" charset="-120"/>
              </a:rPr>
              <a:t>M5</a:t>
            </a:r>
            <a:endParaRPr lang="en-US" sz="1000" dirty="0"/>
          </a:p>
        </p:txBody>
      </p:sp>
      <p:sp>
        <p:nvSpPr>
          <p:cNvPr id="29" name="Text 27"/>
          <p:cNvSpPr/>
          <p:nvPr/>
        </p:nvSpPr>
        <p:spPr>
          <a:xfrm>
            <a:off x="6272784" y="1920240"/>
            <a:ext cx="1207008" cy="104241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Shared Responsibility · KMS · POPIA 8 · IR 6 phases</a:t>
            </a:r>
            <a:endParaRPr lang="en-US" sz="850" dirty="0"/>
          </a:p>
        </p:txBody>
      </p:sp>
      <p:sp>
        <p:nvSpPr>
          <p:cNvPr id="30" name="Shape 28"/>
          <p:cNvSpPr/>
          <p:nvPr/>
        </p:nvSpPr>
        <p:spPr>
          <a:xfrm>
            <a:off x="7680960" y="1554480"/>
            <a:ext cx="1353312" cy="1481328"/>
          </a:xfrm>
          <a:prstGeom prst="rect">
            <a:avLst/>
          </a:prstGeom>
          <a:solidFill>
            <a:srgbClr val="0F6E56">
              <a:alpha val="18000"/>
            </a:srgbClr>
          </a:solidFill>
          <a:ln w="12700">
            <a:solidFill>
              <a:srgbClr val="0F6E56">
                <a:alpha val="45000"/>
              </a:srgbClr>
            </a:solidFill>
            <a:prstDash val="solid"/>
          </a:ln>
          <a:effectLst>
            <a:outerShdw sx="100000" sy="100000" kx="0" ky="0" algn="bl" rotWithShape="0" blurRad="101600" dist="38100" dir="8100000">
              <a:srgbClr val="000000">
                <a:alpha val="18000"/>
              </a:srgbClr>
            </a:outerShdw>
          </a:effectLst>
        </p:spPr>
      </p:sp>
      <p:sp>
        <p:nvSpPr>
          <p:cNvPr id="31" name="Shape 29"/>
          <p:cNvSpPr/>
          <p:nvPr/>
        </p:nvSpPr>
        <p:spPr>
          <a:xfrm>
            <a:off x="7680960" y="1554480"/>
            <a:ext cx="1353312" cy="329184"/>
          </a:xfrm>
          <a:prstGeom prst="rect">
            <a:avLst/>
          </a:prstGeom>
          <a:solidFill>
            <a:srgbClr val="0F6E56">
              <a:alpha val="80000"/>
            </a:srgbClr>
          </a:solidFill>
          <a:ln w="12700">
            <a:solidFill>
              <a:srgbClr val="0F6E56"/>
            </a:solidFill>
            <a:prstDash val="solid"/>
          </a:ln>
        </p:spPr>
      </p:sp>
      <p:sp>
        <p:nvSpPr>
          <p:cNvPr id="32" name="Text 30"/>
          <p:cNvSpPr/>
          <p:nvPr/>
        </p:nvSpPr>
        <p:spPr>
          <a:xfrm>
            <a:off x="7680960" y="1572768"/>
            <a:ext cx="1353312" cy="292608"/>
          </a:xfrm>
          <a:prstGeom prst="rect">
            <a:avLst/>
          </a:prstGeom>
          <a:noFill/>
          <a:ln/>
        </p:spPr>
        <p:txBody>
          <a:bodyPr wrap="square" rtlCol="0" anchor="ctr"/>
          <a:lstStyle/>
          <a:p>
            <a:pPr algn="ctr" indent="0" marL="0">
              <a:buNone/>
            </a:pPr>
            <a:r>
              <a:rPr lang="en-US" sz="1000" b="1" dirty="0">
                <a:solidFill>
                  <a:srgbClr val="060608"/>
                </a:solidFill>
                <a:latin typeface="Arial Black" pitchFamily="34" charset="0"/>
                <a:ea typeface="Arial Black" pitchFamily="34" charset="-122"/>
                <a:cs typeface="Arial Black" pitchFamily="34" charset="-120"/>
              </a:rPr>
              <a:t>M6</a:t>
            </a:r>
            <a:endParaRPr lang="en-US" sz="1000" dirty="0"/>
          </a:p>
        </p:txBody>
      </p:sp>
      <p:sp>
        <p:nvSpPr>
          <p:cNvPr id="33" name="Text 31"/>
          <p:cNvSpPr/>
          <p:nvPr/>
        </p:nvSpPr>
        <p:spPr>
          <a:xfrm>
            <a:off x="7754112" y="1920240"/>
            <a:ext cx="1207008" cy="1042416"/>
          </a:xfrm>
          <a:prstGeom prst="rect">
            <a:avLst/>
          </a:prstGeom>
          <a:noFill/>
          <a:ln/>
        </p:spPr>
        <p:txBody>
          <a:bodyPr wrap="square" rtlCol="0" anchor="ctr"/>
          <a:lstStyle/>
          <a:p>
            <a:pPr indent="0" marL="0">
              <a:buNone/>
            </a:pPr>
            <a:r>
              <a:rPr lang="en-US" sz="850" dirty="0">
                <a:solidFill>
                  <a:srgbClr val="6A7A8A"/>
                </a:solidFill>
                <a:latin typeface="Calibri" pitchFamily="34" charset="0"/>
                <a:ea typeface="Calibri" pitchFamily="34" charset="-122"/>
                <a:cs typeface="Calibri" pitchFamily="34" charset="-120"/>
              </a:rPr>
              <a:t>Paper design first · 100-mark rubric · panel Q&amp;A</a:t>
            </a:r>
            <a:endParaRPr lang="en-US" sz="850" dirty="0"/>
          </a:p>
        </p:txBody>
      </p:sp>
      <p:sp>
        <p:nvSpPr>
          <p:cNvPr id="34" name="Text 32"/>
          <p:cNvSpPr/>
          <p:nvPr/>
        </p:nvSpPr>
        <p:spPr>
          <a:xfrm>
            <a:off x="457200" y="3218688"/>
            <a:ext cx="8229600" cy="292608"/>
          </a:xfrm>
          <a:prstGeom prst="rect">
            <a:avLst/>
          </a:prstGeom>
          <a:noFill/>
          <a:ln/>
        </p:spPr>
        <p:txBody>
          <a:bodyPr wrap="square" rtlCol="0" anchor="ctr"/>
          <a:lstStyle/>
          <a:p>
            <a:pPr algn="ctr" indent="0" marL="0">
              <a:buNone/>
            </a:pPr>
            <a:r>
              <a:rPr lang="en-US" sz="1100" b="1" dirty="0">
                <a:solidFill>
                  <a:srgbClr val="FF6B6B"/>
                </a:solidFill>
                <a:latin typeface="Calibri" pitchFamily="34" charset="0"/>
                <a:ea typeface="Calibri" pitchFamily="34" charset="-122"/>
                <a:cs typeface="Calibri" pitchFamily="34" charset="-120"/>
              </a:rPr>
              <a:t>POPIA breach notification: 72 hours  ·  Pass mark: 70/100  ·  No component below 50%</a:t>
            </a:r>
            <a:endParaRPr lang="en-US" sz="1100" dirty="0"/>
          </a:p>
        </p:txBody>
      </p:sp>
      <p:sp>
        <p:nvSpPr>
          <p:cNvPr id="35" name="Text 33"/>
          <p:cNvSpPr/>
          <p:nvPr/>
        </p:nvSpPr>
        <p:spPr>
          <a:xfrm>
            <a:off x="457200" y="3529584"/>
            <a:ext cx="8229600" cy="292608"/>
          </a:xfrm>
          <a:prstGeom prst="rect">
            <a:avLst/>
          </a:prstGeom>
          <a:noFill/>
          <a:ln/>
        </p:spPr>
        <p:txBody>
          <a:bodyPr wrap="square" rtlCol="0" anchor="ctr"/>
          <a:lstStyle/>
          <a:p>
            <a:pPr algn="ctr" indent="0" marL="0">
              <a:buNone/>
            </a:pPr>
            <a:r>
              <a:rPr lang="en-US" sz="1100" b="1" dirty="0">
                <a:solidFill>
                  <a:srgbClr val="FFD166"/>
                </a:solidFill>
                <a:latin typeface="Calibri" pitchFamily="34" charset="0"/>
                <a:ea typeface="Calibri" pitchFamily="34" charset="-122"/>
                <a:cs typeface="Calibri" pitchFamily="34" charset="-120"/>
              </a:rPr>
              <a:t>Explicit Deny always wins  ·  EBS snapshot before terminating  ·  Design on paper first</a:t>
            </a:r>
            <a:endParaRPr lang="en-US" sz="1100" dirty="0"/>
          </a:p>
        </p:txBody>
      </p:sp>
      <p:sp>
        <p:nvSpPr>
          <p:cNvPr id="36" name="Shape 34"/>
          <p:cNvSpPr/>
          <p:nvPr/>
        </p:nvSpPr>
        <p:spPr>
          <a:xfrm>
            <a:off x="1371600" y="4005072"/>
            <a:ext cx="6400800" cy="0"/>
          </a:xfrm>
          <a:prstGeom prst="line">
            <a:avLst/>
          </a:prstGeom>
          <a:noFill/>
          <a:ln w="12700">
            <a:solidFill>
              <a:srgbClr val="D4AF37">
                <a:alpha val="40000"/>
              </a:srgbClr>
            </a:solidFill>
            <a:prstDash val="solid"/>
          </a:ln>
        </p:spPr>
      </p:sp>
      <p:sp>
        <p:nvSpPr>
          <p:cNvPr id="37" name="Text 35"/>
          <p:cNvSpPr/>
          <p:nvPr/>
        </p:nvSpPr>
        <p:spPr>
          <a:xfrm>
            <a:off x="457200" y="4114800"/>
            <a:ext cx="8229600" cy="274320"/>
          </a:xfrm>
          <a:prstGeom prst="rect">
            <a:avLst/>
          </a:prstGeom>
          <a:noFill/>
          <a:ln/>
        </p:spPr>
        <p:txBody>
          <a:bodyPr wrap="square" rtlCol="0" anchor="ctr"/>
          <a:lstStyle/>
          <a:p>
            <a:pPr algn="ctr" indent="0" marL="0">
              <a:buNone/>
            </a:pPr>
            <a:r>
              <a:rPr lang="en-US" sz="1100" i="1" dirty="0">
                <a:solidFill>
                  <a:srgbClr val="D4AF37"/>
                </a:solidFill>
                <a:latin typeface="Georgia" pitchFamily="34" charset="0"/>
                <a:ea typeface="Georgia" pitchFamily="34" charset="-122"/>
                <a:cs typeface="Georgia" pitchFamily="34" charset="-120"/>
              </a:rPr>
              <a:t>"Making Digital Transformation a Reality — One Learner at a Time"</a:t>
            </a:r>
            <a:endParaRPr lang="en-US" sz="1100" dirty="0"/>
          </a:p>
        </p:txBody>
      </p:sp>
      <p:sp>
        <p:nvSpPr>
          <p:cNvPr id="38" name="Text 36"/>
          <p:cNvSpPr/>
          <p:nvPr/>
        </p:nvSpPr>
        <p:spPr>
          <a:xfrm>
            <a:off x="457200" y="4425696"/>
            <a:ext cx="8229600" cy="256032"/>
          </a:xfrm>
          <a:prstGeom prst="rect">
            <a:avLst/>
          </a:prstGeom>
          <a:noFill/>
          <a:ln/>
        </p:spPr>
        <p:txBody>
          <a:bodyPr wrap="square" rtlCol="0" anchor="ctr"/>
          <a:lstStyle/>
          <a:p>
            <a:pPr algn="ctr" indent="0" marL="0">
              <a:buNone/>
            </a:pPr>
            <a:r>
              <a:rPr lang="en-US" sz="950" dirty="0">
                <a:solidFill>
                  <a:srgbClr val="6A7A8A"/>
                </a:solidFill>
                <a:latin typeface="Calibri" pitchFamily="34" charset="0"/>
                <a:ea typeface="Calibri" pitchFamily="34" charset="-122"/>
                <a:cs typeface="Calibri" pitchFamily="34" charset="-120"/>
              </a:rPr>
              <a:t>Ginashe Digital Academy  ·  Cloud Launchpad  ·  Johannesburg, South Africa</a:t>
            </a:r>
            <a:endParaRPr lang="en-US" sz="950" dirty="0"/>
          </a:p>
        </p:txBody>
      </p:sp>
      <p:sp>
        <p:nvSpPr>
          <p:cNvPr id="39" name="Text 37"/>
          <p:cNvSpPr/>
          <p:nvPr/>
        </p:nvSpPr>
        <p:spPr>
          <a:xfrm>
            <a:off x="274320" y="4791456"/>
            <a:ext cx="8595360" cy="256032"/>
          </a:xfrm>
          <a:prstGeom prst="rect">
            <a:avLst/>
          </a:prstGeom>
          <a:noFill/>
          <a:ln/>
        </p:spPr>
        <p:txBody>
          <a:bodyPr wrap="square" rtlCol="0" anchor="ctr"/>
          <a:lstStyle/>
          <a:p>
            <a:pPr indent="0" marL="0">
              <a:buNone/>
            </a:pPr>
            <a:r>
              <a:rPr lang="en-US" sz="900" dirty="0">
                <a:solidFill>
                  <a:srgbClr val="6A7A8A"/>
                </a:solidFill>
                <a:latin typeface="Calibri" pitchFamily="34" charset="0"/>
                <a:ea typeface="Calibri" pitchFamily="34" charset="-122"/>
                <a:cs typeface="Calibri" pitchFamily="34" charset="-120"/>
              </a:rPr>
              <a:t>GDA Cloud Launchpad  ·  Combined Revision Deck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GDA Cloud Launchpad — Revision</dc:title>
  <dc:subject>PptxGenJS Presentation</dc:subject>
  <dc:creator>Ginashe Digital Academy</dc:creator>
  <cp:lastModifiedBy>Ginashe Digital Academy</cp:lastModifiedBy>
  <cp:revision>1</cp:revision>
  <dcterms:created xsi:type="dcterms:W3CDTF">2026-04-20T22:14:07Z</dcterms:created>
  <dcterms:modified xsi:type="dcterms:W3CDTF">2026-04-20T22:14:07Z</dcterms:modified>
</cp:coreProperties>
</file>